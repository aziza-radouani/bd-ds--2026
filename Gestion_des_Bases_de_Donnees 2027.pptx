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65"/>
  </p:notesMasterIdLst>
  <p:sldIdLst>
    <p:sldId id="296" r:id="rId2"/>
    <p:sldId id="297" r:id="rId3"/>
    <p:sldId id="298" r:id="rId4"/>
    <p:sldId id="299" r:id="rId5"/>
    <p:sldId id="300" r:id="rId6"/>
    <p:sldId id="301" r:id="rId7"/>
    <p:sldId id="302" r:id="rId8"/>
    <p:sldId id="303" r:id="rId9"/>
    <p:sldId id="304" r:id="rId10"/>
    <p:sldId id="305" r:id="rId11"/>
    <p:sldId id="306" r:id="rId12"/>
    <p:sldId id="307" r:id="rId13"/>
    <p:sldId id="308" r:id="rId14"/>
    <p:sldId id="309" r:id="rId15"/>
    <p:sldId id="310" r:id="rId16"/>
    <p:sldId id="389" r:id="rId17"/>
    <p:sldId id="311" r:id="rId18"/>
    <p:sldId id="382" r:id="rId19"/>
    <p:sldId id="383" r:id="rId20"/>
    <p:sldId id="384" r:id="rId21"/>
    <p:sldId id="385" r:id="rId22"/>
    <p:sldId id="386" r:id="rId23"/>
    <p:sldId id="387" r:id="rId24"/>
    <p:sldId id="256" r:id="rId25"/>
    <p:sldId id="257" r:id="rId26"/>
    <p:sldId id="258" r:id="rId27"/>
    <p:sldId id="259" r:id="rId28"/>
    <p:sldId id="260" r:id="rId29"/>
    <p:sldId id="261" r:id="rId30"/>
    <p:sldId id="262" r:id="rId31"/>
    <p:sldId id="263" r:id="rId32"/>
    <p:sldId id="264" r:id="rId33"/>
    <p:sldId id="265" r:id="rId34"/>
    <p:sldId id="266" r:id="rId35"/>
    <p:sldId id="267" r:id="rId36"/>
    <p:sldId id="268" r:id="rId37"/>
    <p:sldId id="269" r:id="rId38"/>
    <p:sldId id="270" r:id="rId39"/>
    <p:sldId id="271" r:id="rId40"/>
    <p:sldId id="272" r:id="rId41"/>
    <p:sldId id="273" r:id="rId42"/>
    <p:sldId id="274" r:id="rId43"/>
    <p:sldId id="275" r:id="rId44"/>
    <p:sldId id="276" r:id="rId45"/>
    <p:sldId id="277" r:id="rId46"/>
    <p:sldId id="278" r:id="rId47"/>
    <p:sldId id="279" r:id="rId48"/>
    <p:sldId id="280" r:id="rId49"/>
    <p:sldId id="281" r:id="rId50"/>
    <p:sldId id="282" r:id="rId51"/>
    <p:sldId id="283" r:id="rId52"/>
    <p:sldId id="284" r:id="rId53"/>
    <p:sldId id="285" r:id="rId54"/>
    <p:sldId id="286" r:id="rId55"/>
    <p:sldId id="287" r:id="rId56"/>
    <p:sldId id="288" r:id="rId57"/>
    <p:sldId id="289" r:id="rId58"/>
    <p:sldId id="290" r:id="rId59"/>
    <p:sldId id="291" r:id="rId60"/>
    <p:sldId id="292" r:id="rId61"/>
    <p:sldId id="293" r:id="rId62"/>
    <p:sldId id="294" r:id="rId63"/>
    <p:sldId id="295" r:id="rId6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17" d="100"/>
          <a:sy n="117" d="100"/>
        </p:scale>
        <p:origin x="46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uad radouani" userId="36a6f5bcb20a9b57" providerId="LiveId" clId="{B6928C86-820C-4794-AF0A-B2208B67A239}"/>
    <pc:docChg chg="modSld">
      <pc:chgData name="souad radouani" userId="36a6f5bcb20a9b57" providerId="LiveId" clId="{B6928C86-820C-4794-AF0A-B2208B67A239}" dt="2026-09-26T17:55:03.792" v="17" actId="1038"/>
      <pc:docMkLst>
        <pc:docMk/>
      </pc:docMkLst>
      <pc:sldChg chg="modSp mod">
        <pc:chgData name="souad radouani" userId="36a6f5bcb20a9b57" providerId="LiveId" clId="{B6928C86-820C-4794-AF0A-B2208B67A239}" dt="2026-09-26T17:55:03.792" v="17" actId="1038"/>
        <pc:sldMkLst>
          <pc:docMk/>
          <pc:sldMk cId="1487700712" sldId="296"/>
        </pc:sldMkLst>
        <pc:picChg chg="mod">
          <ac:chgData name="souad radouani" userId="36a6f5bcb20a9b57" providerId="LiveId" clId="{B6928C86-820C-4794-AF0A-B2208B67A239}" dt="2026-09-26T17:55:03.792" v="17" actId="1038"/>
          <ac:picMkLst>
            <pc:docMk/>
            <pc:sldMk cId="1487700712" sldId="296"/>
            <ac:picMk id="5" creationId="{C92D453B-9092-EA24-52E7-4E2D9351763E}"/>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Outils</c:v>
                </c:pt>
              </c:strCache>
            </c:strRef>
          </c:tx>
          <c:spPr>
            <a:solidFill>
              <a:srgbClr val="F92500"/>
            </a:solidFill>
            <a:effectLst/>
          </c:spPr>
          <c:invertIfNegative val="0"/>
          <c:dPt>
            <c:idx val="0"/>
            <c:invertIfNegative val="0"/>
            <c:bubble3D val="0"/>
            <c:extLst>
              <c:ext xmlns:c16="http://schemas.microsoft.com/office/drawing/2014/chart" uri="{C3380CC4-5D6E-409C-BE32-E72D297353CC}">
                <c16:uniqueId val="{00000001-3CFE-49F8-8705-CD49BD066C05}"/>
              </c:ext>
            </c:extLst>
          </c:dPt>
          <c:dPt>
            <c:idx val="1"/>
            <c:invertIfNegative val="0"/>
            <c:bubble3D val="0"/>
            <c:spPr>
              <a:solidFill>
                <a:srgbClr val="353535"/>
              </a:solidFill>
              <a:effectLst/>
            </c:spPr>
            <c:extLst>
              <c:ext xmlns:c16="http://schemas.microsoft.com/office/drawing/2014/chart" uri="{C3380CC4-5D6E-409C-BE32-E72D297353CC}">
                <c16:uniqueId val="{00000003-3CFE-49F8-8705-CD49BD066C05}"/>
              </c:ext>
            </c:extLst>
          </c:dPt>
          <c:dPt>
            <c:idx val="2"/>
            <c:invertIfNegative val="0"/>
            <c:bubble3D val="0"/>
            <c:spPr>
              <a:solidFill>
                <a:srgbClr val="696969"/>
              </a:solidFill>
              <a:effectLst/>
            </c:spPr>
            <c:extLst>
              <c:ext xmlns:c16="http://schemas.microsoft.com/office/drawing/2014/chart" uri="{C3380CC4-5D6E-409C-BE32-E72D297353CC}">
                <c16:uniqueId val="{00000005-3CFE-49F8-8705-CD49BD066C05}"/>
              </c:ext>
            </c:extLst>
          </c:dPt>
          <c:dPt>
            <c:idx val="3"/>
            <c:invertIfNegative val="0"/>
            <c:bubble3D val="0"/>
            <c:spPr>
              <a:solidFill>
                <a:srgbClr val="B3B5A5"/>
              </a:solidFill>
              <a:effectLst/>
            </c:spPr>
            <c:extLst>
              <c:ext xmlns:c16="http://schemas.microsoft.com/office/drawing/2014/chart" uri="{C3380CC4-5D6E-409C-BE32-E72D297353CC}">
                <c16:uniqueId val="{00000007-3CFE-49F8-8705-CD49BD066C05}"/>
              </c:ext>
            </c:extLst>
          </c:dPt>
          <c:dPt>
            <c:idx val="4"/>
            <c:invertIfNegative val="0"/>
            <c:bubble3D val="0"/>
            <c:spPr>
              <a:solidFill>
                <a:srgbClr val="C9C9BD"/>
              </a:solidFill>
              <a:effectLst/>
            </c:spPr>
            <c:extLst>
              <c:ext xmlns:c16="http://schemas.microsoft.com/office/drawing/2014/chart" uri="{C3380CC4-5D6E-409C-BE32-E72D297353CC}">
                <c16:uniqueId val="{00000009-3CFE-49F8-8705-CD49BD066C05}"/>
              </c:ext>
            </c:extLst>
          </c:dPt>
          <c:dLbls>
            <c:numFmt formatCode="#,##0" sourceLinked="0"/>
            <c:spPr>
              <a:noFill/>
              <a:ln>
                <a:noFill/>
              </a:ln>
              <a:effectLst/>
            </c:spPr>
            <c:txPr>
              <a:bodyPr/>
              <a:lstStyle/>
              <a:p>
                <a:pPr>
                  <a:defRPr sz="1200" b="0" i="0" u="none" strike="noStrike">
                    <a:solidFill>
                      <a:srgbClr val="353535"/>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Python</c:v>
                </c:pt>
                <c:pt idx="1">
                  <c:v>R</c:v>
                </c:pt>
                <c:pt idx="2">
                  <c:v>SQL</c:v>
                </c:pt>
                <c:pt idx="3">
                  <c:v>TensorFlow</c:v>
                </c:pt>
                <c:pt idx="4">
                  <c:v>Scikit-Learn</c:v>
                </c:pt>
              </c:strCache>
            </c:strRef>
          </c:cat>
          <c:val>
            <c:numRef>
              <c:f>Sheet1!$B$2:$B$6</c:f>
              <c:numCache>
                <c:formatCode>General</c:formatCode>
                <c:ptCount val="5"/>
                <c:pt idx="0">
                  <c:v>30</c:v>
                </c:pt>
                <c:pt idx="1">
                  <c:v>20</c:v>
                </c:pt>
                <c:pt idx="2">
                  <c:v>20</c:v>
                </c:pt>
                <c:pt idx="3">
                  <c:v>15</c:v>
                </c:pt>
                <c:pt idx="4">
                  <c:v>15</c:v>
                </c:pt>
              </c:numCache>
            </c:numRef>
          </c:val>
          <c:extLst>
            <c:ext xmlns:c16="http://schemas.microsoft.com/office/drawing/2014/chart" uri="{C3380CC4-5D6E-409C-BE32-E72D297353CC}">
              <c16:uniqueId val="{0000000A-3CFE-49F8-8705-CD49BD066C05}"/>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5353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35353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4456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MA"/>
          </a:p>
        </p:txBody>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C6B3AB32-59DF-41F1-9618-EDFBF5049629}" type="slidenum">
              <a:rPr lang="fr-FR" smtClean="0"/>
              <a:t>1</a:t>
            </a:fld>
            <a:endParaRPr lang="fr-FR"/>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Bienvenue. Cette slide d'accueil pose le décor : montrer comment les applications communiquent avec les bases de données via le SGBD. Les trois boîtes illustrent l'architecture trois-niveaux simplifié.</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six objectifs structurent le cours complet. Vous les retrouverez à chaque étape. À la fin, les apprenants seront capables de transformer un besoin métier en base relationnelle interrogeable avec SQL.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la complexité : redondance des données, risque de conflits, difficulté à maintenir la cohérence. Expliquer qu'une base de données résout ces problèmes. Demander : "Comment Excel se comporterait avec 10 000 étudiants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Clarifier la distinction fondamentale : donnée = fait brut, information = donnée avec sens et contexte. La base de données est l'outil qui transforme les données en information grâce à la structure et au traitement.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Définir chaque caractéristique avec un exemple concret de la base universitaire. Persistance : les notes restent même après déconnexion. Cohérence : un étudiant ne peut pas avoir deux id différents. Partagé : plusieurs enseignants consultent les mêmes notes.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tableau synthétise les avantages d'une base de données. Donner des exemples concrets pour chaque ligne. Par exemple, redondance : si on met le nom d'étudiant dans plusieurs fichiers et qu'il change, où mettre à jour ? Accès simultané : deux secrétaires modifient le même Excel = risque de perte de données.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chaque niveau : utilisateurs consultent des données, applications émettent des requêtes, SGBD traite les requêtes et gère la base, stockage physique des données. Le SGBD est l'intermédiaire critique.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chaque fonction avec un exemple concret. Stockage : où les données vont-elles physiquement ? Intégrité : comment assurer qu'un id_etudiant est unique ? Concurrence : comment deux enseignants peuvent modifier les notes en même temps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la diversité du marché. Pour ce cours, PostgreSQL est choisi car c'est un bon compromis pédagogique : open source, professionnel, et gratuit. Note : MongoDB est un NoSQL, pas un relationnel.</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le flux : une requête descend de l'utilisateur vers le stockage. Le SGBD est le chef d'orchestre. Poser une question : "Comment une requête SQL voyage-t-elle dans ce système ?"</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le cycle : d'abord, on comprend le besoin (quelles données ?). Puis analyse (qui ? quoi ?). Modélisation (structure). Création (CREATE TABLE). Alimentation (données initiales). Exploitation (utilisation). Maintenance (optimisation, nettoyage). Sauvegarde (backups réguliers). C'est cyclique.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DBA est le gardien de la base de données. Responsabilités clés : sécurité, performance, disponibilité, récupération après incident. Métier en demande. Un DBA négligent = catastrophe.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piliers de la sécurité. Donner des exemples : un pirate qui lit les notes (C), un virus qui modifie les notes (I), une attaque DDoS qui rend la base inaccessible (D). Ces trois éléments ensemble = sécurité.</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l'ordre : d'abord authentifier (qui es-tu ?), puis autoriser (qu'as-tu le droit de faire ?). C'est la base du contrôle d'accès. Donner plusieurs exemples de rôles : administrateur, enseignant, étudiant.</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comment les rôles structurent les permissions. Un administrateur a tous les droits. Un enseignant a SELECT + UPDATE limité. Un étudiant a le droit de lire uniquement ses notes. Poser : "Pourquoi un étudiant ne peut-il pas modifier les notes ?"</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qu'une base de données doit être sauvegardée régulièrement. RPO et RTO sont des KPI critiques. Exemple : RPO=1h signifie qu'on accepte de perdre max 1h de données. RTO=30min signifie qu'on doit restaurer en max 30 minutes.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attendue à annoncer après discussion : Administrateur = toutes permissions. Enseignant = SELECT + UPDATE (notes de ses cours). Étudiant = SELECT (ses notes). Scolarité = SELECT + INSERT (inscriptions). Insister sur le principe du "least privilege" : donner le minimum de droits nécessaires. Points clés : les enseignants ne voient que leurs cours, les étudiants ne voient que leurs notes, un étudiant ne peut pas modifier ses notes.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Introduire le vocabulaire du modèle relationnel avec cette table simple. Chaque table représente une entité du monde réel (étudiants). Les colonnes (attributs) décrivent les propriétés. Les lignes (tuples) représentent chaque occurrence. Montrer que c'est simple, structuré, et facile à comprendre.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Clarifier la terminologie. Table = relation. Ligne = n-tuple. Colonne = attribut. Domaine = type. Cardinalité = nombre de lignes. Arité = nombre de colonnes. Ces mots peuvent décourager au premier abord, mais ils sont essentiels pour parler avec précision.</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clé primaire est le concept fondamental du modèle relationnel. Elle garantit qu'on ne peut pas avoir deux lignes identiques. Elle sert aussi de fondation pour les relations entre tables. Pourquoi id plutôt que nom ? Parce qu'on peut avoir deux "Jean Dupont" différents.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clé étrangère est le glue qui connecte les tables. Elle assure l'intégrité référentielle : on ne peut pas référencer un étudiant qui n'existe pas. Questions : "Pourquoi ne pas stocker toutes les données dans une seule table ?" Réponse : redondance, incohérence, gaspillage d'espace.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modèles de relation. 1:1 est rare. 1:N est courant (un enseignant, plusieurs cours). N:M nécessite une table d'association (INSCRIPTION lie ETUDIANT à COURS). Poser : "Pourquoi ne pas mettre id_cours directement dans ETUDIANT ?" Réponse : un étudiant s'inscrit à plusieurs cours.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le schéma complet. 5 tables. ETUDIANT et ENSEIGNANT sont indépendants. INSCRIPTION relie ETUDIANT et COURS (N:M). ENSEIGNER relie ENSEIGNANT et COURS. Ce schéma sera utilisé pour tout le reste du cours. Demander : "Pouvez-vous identifier les relations 1:N et N:M ?"</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niveaux d'intégrité que le SGBD enforce. Domaine : type de données + validations. Entité : clés primaires uniques. Référentielle : les FK pointent vers des données existantes. Donner des contre-exemples : un email sans @ (domaine), deux id identiques (entité), un id_cours qui n'existe pas (référentielle).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attendue : 5 tables (LIVRE, AUTEUR, EMPRUNT, ADHERENT, possibly LIVRE_AUTEUR si N:M). Clés primaires : id_livre, id_auteur, id_emprunt, id_adherent. Clés étrangères : EMPRUNT.id_livre → LIVRE, EMPRUNT.id_adherent → ADHERENT, LIVRE_AUTEUR.id_livre → LIVRE, LIVRE_AUTEUR.id_auteur → AUTEUR. Relations : Adhérent (1:N) Emprunt, Livre (1:N) Emprunt, Auteur (N:M) Livre.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5 familles de SQL. Ce cours se concentrera sur DML et DQL. DDL sera vu brièvement. DCL et TCL dépendent du SGBD. Montrer que SQL est le langage universel pour les bases de données.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ligne par ligne. CREATE TABLE : créer une nouvelle table. Etudiant : nom de la table. id_etudiant INT PRIMARY KEY : première colonne, entier, clé primaire. nom VARCHAR(100) NOT NULL : texte jusqu'à 100 caractères, obligatoire. Montrer que c'est déclaratif : on ne dit pas comment créer, on dit quoi créer.</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ajoute une nouvelle ligne. Montrer trois syntaxes différentes. Expliquer que si une colonne est nullable, on peut l'omettre. Les chaînes doivent être entre guillemets simples. Les données s'insèrent dans la table dans l'ordre où on les ajoute.</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 est l'opération la plus fréquente. * = toutes les colonnes. Spécifier les colonnes = performance + clarté. DISTINCT = enlever les doublons. SELECT peut retourner 0, 1 ou plusieurs lignes. Demander : "Comment récupérer uniquement le nom ?"</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est le filtre. = pour égalité, &lt;&gt; pour différent, &gt;, &lt;, &gt;=, &lt;= pour comparaison. AND = tous les critères, OR = au moins un critère, NOT = inverse. Donner des exemples : tous les étudiants dont le nom est 'Dupont', tous sauf les étudiants avec id &gt; 5.</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concepts complémentaires. WHERE = filtre avant. ORDER BY = tri après. DISTINCT = deduplicate. Ordre d'exécution : FROM → WHERE → SELECT → DISTINCT → ORDER BY. Exemple : SELECT DISTINCT prenom FROM Etudiant WHERE id &gt; 5 ORDER BY prenom.</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agrégations permettent de calculer des statistiques sur un ensemble de lignes. COUNT(*) = nombre de lignes. SUM = somme des valeurs numériques. AVG = moyenne. MIN/MAX = extrêmes. Chaque agrégation retourne une seule ligne avec une seule valeur.</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Distinction critique. GROUP BY groupe les lignes selon une colonne. HAVING filtre les groupes après agrégation. Exemple : "Afficher les cours avec plus de 30 étudiants" → GROUP BY id_cours, HAVING COUNT(*) &gt; 30. WHERE s'appliquerait avant : "Pour le cours 101, combien d'étudiants" → WHERE id_cours = 101.</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INNER JOIN = intersection (seulement les correspondances). LEFT JOIN = toutes les lignes de la table de gauche. RIGHT JOIN = toutes les lignes de la table de droite. FULL = union. Diagramme de Venn utile. Exemple : "Étudiants et leurs inscriptions" → LEFT JOIN (tous les étudiants, même sans inscription).</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Construire la requête étape par étape. 1. SELECT quelles colonnes. 2. FROM quelle table de départ. 3. JOIN pour ajouter les autres tables. 4. ON comment les relier (clés étrangères). 5. ORDER BY pour trier. Montrer que e.nom signifie "la colonne nom de la table e (Etudiant)".</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SOLUTIONS NIVEAU 1 :
1. SELECT id, nom, prenom FROM Etudiant;
2. SELECT nom FROM Etudiant;
3. SELECT * FROM Etudiant WHERE id &gt; 5;
4. SELECT * FROM Etudiant ORDER BY nom ASC;
5. SELECT DISTINCT email FROM Etudiant;
6. SELECT * FROM Etudiant LIMIT 10;
Ces exercices sont simples et permettent de s'approprier SELECT, FROM, WHERE, ORDER BY, DISTINCT.</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SOLUTIONS NIVEAU 2 :
1. SELECT COUNT(*) FROM Etudiant;
2. SELECT AVG(note) FROM Inscription;
3. SELECT id_et, COUNT(*) FROM Inscription GROUP BY id_et;
4. SELECT id_cours, COUNT(*) FROM Inscription GROUP BY id_cours HAVING COUNT(*) &gt; 20;
5. SELECT e.nom, e.prenom, c.titre FROM Etudiant e INNER JOIN Inscription i ON e.id = i.id_et INNER JOIN Cours c ON i.id_cours = c.id_cours;
6. SELECT e.* FROM Etudiant e LEFT JOIN Inscription i ON e.id = i.id_et WHERE i.id_et IS NULL;</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SOLUTIONS NIVEAU 3 :
1. SELECT e.id, e.nom, AVG(i.note) FROM Etudiant e INNER JOIN Inscription i ON e.id = i.id_et GROUP BY e.id, e.nom HAVING COUNT(*) &gt; 3 ORDER BY AVG(i.note) DESC;
2. SELECT c.titre, COUNT(i.id_et) AS nb_etudiants, AVG(i.note) AS moyenne FROM Cours c LEFT JOIN Inscription i ON c.id_cours = i.id_cours GROUP BY c.id_cours, c.titre;
3. Complex : id étudiant, nom, calculer la moyenne, ne garder que ceux avec moyenne ≥ 80 = HAVING AVG(note) &gt;= 80;
4. SELECT e.id_ens, e.nom, COUNT(DISTINCT t.id_cours) FROM Enseignant e LEFT JOIN Enseigner t ON e.id_ens = t.id_ens GROUP BY e.id_ens, e.nom;
5. SELECT e.* FROM Etudiant e LEFT JOIN Inscription i ON e.id = i.id_et WHERE i.id_et IS NULL;</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mini-projet intègre tous les éléments du cours : modélisation, DDL, DML, DQL, sécurité, administration. Laisser les groupes travailler autonomement. Circuler et poser des questions : "Pourquoi cette clé primaire ?", "Comment les tables se relient-elles ?", "Pourquoi cette permission pour cet utilisateur ?" À la fin, chaque groupe présente son schéma.</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finale. Repasser par les 6 objectifs du cours. Demander : "Avez-vous atteint ces objectifs ?" Rappeler la progression pédagogique : comprendre → visualiser → exemple → appliquer → analyser → résoudre. Cette formation est le début d'une carrière en données. Les prochaines étapes : bases de données avancées, optimisation des performances, data warehousing, big data.</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7" name="Rectangle 6"/>
          <p:cNvSpPr/>
          <p:nvPr/>
        </p:nvSpPr>
        <p:spPr>
          <a:xfrm>
            <a:off x="334900" y="2314324"/>
            <a:ext cx="8447150" cy="24786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MA" sz="1350"/>
          </a:p>
        </p:txBody>
      </p:sp>
      <p:sp>
        <p:nvSpPr>
          <p:cNvPr id="2" name="Titre 1"/>
          <p:cNvSpPr>
            <a:spLocks noGrp="1"/>
          </p:cNvSpPr>
          <p:nvPr>
            <p:ph type="ctrTitle"/>
          </p:nvPr>
        </p:nvSpPr>
        <p:spPr>
          <a:xfrm>
            <a:off x="435894" y="765324"/>
            <a:ext cx="8245162" cy="1106260"/>
          </a:xfrm>
          <a:effectLst/>
        </p:spPr>
        <p:txBody>
          <a:bodyPr rtlCol="0" anchor="b">
            <a:normAutofit/>
          </a:bodyPr>
          <a:lstStyle>
            <a:lvl1pPr>
              <a:defRPr sz="2700">
                <a:solidFill>
                  <a:schemeClr val="accent1"/>
                </a:solidFill>
              </a:defRPr>
            </a:lvl1pPr>
          </a:lstStyle>
          <a:p>
            <a:pPr rtl="0"/>
            <a:r>
              <a:rPr lang="fr-FR" noProof="0"/>
              <a:t>Modifiez le style du titre</a:t>
            </a:r>
          </a:p>
        </p:txBody>
      </p:sp>
      <p:sp>
        <p:nvSpPr>
          <p:cNvPr id="3" name="Sous-titre 2"/>
          <p:cNvSpPr>
            <a:spLocks noGrp="1"/>
          </p:cNvSpPr>
          <p:nvPr>
            <p:ph type="subTitle" idx="1"/>
          </p:nvPr>
        </p:nvSpPr>
        <p:spPr>
          <a:xfrm>
            <a:off x="435895" y="1871584"/>
            <a:ext cx="8245160" cy="442741"/>
          </a:xfrm>
        </p:spPr>
        <p:txBody>
          <a:bodyPr rtlCol="0" anchor="t">
            <a:normAutofit/>
          </a:bodyPr>
          <a:lstStyle>
            <a:lvl1pPr marL="0" indent="0" algn="l">
              <a:buNone/>
              <a:defRPr sz="1200" cap="all">
                <a:solidFill>
                  <a:schemeClr val="accent2"/>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pPr rtl="0"/>
            <a:r>
              <a:rPr lang="fr-FR" noProof="0"/>
              <a:t>Modifiez le style des sous-titres du masque</a:t>
            </a:r>
          </a:p>
        </p:txBody>
      </p:sp>
      <p:sp>
        <p:nvSpPr>
          <p:cNvPr id="4" name="Espace réservé de la date 3"/>
          <p:cNvSpPr>
            <a:spLocks noGrp="1"/>
          </p:cNvSpPr>
          <p:nvPr>
            <p:ph type="dt" sz="half" idx="10"/>
          </p:nvPr>
        </p:nvSpPr>
        <p:spPr>
          <a:xfrm>
            <a:off x="5704463" y="4467103"/>
            <a:ext cx="2133600" cy="273844"/>
          </a:xfrm>
        </p:spPr>
        <p:txBody>
          <a:bodyPr rtlCol="0"/>
          <a:lstStyle>
            <a:lvl1pPr>
              <a:defRPr>
                <a:solidFill>
                  <a:schemeClr val="accent1">
                    <a:lumMod val="75000"/>
                    <a:lumOff val="25000"/>
                  </a:schemeClr>
                </a:solidFill>
              </a:defRPr>
            </a:lvl1pPr>
          </a:lstStyle>
          <a:p>
            <a:pPr rtl="0"/>
            <a:fld id="{3F3B20A7-A3FE-46B9-84EA-B4257BA7E60C}" type="datetime1">
              <a:rPr lang="fr-FR" noProof="0" smtClean="0"/>
              <a:t>26/09/2026</a:t>
            </a:fld>
            <a:endParaRPr lang="fr-FR" noProof="0"/>
          </a:p>
        </p:txBody>
      </p:sp>
      <p:sp>
        <p:nvSpPr>
          <p:cNvPr id="5" name="Espace réservé du pied de page 4"/>
          <p:cNvSpPr>
            <a:spLocks noGrp="1"/>
          </p:cNvSpPr>
          <p:nvPr>
            <p:ph type="ftr" sz="quarter" idx="11"/>
          </p:nvPr>
        </p:nvSpPr>
        <p:spPr>
          <a:xfrm>
            <a:off x="435894" y="4463859"/>
            <a:ext cx="5187908" cy="273844"/>
          </a:xfrm>
        </p:spPr>
        <p:txBody>
          <a:bodyPr rtlCol="0"/>
          <a:lstStyle>
            <a:lvl1pPr>
              <a:defRPr>
                <a:solidFill>
                  <a:schemeClr val="accent1">
                    <a:lumMod val="75000"/>
                    <a:lumOff val="25000"/>
                  </a:schemeClr>
                </a:solidFill>
              </a:defRPr>
            </a:lvl1pPr>
          </a:lstStyle>
          <a:p>
            <a:pPr rtl="0"/>
            <a:endParaRPr lang="fr-FR" noProof="0"/>
          </a:p>
        </p:txBody>
      </p:sp>
      <p:sp>
        <p:nvSpPr>
          <p:cNvPr id="6" name="Espace réservé du numéro de diapositive 5"/>
          <p:cNvSpPr>
            <a:spLocks noGrp="1"/>
          </p:cNvSpPr>
          <p:nvPr>
            <p:ph type="sldNum" sz="quarter" idx="12"/>
          </p:nvPr>
        </p:nvSpPr>
        <p:spPr>
          <a:xfrm>
            <a:off x="7918725" y="4467103"/>
            <a:ext cx="762330" cy="273844"/>
          </a:xfrm>
        </p:spPr>
        <p:txBody>
          <a:bodyPr rtlCol="0"/>
          <a:lstStyle>
            <a:lvl1pPr>
              <a:defRPr>
                <a:solidFill>
                  <a:schemeClr val="accent1">
                    <a:lumMod val="75000"/>
                    <a:lumOff val="25000"/>
                  </a:schemeClr>
                </a:solidFill>
              </a:defRPr>
            </a:lvl1pPr>
          </a:lstStyle>
          <a:p>
            <a:pPr rtl="0"/>
            <a:fld id="{D57F1E4F-1CFF-5643-939E-217C01CDF565}" type="slidenum">
              <a:rPr lang="fr-FR" noProof="0" smtClean="0"/>
              <a:pPr rtl="0"/>
              <a:t>‹#›</a:t>
            </a:fld>
            <a:endParaRPr lang="fr-FR" noProof="0"/>
          </a:p>
        </p:txBody>
      </p:sp>
    </p:spTree>
    <p:extLst>
      <p:ext uri="{BB962C8B-B14F-4D97-AF65-F5344CB8AC3E}">
        <p14:creationId xmlns:p14="http://schemas.microsoft.com/office/powerpoint/2010/main" val="3199102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7" name="Rectangle 6"/>
          <p:cNvSpPr>
            <a:spLocks noChangeAspect="1"/>
          </p:cNvSpPr>
          <p:nvPr/>
        </p:nvSpPr>
        <p:spPr>
          <a:xfrm>
            <a:off x="330214" y="460805"/>
            <a:ext cx="8482004" cy="89197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MA" sz="1350"/>
          </a:p>
        </p:txBody>
      </p:sp>
      <p:sp>
        <p:nvSpPr>
          <p:cNvPr id="2" name="Titre 1"/>
          <p:cNvSpPr>
            <a:spLocks noGrp="1"/>
          </p:cNvSpPr>
          <p:nvPr>
            <p:ph type="title"/>
          </p:nvPr>
        </p:nvSpPr>
        <p:spPr>
          <a:xfrm>
            <a:off x="435894" y="526617"/>
            <a:ext cx="8272212" cy="760350"/>
          </a:xfrm>
        </p:spPr>
        <p:txBody>
          <a:bodyPr rtlCol="0"/>
          <a:lstStyle/>
          <a:p>
            <a:pPr rtl="0"/>
            <a:r>
              <a:rPr lang="fr-FR" noProof="0"/>
              <a:t>Modifiez le style du titre</a:t>
            </a:r>
          </a:p>
        </p:txBody>
      </p:sp>
      <p:sp>
        <p:nvSpPr>
          <p:cNvPr id="3" name="Espace réservé du contenu 2"/>
          <p:cNvSpPr>
            <a:spLocks noGrp="1"/>
          </p:cNvSpPr>
          <p:nvPr>
            <p:ph idx="1" hasCustomPrompt="1"/>
          </p:nvPr>
        </p:nvSpPr>
        <p:spPr>
          <a:xfrm>
            <a:off x="435895" y="1635373"/>
            <a:ext cx="8272211" cy="2758727"/>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10"/>
          </p:nvPr>
        </p:nvSpPr>
        <p:spPr/>
        <p:txBody>
          <a:bodyPr rtlCol="0"/>
          <a:lstStyle/>
          <a:p>
            <a:pPr rtl="0"/>
            <a:fld id="{29B34D2F-0B02-482E-ABD2-95D8C2FF2A58}" type="datetime1">
              <a:rPr lang="fr-FR" noProof="0" smtClean="0"/>
              <a:t>26/09/2026</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a:xfrm>
            <a:off x="7918725" y="4467103"/>
            <a:ext cx="789381" cy="273844"/>
          </a:xfrm>
        </p:spPr>
        <p:txBody>
          <a:bodyPr rtlCol="0"/>
          <a:lstStyle/>
          <a:p>
            <a:pPr rtl="0"/>
            <a:fld id="{D57F1E4F-1CFF-5643-939E-217C01CDF565}" type="slidenum">
              <a:rPr lang="fr-FR" noProof="0" smtClean="0"/>
              <a:pPr rtl="0"/>
              <a:t>‹#›</a:t>
            </a:fld>
            <a:endParaRPr lang="fr-FR" noProof="0"/>
          </a:p>
        </p:txBody>
      </p:sp>
    </p:spTree>
    <p:extLst>
      <p:ext uri="{BB962C8B-B14F-4D97-AF65-F5344CB8AC3E}">
        <p14:creationId xmlns:p14="http://schemas.microsoft.com/office/powerpoint/2010/main" val="4182188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S01V1">
    <p:bg>
      <p:bgPr>
        <a:solidFill>
          <a:schemeClr val="tx2"/>
        </a:solidFill>
        <a:effectLst/>
      </p:bgPr>
    </p:bg>
    <p:spTree>
      <p:nvGrpSpPr>
        <p:cNvPr id="1" name=""/>
        <p:cNvGrpSpPr/>
        <p:nvPr/>
      </p:nvGrpSpPr>
      <p:grpSpPr>
        <a:xfrm>
          <a:off x="0" y="0"/>
          <a:ext cx="0" cy="0"/>
          <a:chOff x="0" y="0"/>
          <a:chExt cx="0" cy="0"/>
        </a:xfrm>
      </p:grpSpPr>
      <p:sp>
        <p:nvSpPr>
          <p:cNvPr id="8" name="Ellipse">
            <a:extLst>
              <a:ext uri="{FF2B5EF4-FFF2-40B4-BE49-F238E27FC236}">
                <a16:creationId xmlns:a16="http://schemas.microsoft.com/office/drawing/2014/main" id="{356C674D-C1B2-3D36-EDA7-DF911EB1FEB6}"/>
              </a:ext>
            </a:extLst>
          </p:cNvPr>
          <p:cNvSpPr/>
          <p:nvPr userDrawn="1"/>
        </p:nvSpPr>
        <p:spPr>
          <a:xfrm>
            <a:off x="440531" y="456068"/>
            <a:ext cx="108000" cy="10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1" name="Ellipse">
            <a:extLst>
              <a:ext uri="{FF2B5EF4-FFF2-40B4-BE49-F238E27FC236}">
                <a16:creationId xmlns:a16="http://schemas.microsoft.com/office/drawing/2014/main" id="{1BD3DABB-62AC-C704-C426-2B0C4C5FE585}"/>
              </a:ext>
            </a:extLst>
          </p:cNvPr>
          <p:cNvSpPr/>
          <p:nvPr userDrawn="1"/>
        </p:nvSpPr>
        <p:spPr>
          <a:xfrm>
            <a:off x="671794" y="456068"/>
            <a:ext cx="108000" cy="108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4" name="Ellipse">
            <a:extLst>
              <a:ext uri="{FF2B5EF4-FFF2-40B4-BE49-F238E27FC236}">
                <a16:creationId xmlns:a16="http://schemas.microsoft.com/office/drawing/2014/main" id="{0CEC4267-75DC-2698-E83E-C2C03A67EEE7}"/>
              </a:ext>
            </a:extLst>
          </p:cNvPr>
          <p:cNvSpPr/>
          <p:nvPr userDrawn="1"/>
        </p:nvSpPr>
        <p:spPr>
          <a:xfrm>
            <a:off x="903056" y="456068"/>
            <a:ext cx="108000" cy="108000"/>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7" name="Рисунок 19">
            <a:extLst>
              <a:ext uri="{FF2B5EF4-FFF2-40B4-BE49-F238E27FC236}">
                <a16:creationId xmlns:a16="http://schemas.microsoft.com/office/drawing/2014/main" id="{A6051B09-DA1A-3E13-A6F8-10F09B9F9673}"/>
              </a:ext>
            </a:extLst>
          </p:cNvPr>
          <p:cNvSpPr>
            <a:spLocks noGrp="1"/>
          </p:cNvSpPr>
          <p:nvPr>
            <p:ph type="pic" sz="quarter" idx="12"/>
          </p:nvPr>
        </p:nvSpPr>
        <p:spPr>
          <a:xfrm>
            <a:off x="3249215" y="978694"/>
            <a:ext cx="5454254" cy="3726656"/>
          </a:xfrm>
          <a:prstGeom prst="roundRect">
            <a:avLst>
              <a:gd name="adj" fmla="val 9303"/>
            </a:avLst>
          </a:prstGeom>
        </p:spPr>
        <p:txBody>
          <a:bodyPr/>
          <a:lstStyle/>
          <a:p>
            <a:endParaRPr lang="ru-RU"/>
          </a:p>
        </p:txBody>
      </p:sp>
      <p:sp>
        <p:nvSpPr>
          <p:cNvPr id="3" name="Заголовок 1">
            <a:extLst>
              <a:ext uri="{FF2B5EF4-FFF2-40B4-BE49-F238E27FC236}">
                <a16:creationId xmlns:a16="http://schemas.microsoft.com/office/drawing/2014/main" id="{1701A77F-3F56-CD18-BB7D-9EB1DC5C0B94}"/>
              </a:ext>
            </a:extLst>
          </p:cNvPr>
          <p:cNvSpPr>
            <a:spLocks noGrp="1"/>
          </p:cNvSpPr>
          <p:nvPr>
            <p:ph type="title" hasCustomPrompt="1"/>
          </p:nvPr>
        </p:nvSpPr>
        <p:spPr>
          <a:xfrm>
            <a:off x="447906" y="982056"/>
            <a:ext cx="2639386" cy="2492990"/>
          </a:xfrm>
          <a:prstGeom prst="rect">
            <a:avLst/>
          </a:prstGeom>
        </p:spPr>
        <p:txBody>
          <a:bodyPr vert="horz" wrap="square" lIns="0" tIns="0" rIns="0" bIns="0" rtlCol="0" anchor="t" anchorCtr="0">
            <a:noAutofit/>
          </a:bodyPr>
          <a:lstStyle>
            <a:lvl1pPr>
              <a:defRPr sz="3600">
                <a:solidFill>
                  <a:schemeClr val="bg1"/>
                </a:solidFill>
              </a:defRPr>
            </a:lvl1pPr>
          </a:lstStyle>
          <a:p>
            <a:pPr lvl="0"/>
            <a:r>
              <a:rPr lang="en-US" dirty="0"/>
              <a:t>Click to edit Master text</a:t>
            </a:r>
            <a:br>
              <a:rPr lang="ru-RU" dirty="0"/>
            </a:br>
            <a:r>
              <a:rPr lang="en-US" dirty="0"/>
              <a:t>styles</a:t>
            </a:r>
            <a:endParaRPr lang="ru-RU" dirty="0"/>
          </a:p>
        </p:txBody>
      </p:sp>
      <p:sp>
        <p:nvSpPr>
          <p:cNvPr id="9" name="Subtitle Placeholder">
            <a:extLst>
              <a:ext uri="{FF2B5EF4-FFF2-40B4-BE49-F238E27FC236}">
                <a16:creationId xmlns:a16="http://schemas.microsoft.com/office/drawing/2014/main" id="{C33DAF4D-5B62-BE3B-CC0B-FAEBC6862C28}"/>
              </a:ext>
            </a:extLst>
          </p:cNvPr>
          <p:cNvSpPr>
            <a:spLocks noGrp="1"/>
          </p:cNvSpPr>
          <p:nvPr>
            <p:ph type="body" idx="24" hasCustomPrompt="1"/>
          </p:nvPr>
        </p:nvSpPr>
        <p:spPr>
          <a:xfrm>
            <a:off x="611391" y="3571742"/>
            <a:ext cx="2475900" cy="1115690"/>
          </a:xfrm>
        </p:spPr>
        <p:txBody>
          <a:bodyPr lIns="0" tIns="0" rIns="0" bIns="0" anchor="ctr" anchorCtr="0">
            <a:noAutofit/>
          </a:bodyPr>
          <a:lstStyle>
            <a:lvl1pPr marL="0" indent="0" algn="l">
              <a:buNone/>
              <a:defRPr sz="150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cxnSp>
        <p:nvCxnSpPr>
          <p:cNvPr id="10" name="Прямая соединительная линия 9">
            <a:extLst>
              <a:ext uri="{FF2B5EF4-FFF2-40B4-BE49-F238E27FC236}">
                <a16:creationId xmlns:a16="http://schemas.microsoft.com/office/drawing/2014/main" id="{0EB6561E-A668-1F5B-D3AA-2B30EB3E2784}"/>
              </a:ext>
            </a:extLst>
          </p:cNvPr>
          <p:cNvCxnSpPr>
            <a:cxnSpLocks/>
          </p:cNvCxnSpPr>
          <p:nvPr userDrawn="1"/>
        </p:nvCxnSpPr>
        <p:spPr>
          <a:xfrm>
            <a:off x="441483" y="3571742"/>
            <a:ext cx="0" cy="1115100"/>
          </a:xfrm>
          <a:prstGeom prst="line">
            <a:avLst/>
          </a:prstGeom>
          <a:ln w="25400" cap="rnd">
            <a:solidFill>
              <a:schemeClr val="accent1"/>
            </a:solidFill>
            <a:round/>
          </a:ln>
        </p:spPr>
        <p:style>
          <a:lnRef idx="2">
            <a:schemeClr val="accent1"/>
          </a:lnRef>
          <a:fillRef idx="0">
            <a:schemeClr val="accent1"/>
          </a:fillRef>
          <a:effectRef idx="1">
            <a:schemeClr val="accent1"/>
          </a:effectRef>
          <a:fontRef idx="minor">
            <a:schemeClr val="tx1"/>
          </a:fontRef>
        </p:style>
      </p:cxnSp>
      <p:sp>
        <p:nvSpPr>
          <p:cNvPr id="2" name="Name Date Placeholder">
            <a:extLst>
              <a:ext uri="{FF2B5EF4-FFF2-40B4-BE49-F238E27FC236}">
                <a16:creationId xmlns:a16="http://schemas.microsoft.com/office/drawing/2014/main" id="{CAC7F701-456D-855A-7EFF-A8080DBB5322}"/>
              </a:ext>
            </a:extLst>
          </p:cNvPr>
          <p:cNvSpPr>
            <a:spLocks noGrp="1"/>
          </p:cNvSpPr>
          <p:nvPr>
            <p:ph type="body" idx="27"/>
          </p:nvPr>
        </p:nvSpPr>
        <p:spPr>
          <a:xfrm>
            <a:off x="1134317" y="439953"/>
            <a:ext cx="4760468" cy="155812"/>
          </a:xfrm>
        </p:spPr>
        <p:txBody>
          <a:bodyPr wrap="square" lIns="0" tIns="0" rIns="0" bIns="0" anchor="t" anchorCtr="0">
            <a:noAutofit/>
          </a:bodyPr>
          <a:lstStyle>
            <a:lvl1pPr marL="0" indent="0" algn="l">
              <a:buNone/>
              <a:defRPr sz="1013">
                <a:solidFill>
                  <a:schemeClr val="bg1">
                    <a:alpha val="50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Tree>
    <p:extLst>
      <p:ext uri="{BB962C8B-B14F-4D97-AF65-F5344CB8AC3E}">
        <p14:creationId xmlns:p14="http://schemas.microsoft.com/office/powerpoint/2010/main" val="3708409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 Text Box T20V1">
    <p:bg>
      <p:bgPr>
        <a:solidFill>
          <a:schemeClr val="bg2"/>
        </a:solidFill>
        <a:effectLst/>
      </p:bgPr>
    </p:bg>
    <p:spTree>
      <p:nvGrpSpPr>
        <p:cNvPr id="1" name=""/>
        <p:cNvGrpSpPr/>
        <p:nvPr/>
      </p:nvGrpSpPr>
      <p:grpSpPr>
        <a:xfrm>
          <a:off x="0" y="0"/>
          <a:ext cx="0" cy="0"/>
          <a:chOff x="0" y="0"/>
          <a:chExt cx="0" cy="0"/>
        </a:xfrm>
      </p:grpSpPr>
      <p:sp>
        <p:nvSpPr>
          <p:cNvPr id="36" name="Рисунок 19">
            <a:extLst>
              <a:ext uri="{FF2B5EF4-FFF2-40B4-BE49-F238E27FC236}">
                <a16:creationId xmlns:a16="http://schemas.microsoft.com/office/drawing/2014/main" id="{83531D88-CECC-7F5D-EB03-E13B3CB7552E}"/>
              </a:ext>
            </a:extLst>
          </p:cNvPr>
          <p:cNvSpPr>
            <a:spLocks noGrp="1"/>
          </p:cNvSpPr>
          <p:nvPr>
            <p:ph type="pic" sz="quarter" idx="12"/>
          </p:nvPr>
        </p:nvSpPr>
        <p:spPr>
          <a:xfrm>
            <a:off x="4652963" y="978694"/>
            <a:ext cx="4050506" cy="3726656"/>
          </a:xfrm>
          <a:prstGeom prst="roundRect">
            <a:avLst>
              <a:gd name="adj" fmla="val 9218"/>
            </a:avLst>
          </a:prstGeom>
        </p:spPr>
        <p:txBody>
          <a:bodyPr/>
          <a:lstStyle/>
          <a:p>
            <a:endParaRPr lang="ru-RU"/>
          </a:p>
        </p:txBody>
      </p:sp>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440531" y="2119815"/>
            <a:ext cx="4050507" cy="2583732"/>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34" name="Text Placeholder">
            <a:extLst>
              <a:ext uri="{FF2B5EF4-FFF2-40B4-BE49-F238E27FC236}">
                <a16:creationId xmlns:a16="http://schemas.microsoft.com/office/drawing/2014/main" id="{0D141B0A-352C-6023-D264-7520957DA575}"/>
              </a:ext>
            </a:extLst>
          </p:cNvPr>
          <p:cNvSpPr>
            <a:spLocks noGrp="1"/>
          </p:cNvSpPr>
          <p:nvPr>
            <p:ph type="body" idx="25" hasCustomPrompt="1"/>
          </p:nvPr>
        </p:nvSpPr>
        <p:spPr>
          <a:xfrm>
            <a:off x="440530" y="2652392"/>
            <a:ext cx="4050506" cy="1415772"/>
          </a:xfrm>
        </p:spPr>
        <p:txBody>
          <a:bodyPr lIns="216000" tIns="0" rIns="216000" bIns="0" anchor="b" anchorCtr="0">
            <a:noAutofit/>
          </a:bodyPr>
          <a:lstStyle>
            <a:lvl1pPr marL="0" indent="0" algn="l">
              <a:buNone/>
              <a:defRPr sz="1013">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33" name="Subtitle Placeholder">
            <a:extLst>
              <a:ext uri="{FF2B5EF4-FFF2-40B4-BE49-F238E27FC236}">
                <a16:creationId xmlns:a16="http://schemas.microsoft.com/office/drawing/2014/main" id="{83752713-A816-288F-B1ED-9153BA5CE767}"/>
              </a:ext>
            </a:extLst>
          </p:cNvPr>
          <p:cNvSpPr>
            <a:spLocks noGrp="1"/>
          </p:cNvSpPr>
          <p:nvPr>
            <p:ph type="body" idx="24" hasCustomPrompt="1"/>
          </p:nvPr>
        </p:nvSpPr>
        <p:spPr>
          <a:xfrm>
            <a:off x="440530" y="2091485"/>
            <a:ext cx="4050506" cy="4611600"/>
          </a:xfrm>
        </p:spPr>
        <p:txBody>
          <a:bodyPr wrap="square" lIns="216000" tIns="108000" rIns="216000" bIns="432000" anchor="ctr" anchorCtr="0">
            <a:spAutoFit/>
          </a:bodyPr>
          <a:lstStyle>
            <a:lvl1pPr marL="0" indent="0" algn="l">
              <a:buNone/>
              <a:defRPr sz="1500" b="0">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7" name="Овал 6">
            <a:extLst>
              <a:ext uri="{FF2B5EF4-FFF2-40B4-BE49-F238E27FC236}">
                <a16:creationId xmlns:a16="http://schemas.microsoft.com/office/drawing/2014/main" id="{FE4E2D84-7B51-3838-AFB2-D38F229F4EDA}"/>
              </a:ext>
            </a:extLst>
          </p:cNvPr>
          <p:cNvSpPr/>
          <p:nvPr userDrawn="1"/>
        </p:nvSpPr>
        <p:spPr>
          <a:xfrm>
            <a:off x="602531" y="2281815"/>
            <a:ext cx="324000" cy="32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pic>
        <p:nvPicPr>
          <p:cNvPr id="2" name="Рисунок 1" descr="Стрелка вниз со сплошной заливкой">
            <a:extLst>
              <a:ext uri="{FF2B5EF4-FFF2-40B4-BE49-F238E27FC236}">
                <a16:creationId xmlns:a16="http://schemas.microsoft.com/office/drawing/2014/main" id="{511C1B63-B45C-68A1-0089-F719F223BA23}"/>
              </a:ext>
            </a:extLst>
          </p:cNvPr>
          <p:cNvPicPr>
            <a:picLocks noChangeAspect="1"/>
          </p:cNvPicPr>
          <p:nvPr userDrawn="1"/>
        </p:nvPicPr>
        <p:blipFill>
          <a:blip>
            <a:extLst>
              <a:ext uri="{96DAC541-7B7A-43D3-8B79-37D633B846F1}">
                <asvg:svgBlip xmlns:asvg="http://schemas.microsoft.com/office/drawing/2016/SVG/main" r:embed="rId2"/>
              </a:ext>
            </a:extLst>
          </a:blip>
          <a:srcRect t="54542" b="3102"/>
          <a:stretch>
            <a:fillRect/>
          </a:stretch>
        </p:blipFill>
        <p:spPr>
          <a:xfrm rot="16200000">
            <a:off x="553698" y="2354514"/>
            <a:ext cx="421666" cy="178603"/>
          </a:xfrm>
          <a:prstGeom prst="rect">
            <a:avLst/>
          </a:prstGeom>
        </p:spPr>
      </p:pic>
      <p:sp>
        <p:nvSpPr>
          <p:cNvPr id="3" name="Заголовок 1">
            <a:extLst>
              <a:ext uri="{FF2B5EF4-FFF2-40B4-BE49-F238E27FC236}">
                <a16:creationId xmlns:a16="http://schemas.microsoft.com/office/drawing/2014/main" id="{2E9D28A6-84CA-A239-A2DE-29F1DCCF2BA8}"/>
              </a:ext>
            </a:extLst>
          </p:cNvPr>
          <p:cNvSpPr>
            <a:spLocks noGrp="1"/>
          </p:cNvSpPr>
          <p:nvPr>
            <p:ph type="title" hasCustomPrompt="1"/>
          </p:nvPr>
        </p:nvSpPr>
        <p:spPr>
          <a:xfrm>
            <a:off x="447906" y="982056"/>
            <a:ext cx="4043131" cy="997196"/>
          </a:xfrm>
          <a:prstGeom prst="rect">
            <a:avLst/>
          </a:prstGeom>
        </p:spPr>
        <p:txBody>
          <a:bodyPr vert="horz" wrap="square" lIns="0" tIns="0" rIns="0" bIns="0" rtlCol="0" anchor="t" anchorCtr="0">
            <a:noAutofit/>
          </a:bodyPr>
          <a:lstStyle>
            <a:lvl1pPr>
              <a:defRPr sz="3600"/>
            </a:lvl1pPr>
          </a:lstStyle>
          <a:p>
            <a:pPr lvl="0"/>
            <a:r>
              <a:rPr lang="en-US" dirty="0"/>
              <a:t>Click to edit Master text styles</a:t>
            </a:r>
            <a:endParaRPr lang="ru-RU" dirty="0"/>
          </a:p>
        </p:txBody>
      </p:sp>
      <p:sp>
        <p:nvSpPr>
          <p:cNvPr id="4" name="Ellipse">
            <a:extLst>
              <a:ext uri="{FF2B5EF4-FFF2-40B4-BE49-F238E27FC236}">
                <a16:creationId xmlns:a16="http://schemas.microsoft.com/office/drawing/2014/main" id="{AA7FDBDC-F4CE-ECA7-6867-958B9F466F11}"/>
              </a:ext>
            </a:extLst>
          </p:cNvPr>
          <p:cNvSpPr/>
          <p:nvPr userDrawn="1"/>
        </p:nvSpPr>
        <p:spPr>
          <a:xfrm>
            <a:off x="440531" y="456068"/>
            <a:ext cx="108000" cy="10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5" name="Ellipse">
            <a:extLst>
              <a:ext uri="{FF2B5EF4-FFF2-40B4-BE49-F238E27FC236}">
                <a16:creationId xmlns:a16="http://schemas.microsoft.com/office/drawing/2014/main" id="{43BEFB85-EA6A-87AE-B6A2-96E03F16FB49}"/>
              </a:ext>
            </a:extLst>
          </p:cNvPr>
          <p:cNvSpPr/>
          <p:nvPr userDrawn="1"/>
        </p:nvSpPr>
        <p:spPr>
          <a:xfrm>
            <a:off x="671794" y="456068"/>
            <a:ext cx="108000" cy="108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6" name="Ellipse">
            <a:extLst>
              <a:ext uri="{FF2B5EF4-FFF2-40B4-BE49-F238E27FC236}">
                <a16:creationId xmlns:a16="http://schemas.microsoft.com/office/drawing/2014/main" id="{0124D865-8E19-065D-8441-138B5716A486}"/>
              </a:ext>
            </a:extLst>
          </p:cNvPr>
          <p:cNvSpPr/>
          <p:nvPr userDrawn="1"/>
        </p:nvSpPr>
        <p:spPr>
          <a:xfrm>
            <a:off x="903056" y="456068"/>
            <a:ext cx="108000" cy="108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8" name="Footer Placeholder">
            <a:extLst>
              <a:ext uri="{FF2B5EF4-FFF2-40B4-BE49-F238E27FC236}">
                <a16:creationId xmlns:a16="http://schemas.microsoft.com/office/drawing/2014/main" id="{BFF18C7C-EDB8-3DC1-C0E6-A7B15C224944}"/>
              </a:ext>
            </a:extLst>
          </p:cNvPr>
          <p:cNvSpPr>
            <a:spLocks noGrp="1"/>
          </p:cNvSpPr>
          <p:nvPr>
            <p:ph type="body" sz="quarter" idx="22" hasCustomPrompt="1"/>
          </p:nvPr>
        </p:nvSpPr>
        <p:spPr>
          <a:xfrm>
            <a:off x="1134317" y="439953"/>
            <a:ext cx="4752486" cy="891540"/>
          </a:xfrm>
        </p:spPr>
        <p:txBody>
          <a:bodyPr wrap="square" lIns="0" tIns="0" rIns="0" bIns="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975">
                <a:solidFill>
                  <a:schemeClr val="tx1">
                    <a:alpha val="50000"/>
                  </a:schemeClr>
                </a:solidFill>
              </a:defRPr>
            </a:lvl1pPr>
            <a:lvl5pPr marL="1371600" indent="0">
              <a:buNone/>
              <a:defRPr/>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4146796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 Text Boxes T21V1">
    <p:bg>
      <p:bgPr>
        <a:solidFill>
          <a:schemeClr val="bg2"/>
        </a:solidFill>
        <a:effectLst/>
      </p:bgPr>
    </p:bg>
    <p:spTree>
      <p:nvGrpSpPr>
        <p:cNvPr id="1" name=""/>
        <p:cNvGrpSpPr/>
        <p:nvPr/>
      </p:nvGrpSpPr>
      <p:grpSpPr>
        <a:xfrm>
          <a:off x="0" y="0"/>
          <a:ext cx="0" cy="0"/>
          <a:chOff x="0" y="0"/>
          <a:chExt cx="0" cy="0"/>
        </a:xfrm>
      </p:grpSpPr>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4652962" y="2121451"/>
            <a:ext cx="4050507" cy="2583732"/>
          </a:xfrm>
          <a:prstGeom prst="roundRect">
            <a:avLst>
              <a:gd name="adj" fmla="val 1192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34" name="Text Placeholder">
            <a:extLst>
              <a:ext uri="{FF2B5EF4-FFF2-40B4-BE49-F238E27FC236}">
                <a16:creationId xmlns:a16="http://schemas.microsoft.com/office/drawing/2014/main" id="{0D141B0A-352C-6023-D264-7520957DA575}"/>
              </a:ext>
            </a:extLst>
          </p:cNvPr>
          <p:cNvSpPr>
            <a:spLocks noGrp="1"/>
          </p:cNvSpPr>
          <p:nvPr>
            <p:ph type="body" idx="25" hasCustomPrompt="1"/>
          </p:nvPr>
        </p:nvSpPr>
        <p:spPr>
          <a:xfrm>
            <a:off x="4652962" y="2654027"/>
            <a:ext cx="4050506" cy="1415772"/>
          </a:xfrm>
        </p:spPr>
        <p:txBody>
          <a:bodyPr lIns="216000" tIns="0" rIns="216000" bIns="0" anchor="b" anchorCtr="0">
            <a:noAutofit/>
          </a:bodyPr>
          <a:lstStyle>
            <a:lvl1pPr marL="0" indent="0" algn="l">
              <a:buNone/>
              <a:defRPr sz="1013">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33" name="Subtitle Placeholder">
            <a:extLst>
              <a:ext uri="{FF2B5EF4-FFF2-40B4-BE49-F238E27FC236}">
                <a16:creationId xmlns:a16="http://schemas.microsoft.com/office/drawing/2014/main" id="{83752713-A816-288F-B1ED-9153BA5CE767}"/>
              </a:ext>
            </a:extLst>
          </p:cNvPr>
          <p:cNvSpPr>
            <a:spLocks noGrp="1"/>
          </p:cNvSpPr>
          <p:nvPr>
            <p:ph type="body" idx="24" hasCustomPrompt="1"/>
          </p:nvPr>
        </p:nvSpPr>
        <p:spPr>
          <a:xfrm>
            <a:off x="4652962" y="2093121"/>
            <a:ext cx="4050506" cy="4611600"/>
          </a:xfrm>
        </p:spPr>
        <p:txBody>
          <a:bodyPr wrap="square" lIns="216000" tIns="108000" rIns="216000" bIns="432000" anchor="ctr" anchorCtr="0">
            <a:spAutoFit/>
          </a:bodyPr>
          <a:lstStyle>
            <a:lvl1pPr marL="0" indent="0" algn="l">
              <a:buNone/>
              <a:defRPr sz="1500" b="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7" name="Овал 6">
            <a:extLst>
              <a:ext uri="{FF2B5EF4-FFF2-40B4-BE49-F238E27FC236}">
                <a16:creationId xmlns:a16="http://schemas.microsoft.com/office/drawing/2014/main" id="{FE4E2D84-7B51-3838-AFB2-D38F229F4EDA}"/>
              </a:ext>
            </a:extLst>
          </p:cNvPr>
          <p:cNvSpPr/>
          <p:nvPr userDrawn="1"/>
        </p:nvSpPr>
        <p:spPr>
          <a:xfrm>
            <a:off x="4814962" y="2283451"/>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pic>
        <p:nvPicPr>
          <p:cNvPr id="2" name="Рисунок 1" descr="Стрелка вниз со сплошной заливкой">
            <a:extLst>
              <a:ext uri="{FF2B5EF4-FFF2-40B4-BE49-F238E27FC236}">
                <a16:creationId xmlns:a16="http://schemas.microsoft.com/office/drawing/2014/main" id="{511C1B63-B45C-68A1-0089-F719F223BA23}"/>
              </a:ext>
            </a:extLst>
          </p:cNvPr>
          <p:cNvPicPr>
            <a:picLocks noChangeAspect="1"/>
          </p:cNvPicPr>
          <p:nvPr userDrawn="1"/>
        </p:nvPicPr>
        <p:blipFill>
          <a:blip>
            <a:extLst>
              <a:ext uri="{96DAC541-7B7A-43D3-8B79-37D633B846F1}">
                <asvg:svgBlip xmlns:asvg="http://schemas.microsoft.com/office/drawing/2016/SVG/main" r:embed="rId2"/>
              </a:ext>
            </a:extLst>
          </a:blip>
          <a:srcRect t="54542" b="3102"/>
          <a:stretch>
            <a:fillRect/>
          </a:stretch>
        </p:blipFill>
        <p:spPr>
          <a:xfrm rot="18900000">
            <a:off x="4766130" y="2356150"/>
            <a:ext cx="421666" cy="178603"/>
          </a:xfrm>
          <a:prstGeom prst="rect">
            <a:avLst/>
          </a:prstGeom>
        </p:spPr>
      </p:pic>
      <p:sp>
        <p:nvSpPr>
          <p:cNvPr id="3" name="Прямоугольник: скругленные углы 2">
            <a:extLst>
              <a:ext uri="{FF2B5EF4-FFF2-40B4-BE49-F238E27FC236}">
                <a16:creationId xmlns:a16="http://schemas.microsoft.com/office/drawing/2014/main" id="{CC40E4B8-5463-5608-7FB6-94987AE54F86}"/>
              </a:ext>
            </a:extLst>
          </p:cNvPr>
          <p:cNvSpPr/>
          <p:nvPr userDrawn="1"/>
        </p:nvSpPr>
        <p:spPr>
          <a:xfrm>
            <a:off x="440532" y="2121618"/>
            <a:ext cx="4050507" cy="2583732"/>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4" name="Text Placeholder">
            <a:extLst>
              <a:ext uri="{FF2B5EF4-FFF2-40B4-BE49-F238E27FC236}">
                <a16:creationId xmlns:a16="http://schemas.microsoft.com/office/drawing/2014/main" id="{340048D2-8264-FC83-B01D-357D4735BEED}"/>
              </a:ext>
            </a:extLst>
          </p:cNvPr>
          <p:cNvSpPr>
            <a:spLocks noGrp="1"/>
          </p:cNvSpPr>
          <p:nvPr>
            <p:ph type="body" idx="26" hasCustomPrompt="1"/>
          </p:nvPr>
        </p:nvSpPr>
        <p:spPr>
          <a:xfrm>
            <a:off x="440532" y="2654195"/>
            <a:ext cx="4050506" cy="1415772"/>
          </a:xfrm>
        </p:spPr>
        <p:txBody>
          <a:bodyPr lIns="216000" tIns="0" rIns="216000" bIns="0" anchor="b" anchorCtr="0">
            <a:noAutofit/>
          </a:bodyPr>
          <a:lstStyle>
            <a:lvl1pPr marL="0" indent="0" algn="l">
              <a:buNone/>
              <a:defRPr sz="1013">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5" name="Subtitle Placeholder">
            <a:extLst>
              <a:ext uri="{FF2B5EF4-FFF2-40B4-BE49-F238E27FC236}">
                <a16:creationId xmlns:a16="http://schemas.microsoft.com/office/drawing/2014/main" id="{7A355C18-AE6B-8894-F419-E71021FF5061}"/>
              </a:ext>
            </a:extLst>
          </p:cNvPr>
          <p:cNvSpPr>
            <a:spLocks noGrp="1"/>
          </p:cNvSpPr>
          <p:nvPr>
            <p:ph type="body" idx="27" hasCustomPrompt="1"/>
          </p:nvPr>
        </p:nvSpPr>
        <p:spPr>
          <a:xfrm>
            <a:off x="440532" y="2093288"/>
            <a:ext cx="4050506" cy="4611600"/>
          </a:xfrm>
        </p:spPr>
        <p:txBody>
          <a:bodyPr wrap="square" lIns="216000" tIns="108000" rIns="216000" bIns="432000" anchor="ctr" anchorCtr="0">
            <a:spAutoFit/>
          </a:bodyPr>
          <a:lstStyle>
            <a:lvl1pPr marL="0" indent="0" algn="l">
              <a:buNone/>
              <a:defRPr sz="1500" b="0">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6" name="Овал 5">
            <a:extLst>
              <a:ext uri="{FF2B5EF4-FFF2-40B4-BE49-F238E27FC236}">
                <a16:creationId xmlns:a16="http://schemas.microsoft.com/office/drawing/2014/main" id="{9B8B0384-C066-92EB-D55B-208A039522A4}"/>
              </a:ext>
            </a:extLst>
          </p:cNvPr>
          <p:cNvSpPr/>
          <p:nvPr userDrawn="1"/>
        </p:nvSpPr>
        <p:spPr>
          <a:xfrm>
            <a:off x="602532" y="2283618"/>
            <a:ext cx="324000" cy="32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pic>
        <p:nvPicPr>
          <p:cNvPr id="10" name="Рисунок 9" descr="Стрелка вниз со сплошной заливкой">
            <a:extLst>
              <a:ext uri="{FF2B5EF4-FFF2-40B4-BE49-F238E27FC236}">
                <a16:creationId xmlns:a16="http://schemas.microsoft.com/office/drawing/2014/main" id="{CFA80331-4340-2F48-8519-3D57D1B5E0A5}"/>
              </a:ext>
            </a:extLst>
          </p:cNvPr>
          <p:cNvPicPr>
            <a:picLocks noChangeAspect="1"/>
          </p:cNvPicPr>
          <p:nvPr userDrawn="1"/>
        </p:nvPicPr>
        <p:blipFill>
          <a:blip>
            <a:extLst>
              <a:ext uri="{96DAC541-7B7A-43D3-8B79-37D633B846F1}">
                <asvg:svgBlip xmlns:asvg="http://schemas.microsoft.com/office/drawing/2016/SVG/main" r:embed="rId3"/>
              </a:ext>
            </a:extLst>
          </a:blip>
          <a:srcRect t="54542" b="3102"/>
          <a:stretch>
            <a:fillRect/>
          </a:stretch>
        </p:blipFill>
        <p:spPr>
          <a:xfrm rot="18900000">
            <a:off x="553700" y="2356317"/>
            <a:ext cx="421666" cy="178603"/>
          </a:xfrm>
          <a:prstGeom prst="rect">
            <a:avLst/>
          </a:prstGeom>
        </p:spPr>
      </p:pic>
      <p:sp>
        <p:nvSpPr>
          <p:cNvPr id="8" name="Заголовок 1">
            <a:extLst>
              <a:ext uri="{FF2B5EF4-FFF2-40B4-BE49-F238E27FC236}">
                <a16:creationId xmlns:a16="http://schemas.microsoft.com/office/drawing/2014/main" id="{E1744770-C26A-845C-C21C-9AE5256E4A11}"/>
              </a:ext>
            </a:extLst>
          </p:cNvPr>
          <p:cNvSpPr>
            <a:spLocks noGrp="1"/>
          </p:cNvSpPr>
          <p:nvPr>
            <p:ph type="title" hasCustomPrompt="1"/>
          </p:nvPr>
        </p:nvSpPr>
        <p:spPr>
          <a:xfrm>
            <a:off x="447905" y="982056"/>
            <a:ext cx="8255564" cy="997196"/>
          </a:xfrm>
          <a:prstGeom prst="rect">
            <a:avLst/>
          </a:prstGeom>
        </p:spPr>
        <p:txBody>
          <a:bodyPr vert="horz" wrap="square" lIns="0" tIns="0" rIns="0" bIns="0" rtlCol="0" anchor="ctr" anchorCtr="0">
            <a:noAutofit/>
          </a:bodyPr>
          <a:lstStyle>
            <a:lvl1pPr>
              <a:defRPr sz="3600"/>
            </a:lvl1pPr>
          </a:lstStyle>
          <a:p>
            <a:pPr lvl="0"/>
            <a:r>
              <a:rPr lang="en-US" dirty="0"/>
              <a:t>Click to edit Master text styles</a:t>
            </a:r>
            <a:endParaRPr lang="ru-RU" dirty="0"/>
          </a:p>
        </p:txBody>
      </p:sp>
      <p:sp>
        <p:nvSpPr>
          <p:cNvPr id="9" name="Ellipse">
            <a:extLst>
              <a:ext uri="{FF2B5EF4-FFF2-40B4-BE49-F238E27FC236}">
                <a16:creationId xmlns:a16="http://schemas.microsoft.com/office/drawing/2014/main" id="{76700BB2-5F85-C3F1-E883-6C8BC5D81DD4}"/>
              </a:ext>
            </a:extLst>
          </p:cNvPr>
          <p:cNvSpPr/>
          <p:nvPr userDrawn="1"/>
        </p:nvSpPr>
        <p:spPr>
          <a:xfrm>
            <a:off x="440531" y="456068"/>
            <a:ext cx="108000" cy="10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1" name="Ellipse">
            <a:extLst>
              <a:ext uri="{FF2B5EF4-FFF2-40B4-BE49-F238E27FC236}">
                <a16:creationId xmlns:a16="http://schemas.microsoft.com/office/drawing/2014/main" id="{CD99FAAC-7A52-24F8-FAB4-F95340E049E5}"/>
              </a:ext>
            </a:extLst>
          </p:cNvPr>
          <p:cNvSpPr/>
          <p:nvPr userDrawn="1"/>
        </p:nvSpPr>
        <p:spPr>
          <a:xfrm>
            <a:off x="671794" y="456068"/>
            <a:ext cx="108000" cy="108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2" name="Ellipse">
            <a:extLst>
              <a:ext uri="{FF2B5EF4-FFF2-40B4-BE49-F238E27FC236}">
                <a16:creationId xmlns:a16="http://schemas.microsoft.com/office/drawing/2014/main" id="{3506907A-A0F8-6B61-F92C-D92DE99715D7}"/>
              </a:ext>
            </a:extLst>
          </p:cNvPr>
          <p:cNvSpPr/>
          <p:nvPr userDrawn="1"/>
        </p:nvSpPr>
        <p:spPr>
          <a:xfrm>
            <a:off x="903056" y="456068"/>
            <a:ext cx="108000" cy="108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3" name="Footer Placeholder">
            <a:extLst>
              <a:ext uri="{FF2B5EF4-FFF2-40B4-BE49-F238E27FC236}">
                <a16:creationId xmlns:a16="http://schemas.microsoft.com/office/drawing/2014/main" id="{D28EBCA3-BED6-E2A0-36A7-DEE82C693B5A}"/>
              </a:ext>
            </a:extLst>
          </p:cNvPr>
          <p:cNvSpPr>
            <a:spLocks noGrp="1"/>
          </p:cNvSpPr>
          <p:nvPr>
            <p:ph type="body" sz="quarter" idx="22" hasCustomPrompt="1"/>
          </p:nvPr>
        </p:nvSpPr>
        <p:spPr>
          <a:xfrm>
            <a:off x="1134317" y="439953"/>
            <a:ext cx="4752486" cy="891540"/>
          </a:xfrm>
        </p:spPr>
        <p:txBody>
          <a:bodyPr wrap="square" lIns="0" tIns="0" rIns="0" bIns="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975">
                <a:solidFill>
                  <a:schemeClr val="tx1">
                    <a:alpha val="50000"/>
                  </a:schemeClr>
                </a:solidFill>
              </a:defRPr>
            </a:lvl1pPr>
            <a:lvl5pPr marL="1371600" indent="0">
              <a:buNone/>
              <a:defRPr/>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2515948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 Text Boxes T22V1">
    <p:bg>
      <p:bgPr>
        <a:solidFill>
          <a:schemeClr val="bg2"/>
        </a:solidFill>
        <a:effectLst/>
      </p:bgPr>
    </p:bg>
    <p:spTree>
      <p:nvGrpSpPr>
        <p:cNvPr id="1" name=""/>
        <p:cNvGrpSpPr/>
        <p:nvPr/>
      </p:nvGrpSpPr>
      <p:grpSpPr>
        <a:xfrm>
          <a:off x="0" y="0"/>
          <a:ext cx="0" cy="0"/>
          <a:chOff x="0" y="0"/>
          <a:chExt cx="0" cy="0"/>
        </a:xfrm>
      </p:grpSpPr>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440530" y="2119815"/>
            <a:ext cx="2646761" cy="2583732"/>
          </a:xfrm>
          <a:prstGeom prst="roundRect">
            <a:avLst>
              <a:gd name="adj" fmla="val 11927"/>
            </a:avLst>
          </a:prstGeom>
          <a:solidFill>
            <a:srgbClr val="3535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solidFill>
                <a:schemeClr val="bg1"/>
              </a:solidFill>
            </a:endParaRPr>
          </a:p>
        </p:txBody>
      </p:sp>
      <p:sp>
        <p:nvSpPr>
          <p:cNvPr id="34" name="Text Placeholder">
            <a:extLst>
              <a:ext uri="{FF2B5EF4-FFF2-40B4-BE49-F238E27FC236}">
                <a16:creationId xmlns:a16="http://schemas.microsoft.com/office/drawing/2014/main" id="{0D141B0A-352C-6023-D264-7520957DA575}"/>
              </a:ext>
            </a:extLst>
          </p:cNvPr>
          <p:cNvSpPr>
            <a:spLocks noGrp="1"/>
          </p:cNvSpPr>
          <p:nvPr>
            <p:ph type="body" idx="25" hasCustomPrompt="1"/>
          </p:nvPr>
        </p:nvSpPr>
        <p:spPr>
          <a:xfrm>
            <a:off x="440530" y="2652002"/>
            <a:ext cx="2646761" cy="1163780"/>
          </a:xfrm>
        </p:spPr>
        <p:txBody>
          <a:bodyPr lIns="216000" tIns="0" rIns="216000" bIns="0" anchor="b" anchorCtr="0">
            <a:noAutofit/>
          </a:bodyPr>
          <a:lstStyle>
            <a:lvl1pPr marL="0" indent="0" algn="l">
              <a:buNone/>
              <a:defRPr sz="1013">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33" name="Subtitle Placeholder">
            <a:extLst>
              <a:ext uri="{FF2B5EF4-FFF2-40B4-BE49-F238E27FC236}">
                <a16:creationId xmlns:a16="http://schemas.microsoft.com/office/drawing/2014/main" id="{83752713-A816-288F-B1ED-9153BA5CE767}"/>
              </a:ext>
            </a:extLst>
          </p:cNvPr>
          <p:cNvSpPr>
            <a:spLocks noGrp="1"/>
          </p:cNvSpPr>
          <p:nvPr>
            <p:ph type="body" idx="24" hasCustomPrompt="1"/>
          </p:nvPr>
        </p:nvSpPr>
        <p:spPr>
          <a:xfrm>
            <a:off x="440530" y="3834730"/>
            <a:ext cx="2646761" cy="5983200"/>
          </a:xfrm>
        </p:spPr>
        <p:txBody>
          <a:bodyPr wrap="square" lIns="216000" tIns="108000" rIns="216000" bIns="432000" anchor="t" anchorCtr="0">
            <a:spAutoFit/>
          </a:bodyPr>
          <a:lstStyle>
            <a:lvl1pPr marL="0" indent="0" algn="l">
              <a:buNone/>
              <a:defRPr sz="1500" b="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7" name="Овал 6">
            <a:extLst>
              <a:ext uri="{FF2B5EF4-FFF2-40B4-BE49-F238E27FC236}">
                <a16:creationId xmlns:a16="http://schemas.microsoft.com/office/drawing/2014/main" id="{FE4E2D84-7B51-3838-AFB2-D38F229F4EDA}"/>
              </a:ext>
            </a:extLst>
          </p:cNvPr>
          <p:cNvSpPr/>
          <p:nvPr userDrawn="1"/>
        </p:nvSpPr>
        <p:spPr>
          <a:xfrm>
            <a:off x="602531" y="2281815"/>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2" name="Прямоугольник: скругленные углы 1">
            <a:extLst>
              <a:ext uri="{FF2B5EF4-FFF2-40B4-BE49-F238E27FC236}">
                <a16:creationId xmlns:a16="http://schemas.microsoft.com/office/drawing/2014/main" id="{C13FBD91-8212-E33A-A5EF-31D0448D8823}"/>
              </a:ext>
            </a:extLst>
          </p:cNvPr>
          <p:cNvSpPr/>
          <p:nvPr userDrawn="1"/>
        </p:nvSpPr>
        <p:spPr>
          <a:xfrm>
            <a:off x="3249291" y="2118012"/>
            <a:ext cx="2646761" cy="2583732"/>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3" name="Text Placeholder">
            <a:extLst>
              <a:ext uri="{FF2B5EF4-FFF2-40B4-BE49-F238E27FC236}">
                <a16:creationId xmlns:a16="http://schemas.microsoft.com/office/drawing/2014/main" id="{DF736408-7033-3DEF-7582-9C6C1B69B271}"/>
              </a:ext>
            </a:extLst>
          </p:cNvPr>
          <p:cNvSpPr>
            <a:spLocks noGrp="1"/>
          </p:cNvSpPr>
          <p:nvPr>
            <p:ph type="body" idx="26" hasCustomPrompt="1"/>
          </p:nvPr>
        </p:nvSpPr>
        <p:spPr>
          <a:xfrm>
            <a:off x="3249291" y="2650199"/>
            <a:ext cx="2646761" cy="1163780"/>
          </a:xfrm>
        </p:spPr>
        <p:txBody>
          <a:bodyPr lIns="216000" tIns="0" rIns="216000" bIns="0" anchor="b" anchorCtr="0">
            <a:noAutofit/>
          </a:bodyPr>
          <a:lstStyle>
            <a:lvl1pPr marL="0" indent="0" algn="l">
              <a:buNone/>
              <a:defRPr sz="1013">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4" name="Subtitle Placeholder">
            <a:extLst>
              <a:ext uri="{FF2B5EF4-FFF2-40B4-BE49-F238E27FC236}">
                <a16:creationId xmlns:a16="http://schemas.microsoft.com/office/drawing/2014/main" id="{DE994276-5754-DEDB-3904-703B3E9595A4}"/>
              </a:ext>
            </a:extLst>
          </p:cNvPr>
          <p:cNvSpPr>
            <a:spLocks noGrp="1"/>
          </p:cNvSpPr>
          <p:nvPr>
            <p:ph type="body" idx="27" hasCustomPrompt="1"/>
          </p:nvPr>
        </p:nvSpPr>
        <p:spPr>
          <a:xfrm>
            <a:off x="3249291" y="3832927"/>
            <a:ext cx="2646761" cy="5983200"/>
          </a:xfrm>
        </p:spPr>
        <p:txBody>
          <a:bodyPr wrap="square" lIns="216000" tIns="108000" rIns="216000" bIns="432000" anchor="t" anchorCtr="0">
            <a:spAutoFit/>
          </a:bodyPr>
          <a:lstStyle>
            <a:lvl1pPr marL="0" indent="0" algn="l">
              <a:buNone/>
              <a:defRPr sz="1500" b="0">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6" name="Овал 5">
            <a:extLst>
              <a:ext uri="{FF2B5EF4-FFF2-40B4-BE49-F238E27FC236}">
                <a16:creationId xmlns:a16="http://schemas.microsoft.com/office/drawing/2014/main" id="{4DFBC427-6193-5C81-29BC-21AA2B356706}"/>
              </a:ext>
            </a:extLst>
          </p:cNvPr>
          <p:cNvSpPr/>
          <p:nvPr userDrawn="1"/>
        </p:nvSpPr>
        <p:spPr>
          <a:xfrm>
            <a:off x="3411290" y="2280012"/>
            <a:ext cx="324000" cy="32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3" name="Прямоугольник: скругленные углы 12">
            <a:extLst>
              <a:ext uri="{FF2B5EF4-FFF2-40B4-BE49-F238E27FC236}">
                <a16:creationId xmlns:a16="http://schemas.microsoft.com/office/drawing/2014/main" id="{6AD06209-39CC-37A3-0C6C-C61609DA6DD8}"/>
              </a:ext>
            </a:extLst>
          </p:cNvPr>
          <p:cNvSpPr/>
          <p:nvPr userDrawn="1"/>
        </p:nvSpPr>
        <p:spPr>
          <a:xfrm>
            <a:off x="6056710" y="2116413"/>
            <a:ext cx="2646761" cy="2583732"/>
          </a:xfrm>
          <a:prstGeom prst="roundRect">
            <a:avLst>
              <a:gd name="adj" fmla="val 11927"/>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16" name="Text Placeholder">
            <a:extLst>
              <a:ext uri="{FF2B5EF4-FFF2-40B4-BE49-F238E27FC236}">
                <a16:creationId xmlns:a16="http://schemas.microsoft.com/office/drawing/2014/main" id="{EE7DC29C-F151-A18B-F3B0-1A1792DE5AC6}"/>
              </a:ext>
            </a:extLst>
          </p:cNvPr>
          <p:cNvSpPr>
            <a:spLocks noGrp="1"/>
          </p:cNvSpPr>
          <p:nvPr>
            <p:ph type="body" idx="28" hasCustomPrompt="1"/>
          </p:nvPr>
        </p:nvSpPr>
        <p:spPr>
          <a:xfrm>
            <a:off x="6056710" y="2648600"/>
            <a:ext cx="2646761" cy="1163780"/>
          </a:xfrm>
        </p:spPr>
        <p:txBody>
          <a:bodyPr lIns="216000" tIns="0" rIns="216000" bIns="0" anchor="b" anchorCtr="0">
            <a:noAutofit/>
          </a:bodyPr>
          <a:lstStyle>
            <a:lvl1pPr marL="0" indent="0" algn="l">
              <a:buNone/>
              <a:defRPr sz="1013">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19" name="Subtitle Placeholder">
            <a:extLst>
              <a:ext uri="{FF2B5EF4-FFF2-40B4-BE49-F238E27FC236}">
                <a16:creationId xmlns:a16="http://schemas.microsoft.com/office/drawing/2014/main" id="{AE92AA9A-93EA-CE2A-648D-1CC056B73AB2}"/>
              </a:ext>
            </a:extLst>
          </p:cNvPr>
          <p:cNvSpPr>
            <a:spLocks noGrp="1"/>
          </p:cNvSpPr>
          <p:nvPr>
            <p:ph type="body" idx="29" hasCustomPrompt="1"/>
          </p:nvPr>
        </p:nvSpPr>
        <p:spPr>
          <a:xfrm>
            <a:off x="6056710" y="3831328"/>
            <a:ext cx="2646761" cy="5983200"/>
          </a:xfrm>
        </p:spPr>
        <p:txBody>
          <a:bodyPr wrap="square" lIns="216000" tIns="108000" rIns="216000" bIns="432000" anchor="t" anchorCtr="0">
            <a:spAutoFit/>
          </a:bodyPr>
          <a:lstStyle>
            <a:lvl1pPr marL="0" indent="0" algn="l">
              <a:buNone/>
              <a:defRPr sz="1500" b="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21" name="Овал 20">
            <a:extLst>
              <a:ext uri="{FF2B5EF4-FFF2-40B4-BE49-F238E27FC236}">
                <a16:creationId xmlns:a16="http://schemas.microsoft.com/office/drawing/2014/main" id="{F3AD9F34-D268-D14A-C152-DC35C48E21C8}"/>
              </a:ext>
            </a:extLst>
          </p:cNvPr>
          <p:cNvSpPr/>
          <p:nvPr userDrawn="1"/>
        </p:nvSpPr>
        <p:spPr>
          <a:xfrm>
            <a:off x="6218400" y="2278413"/>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pic>
        <p:nvPicPr>
          <p:cNvPr id="25" name="Рисунок 24" descr="Стрелка вниз со сплошной заливкой">
            <a:extLst>
              <a:ext uri="{FF2B5EF4-FFF2-40B4-BE49-F238E27FC236}">
                <a16:creationId xmlns:a16="http://schemas.microsoft.com/office/drawing/2014/main" id="{6F581CF0-275C-70E6-802E-5A891316B841}"/>
              </a:ext>
            </a:extLst>
          </p:cNvPr>
          <p:cNvPicPr>
            <a:picLocks noChangeAspect="1"/>
          </p:cNvPicPr>
          <p:nvPr userDrawn="1"/>
        </p:nvPicPr>
        <p:blipFill>
          <a:blip>
            <a:extLst>
              <a:ext uri="{96DAC541-7B7A-43D3-8B79-37D633B846F1}">
                <asvg:svgBlip xmlns:asvg="http://schemas.microsoft.com/office/drawing/2016/SVG/main" r:embed="rId2"/>
              </a:ext>
            </a:extLst>
          </a:blip>
          <a:srcRect t="54542" b="3102"/>
          <a:stretch>
            <a:fillRect/>
          </a:stretch>
        </p:blipFill>
        <p:spPr>
          <a:xfrm rot="18900000">
            <a:off x="6169568" y="2351112"/>
            <a:ext cx="421666" cy="178603"/>
          </a:xfrm>
          <a:prstGeom prst="rect">
            <a:avLst/>
          </a:prstGeom>
        </p:spPr>
      </p:pic>
      <p:pic>
        <p:nvPicPr>
          <p:cNvPr id="26" name="Рисунок 25" descr="Стрелка вниз со сплошной заливкой">
            <a:extLst>
              <a:ext uri="{FF2B5EF4-FFF2-40B4-BE49-F238E27FC236}">
                <a16:creationId xmlns:a16="http://schemas.microsoft.com/office/drawing/2014/main" id="{05571278-ACEE-FE8E-C3A5-11EA108413D6}"/>
              </a:ext>
            </a:extLst>
          </p:cNvPr>
          <p:cNvPicPr>
            <a:picLocks noChangeAspect="1"/>
          </p:cNvPicPr>
          <p:nvPr userDrawn="1"/>
        </p:nvPicPr>
        <p:blipFill>
          <a:blip>
            <a:extLst>
              <a:ext uri="{96DAC541-7B7A-43D3-8B79-37D633B846F1}">
                <asvg:svgBlip xmlns:asvg="http://schemas.microsoft.com/office/drawing/2016/SVG/main" r:embed="rId3"/>
              </a:ext>
            </a:extLst>
          </a:blip>
          <a:srcRect t="54542" b="3102"/>
          <a:stretch>
            <a:fillRect/>
          </a:stretch>
        </p:blipFill>
        <p:spPr>
          <a:xfrm rot="18900000">
            <a:off x="3362458" y="2352711"/>
            <a:ext cx="421666" cy="178603"/>
          </a:xfrm>
          <a:prstGeom prst="rect">
            <a:avLst/>
          </a:prstGeom>
        </p:spPr>
      </p:pic>
      <p:pic>
        <p:nvPicPr>
          <p:cNvPr id="27" name="Рисунок 26" descr="Стрелка вниз со сплошной заливкой">
            <a:extLst>
              <a:ext uri="{FF2B5EF4-FFF2-40B4-BE49-F238E27FC236}">
                <a16:creationId xmlns:a16="http://schemas.microsoft.com/office/drawing/2014/main" id="{6A012EAF-0A89-01C6-11A7-77BC029D5830}"/>
              </a:ext>
            </a:extLst>
          </p:cNvPr>
          <p:cNvPicPr>
            <a:picLocks noChangeAspect="1"/>
          </p:cNvPicPr>
          <p:nvPr userDrawn="1"/>
        </p:nvPicPr>
        <p:blipFill>
          <a:blip>
            <a:extLst>
              <a:ext uri="{96DAC541-7B7A-43D3-8B79-37D633B846F1}">
                <asvg:svgBlip xmlns:asvg="http://schemas.microsoft.com/office/drawing/2016/SVG/main" r:embed="rId4"/>
              </a:ext>
            </a:extLst>
          </a:blip>
          <a:srcRect t="54542" b="3102"/>
          <a:stretch>
            <a:fillRect/>
          </a:stretch>
        </p:blipFill>
        <p:spPr>
          <a:xfrm rot="18900000">
            <a:off x="555825" y="2358607"/>
            <a:ext cx="421666" cy="178603"/>
          </a:xfrm>
          <a:prstGeom prst="rect">
            <a:avLst/>
          </a:prstGeom>
        </p:spPr>
      </p:pic>
      <p:sp>
        <p:nvSpPr>
          <p:cNvPr id="5" name="Заголовок 1">
            <a:extLst>
              <a:ext uri="{FF2B5EF4-FFF2-40B4-BE49-F238E27FC236}">
                <a16:creationId xmlns:a16="http://schemas.microsoft.com/office/drawing/2014/main" id="{7C98F59F-A6C9-2B50-6862-5346466525A4}"/>
              </a:ext>
            </a:extLst>
          </p:cNvPr>
          <p:cNvSpPr>
            <a:spLocks noGrp="1"/>
          </p:cNvSpPr>
          <p:nvPr>
            <p:ph type="title" hasCustomPrompt="1"/>
          </p:nvPr>
        </p:nvSpPr>
        <p:spPr>
          <a:xfrm>
            <a:off x="447906" y="982056"/>
            <a:ext cx="5448146" cy="997196"/>
          </a:xfrm>
          <a:prstGeom prst="rect">
            <a:avLst/>
          </a:prstGeom>
        </p:spPr>
        <p:txBody>
          <a:bodyPr vert="horz" wrap="square" lIns="0" tIns="0" rIns="0" bIns="0" rtlCol="0" anchor="ctr" anchorCtr="0">
            <a:noAutofit/>
          </a:bodyPr>
          <a:lstStyle>
            <a:lvl1pPr>
              <a:defRPr sz="3600"/>
            </a:lvl1pPr>
          </a:lstStyle>
          <a:p>
            <a:pPr lvl="0"/>
            <a:r>
              <a:rPr lang="en-US" dirty="0"/>
              <a:t>Click to edit Master text styles</a:t>
            </a:r>
            <a:endParaRPr lang="ru-RU" dirty="0"/>
          </a:p>
        </p:txBody>
      </p:sp>
      <p:sp>
        <p:nvSpPr>
          <p:cNvPr id="8" name="Ellipse">
            <a:extLst>
              <a:ext uri="{FF2B5EF4-FFF2-40B4-BE49-F238E27FC236}">
                <a16:creationId xmlns:a16="http://schemas.microsoft.com/office/drawing/2014/main" id="{02FABE68-D98C-B865-1E4E-339575F280A4}"/>
              </a:ext>
            </a:extLst>
          </p:cNvPr>
          <p:cNvSpPr/>
          <p:nvPr userDrawn="1"/>
        </p:nvSpPr>
        <p:spPr>
          <a:xfrm>
            <a:off x="440531" y="456068"/>
            <a:ext cx="108000" cy="10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9" name="Ellipse">
            <a:extLst>
              <a:ext uri="{FF2B5EF4-FFF2-40B4-BE49-F238E27FC236}">
                <a16:creationId xmlns:a16="http://schemas.microsoft.com/office/drawing/2014/main" id="{0A0EB275-2511-BE54-B124-BB08057C5C3B}"/>
              </a:ext>
            </a:extLst>
          </p:cNvPr>
          <p:cNvSpPr/>
          <p:nvPr userDrawn="1"/>
        </p:nvSpPr>
        <p:spPr>
          <a:xfrm>
            <a:off x="671794" y="456068"/>
            <a:ext cx="108000" cy="108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0" name="Ellipse">
            <a:extLst>
              <a:ext uri="{FF2B5EF4-FFF2-40B4-BE49-F238E27FC236}">
                <a16:creationId xmlns:a16="http://schemas.microsoft.com/office/drawing/2014/main" id="{5A5F67B1-BD39-8C45-D33B-9E3AE3AFFF4C}"/>
              </a:ext>
            </a:extLst>
          </p:cNvPr>
          <p:cNvSpPr/>
          <p:nvPr userDrawn="1"/>
        </p:nvSpPr>
        <p:spPr>
          <a:xfrm>
            <a:off x="903056" y="456068"/>
            <a:ext cx="108000" cy="108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1" name="Footer Placeholder">
            <a:extLst>
              <a:ext uri="{FF2B5EF4-FFF2-40B4-BE49-F238E27FC236}">
                <a16:creationId xmlns:a16="http://schemas.microsoft.com/office/drawing/2014/main" id="{AB80DB90-F401-A090-2022-8CC8A7F596A2}"/>
              </a:ext>
            </a:extLst>
          </p:cNvPr>
          <p:cNvSpPr>
            <a:spLocks noGrp="1"/>
          </p:cNvSpPr>
          <p:nvPr>
            <p:ph type="body" sz="quarter" idx="22" hasCustomPrompt="1"/>
          </p:nvPr>
        </p:nvSpPr>
        <p:spPr>
          <a:xfrm>
            <a:off x="1134317" y="439953"/>
            <a:ext cx="4752486" cy="891540"/>
          </a:xfrm>
        </p:spPr>
        <p:txBody>
          <a:bodyPr wrap="square" lIns="0" tIns="0" rIns="0" bIns="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975">
                <a:solidFill>
                  <a:schemeClr val="tx1">
                    <a:alpha val="50000"/>
                  </a:schemeClr>
                </a:solidFill>
              </a:defRPr>
            </a:lvl1pPr>
            <a:lvl5pPr marL="1371600" indent="0">
              <a:buNone/>
              <a:defRPr/>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3595806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meline I60V7">
    <p:bg>
      <p:bgPr>
        <a:solidFill>
          <a:schemeClr val="tx1"/>
        </a:solidFill>
        <a:effectLst/>
      </p:bgPr>
    </p:bg>
    <p:spTree>
      <p:nvGrpSpPr>
        <p:cNvPr id="1" name=""/>
        <p:cNvGrpSpPr/>
        <p:nvPr/>
      </p:nvGrpSpPr>
      <p:grpSpPr>
        <a:xfrm>
          <a:off x="0" y="0"/>
          <a:ext cx="0" cy="0"/>
          <a:chOff x="0" y="0"/>
          <a:chExt cx="0" cy="0"/>
        </a:xfrm>
      </p:grpSpPr>
      <p:sp>
        <p:nvSpPr>
          <p:cNvPr id="2" name="Ellipse">
            <a:extLst>
              <a:ext uri="{FF2B5EF4-FFF2-40B4-BE49-F238E27FC236}">
                <a16:creationId xmlns:a16="http://schemas.microsoft.com/office/drawing/2014/main" id="{AE85A5F7-028F-93C3-6D55-5544C7088A7E}"/>
              </a:ext>
            </a:extLst>
          </p:cNvPr>
          <p:cNvSpPr/>
          <p:nvPr userDrawn="1"/>
        </p:nvSpPr>
        <p:spPr>
          <a:xfrm>
            <a:off x="440531" y="456068"/>
            <a:ext cx="108000" cy="10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4" name="Ellipse">
            <a:extLst>
              <a:ext uri="{FF2B5EF4-FFF2-40B4-BE49-F238E27FC236}">
                <a16:creationId xmlns:a16="http://schemas.microsoft.com/office/drawing/2014/main" id="{10873EBE-2CFD-357E-08F1-BF409568B08A}"/>
              </a:ext>
            </a:extLst>
          </p:cNvPr>
          <p:cNvSpPr/>
          <p:nvPr userDrawn="1"/>
        </p:nvSpPr>
        <p:spPr>
          <a:xfrm>
            <a:off x="671794" y="456068"/>
            <a:ext cx="108000" cy="108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7" name="Ellipse">
            <a:extLst>
              <a:ext uri="{FF2B5EF4-FFF2-40B4-BE49-F238E27FC236}">
                <a16:creationId xmlns:a16="http://schemas.microsoft.com/office/drawing/2014/main" id="{E68797C1-30E3-D941-C424-A205453E9231}"/>
              </a:ext>
            </a:extLst>
          </p:cNvPr>
          <p:cNvSpPr/>
          <p:nvPr userDrawn="1"/>
        </p:nvSpPr>
        <p:spPr>
          <a:xfrm>
            <a:off x="903056" y="456068"/>
            <a:ext cx="108000" cy="108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4" name="Заголовок 1">
            <a:extLst>
              <a:ext uri="{FF2B5EF4-FFF2-40B4-BE49-F238E27FC236}">
                <a16:creationId xmlns:a16="http://schemas.microsoft.com/office/drawing/2014/main" id="{E6F50F26-D7D1-DA7A-F472-BA66BCDB6AA0}"/>
              </a:ext>
            </a:extLst>
          </p:cNvPr>
          <p:cNvSpPr>
            <a:spLocks noGrp="1"/>
          </p:cNvSpPr>
          <p:nvPr>
            <p:ph type="title" hasCustomPrompt="1"/>
          </p:nvPr>
        </p:nvSpPr>
        <p:spPr>
          <a:xfrm>
            <a:off x="447906" y="982056"/>
            <a:ext cx="8255564" cy="498598"/>
          </a:xfrm>
          <a:prstGeom prst="rect">
            <a:avLst/>
          </a:prstGeom>
        </p:spPr>
        <p:txBody>
          <a:bodyPr vert="horz" wrap="square" lIns="0" tIns="0" rIns="0" bIns="0" rtlCol="0" anchor="t" anchorCtr="0">
            <a:noAutofit/>
          </a:bodyPr>
          <a:lstStyle>
            <a:lvl1pPr>
              <a:defRPr sz="3600">
                <a:solidFill>
                  <a:schemeClr val="bg1"/>
                </a:solidFill>
              </a:defRPr>
            </a:lvl1pPr>
          </a:lstStyle>
          <a:p>
            <a:pPr lvl="0"/>
            <a:r>
              <a:rPr lang="en-US" dirty="0"/>
              <a:t>Click to edit Master text styles</a:t>
            </a:r>
            <a:endParaRPr lang="ru-RU" dirty="0"/>
          </a:p>
        </p:txBody>
      </p:sp>
      <p:sp>
        <p:nvSpPr>
          <p:cNvPr id="9" name="Прямоугольник: скругленные углы 8">
            <a:extLst>
              <a:ext uri="{FF2B5EF4-FFF2-40B4-BE49-F238E27FC236}">
                <a16:creationId xmlns:a16="http://schemas.microsoft.com/office/drawing/2014/main" id="{C18ECC8F-5B9A-613E-FB81-453725544AC0}"/>
              </a:ext>
            </a:extLst>
          </p:cNvPr>
          <p:cNvSpPr/>
          <p:nvPr userDrawn="1"/>
        </p:nvSpPr>
        <p:spPr>
          <a:xfrm>
            <a:off x="440531" y="2410413"/>
            <a:ext cx="1512000" cy="2294937"/>
          </a:xfrm>
          <a:prstGeom prst="roundRect">
            <a:avLst>
              <a:gd name="adj" fmla="val 1436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solidFill>
                <a:schemeClr val="bg1"/>
              </a:solidFill>
            </a:endParaRPr>
          </a:p>
        </p:txBody>
      </p:sp>
      <p:sp>
        <p:nvSpPr>
          <p:cNvPr id="15" name="Прямоугольник: скругленные углы 14">
            <a:extLst>
              <a:ext uri="{FF2B5EF4-FFF2-40B4-BE49-F238E27FC236}">
                <a16:creationId xmlns:a16="http://schemas.microsoft.com/office/drawing/2014/main" id="{9A35D81C-D43C-D288-2A4A-F2A3C5BAE49C}"/>
              </a:ext>
            </a:extLst>
          </p:cNvPr>
          <p:cNvSpPr/>
          <p:nvPr userDrawn="1"/>
        </p:nvSpPr>
        <p:spPr>
          <a:xfrm>
            <a:off x="2129837" y="2410402"/>
            <a:ext cx="1512000" cy="2294735"/>
          </a:xfrm>
          <a:prstGeom prst="roundRect">
            <a:avLst>
              <a:gd name="adj" fmla="val 1436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20" name="Прямоугольник: скругленные углы 19">
            <a:extLst>
              <a:ext uri="{FF2B5EF4-FFF2-40B4-BE49-F238E27FC236}">
                <a16:creationId xmlns:a16="http://schemas.microsoft.com/office/drawing/2014/main" id="{9ADFDD86-F909-9F6A-9945-029297AC7FFE}"/>
              </a:ext>
            </a:extLst>
          </p:cNvPr>
          <p:cNvSpPr/>
          <p:nvPr userDrawn="1"/>
        </p:nvSpPr>
        <p:spPr>
          <a:xfrm>
            <a:off x="3819143" y="2410402"/>
            <a:ext cx="1512000" cy="2294735"/>
          </a:xfrm>
          <a:prstGeom prst="roundRect">
            <a:avLst>
              <a:gd name="adj" fmla="val 15171"/>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22" name="Прямоугольник: скругленные углы 21">
            <a:extLst>
              <a:ext uri="{FF2B5EF4-FFF2-40B4-BE49-F238E27FC236}">
                <a16:creationId xmlns:a16="http://schemas.microsoft.com/office/drawing/2014/main" id="{7019AD19-3942-3F72-475D-6BC8E72D4ECA}"/>
              </a:ext>
            </a:extLst>
          </p:cNvPr>
          <p:cNvSpPr/>
          <p:nvPr userDrawn="1"/>
        </p:nvSpPr>
        <p:spPr>
          <a:xfrm>
            <a:off x="5508449" y="2410402"/>
            <a:ext cx="1512000" cy="2294735"/>
          </a:xfrm>
          <a:prstGeom prst="roundRect">
            <a:avLst>
              <a:gd name="adj" fmla="val 15171"/>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23" name="Прямоугольник: скругленные углы 22">
            <a:extLst>
              <a:ext uri="{FF2B5EF4-FFF2-40B4-BE49-F238E27FC236}">
                <a16:creationId xmlns:a16="http://schemas.microsoft.com/office/drawing/2014/main" id="{BAA048EB-CE1D-5811-500E-1FAFB26C0976}"/>
              </a:ext>
            </a:extLst>
          </p:cNvPr>
          <p:cNvSpPr/>
          <p:nvPr userDrawn="1"/>
        </p:nvSpPr>
        <p:spPr>
          <a:xfrm>
            <a:off x="440531" y="1706870"/>
            <a:ext cx="1512000" cy="5400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solidFill>
                <a:schemeClr val="accent2"/>
              </a:solidFill>
            </a:endParaRPr>
          </a:p>
        </p:txBody>
      </p:sp>
      <p:sp>
        <p:nvSpPr>
          <p:cNvPr id="24" name="Milestone Placeholder">
            <a:extLst>
              <a:ext uri="{FF2B5EF4-FFF2-40B4-BE49-F238E27FC236}">
                <a16:creationId xmlns:a16="http://schemas.microsoft.com/office/drawing/2014/main" id="{047DD450-E285-328A-CDC4-E1B582724709}"/>
              </a:ext>
            </a:extLst>
          </p:cNvPr>
          <p:cNvSpPr>
            <a:spLocks noGrp="1"/>
          </p:cNvSpPr>
          <p:nvPr>
            <p:ph type="body" idx="35" hasCustomPrompt="1"/>
          </p:nvPr>
        </p:nvSpPr>
        <p:spPr>
          <a:xfrm>
            <a:off x="476274" y="1746038"/>
            <a:ext cx="1440513" cy="461665"/>
          </a:xfrm>
        </p:spPr>
        <p:txBody>
          <a:bodyPr lIns="216000" tIns="0" rIns="216000" bIns="0" anchor="ctr" anchorCtr="0">
            <a:noAutofit/>
          </a:bodyPr>
          <a:lstStyle>
            <a:lvl1pPr marL="0" indent="0" algn="ctr">
              <a:buNone/>
              <a:defRPr sz="1425">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a:t>
            </a:r>
          </a:p>
        </p:txBody>
      </p:sp>
      <p:sp>
        <p:nvSpPr>
          <p:cNvPr id="27" name="Прямоугольник: скругленные углы 26">
            <a:extLst>
              <a:ext uri="{FF2B5EF4-FFF2-40B4-BE49-F238E27FC236}">
                <a16:creationId xmlns:a16="http://schemas.microsoft.com/office/drawing/2014/main" id="{88C5D456-CAF4-BFD5-8952-D75FA2996283}"/>
              </a:ext>
            </a:extLst>
          </p:cNvPr>
          <p:cNvSpPr/>
          <p:nvPr userDrawn="1"/>
        </p:nvSpPr>
        <p:spPr>
          <a:xfrm>
            <a:off x="2129837" y="1706870"/>
            <a:ext cx="1512000" cy="5400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solidFill>
                <a:schemeClr val="bg1"/>
              </a:solidFill>
            </a:endParaRPr>
          </a:p>
        </p:txBody>
      </p:sp>
      <p:sp>
        <p:nvSpPr>
          <p:cNvPr id="31" name="Text Placeholder">
            <a:extLst>
              <a:ext uri="{FF2B5EF4-FFF2-40B4-BE49-F238E27FC236}">
                <a16:creationId xmlns:a16="http://schemas.microsoft.com/office/drawing/2014/main" id="{25298523-0B58-D56C-ED17-A30DE34E654D}"/>
              </a:ext>
            </a:extLst>
          </p:cNvPr>
          <p:cNvSpPr>
            <a:spLocks noGrp="1"/>
          </p:cNvSpPr>
          <p:nvPr>
            <p:ph type="body" idx="36" hasCustomPrompt="1"/>
          </p:nvPr>
        </p:nvSpPr>
        <p:spPr>
          <a:xfrm>
            <a:off x="2129837" y="2449570"/>
            <a:ext cx="1512000" cy="1255500"/>
          </a:xfrm>
        </p:spPr>
        <p:txBody>
          <a:bodyPr lIns="216000" tIns="216000" rIns="216000" bIns="0" anchor="b" anchorCtr="0">
            <a:noAutofit/>
          </a:bodyPr>
          <a:lstStyle>
            <a:lvl1pPr marL="0" indent="0" algn="l">
              <a:buNone/>
              <a:defRPr sz="1013">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34" name="Subtitle Placeholder">
            <a:extLst>
              <a:ext uri="{FF2B5EF4-FFF2-40B4-BE49-F238E27FC236}">
                <a16:creationId xmlns:a16="http://schemas.microsoft.com/office/drawing/2014/main" id="{85390B44-1578-1401-FB81-92EA5B49C485}"/>
              </a:ext>
            </a:extLst>
          </p:cNvPr>
          <p:cNvSpPr>
            <a:spLocks noGrp="1"/>
          </p:cNvSpPr>
          <p:nvPr>
            <p:ph type="body" idx="37" hasCustomPrompt="1"/>
          </p:nvPr>
        </p:nvSpPr>
        <p:spPr>
          <a:xfrm>
            <a:off x="2129837" y="3712952"/>
            <a:ext cx="1512000" cy="993600"/>
          </a:xfrm>
        </p:spPr>
        <p:txBody>
          <a:bodyPr wrap="square" lIns="216000" tIns="108000" rIns="216000" bIns="288000" anchor="t" anchorCtr="0">
            <a:noAutofit/>
          </a:bodyPr>
          <a:lstStyle>
            <a:lvl1pPr marL="0" indent="0" algn="l">
              <a:buNone/>
              <a:defRPr sz="1500" b="0">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35" name="Прямоугольник: скругленные углы 34">
            <a:extLst>
              <a:ext uri="{FF2B5EF4-FFF2-40B4-BE49-F238E27FC236}">
                <a16:creationId xmlns:a16="http://schemas.microsoft.com/office/drawing/2014/main" id="{331A100F-9DE7-665E-E97B-6C71B0DADD8A}"/>
              </a:ext>
            </a:extLst>
          </p:cNvPr>
          <p:cNvSpPr/>
          <p:nvPr userDrawn="1"/>
        </p:nvSpPr>
        <p:spPr>
          <a:xfrm>
            <a:off x="3819143" y="1706870"/>
            <a:ext cx="1512000" cy="5400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solidFill>
                <a:schemeClr val="bg1"/>
              </a:solidFill>
            </a:endParaRPr>
          </a:p>
        </p:txBody>
      </p:sp>
      <p:sp>
        <p:nvSpPr>
          <p:cNvPr id="36" name="Text Placeholder">
            <a:extLst>
              <a:ext uri="{FF2B5EF4-FFF2-40B4-BE49-F238E27FC236}">
                <a16:creationId xmlns:a16="http://schemas.microsoft.com/office/drawing/2014/main" id="{66D821D2-DDF3-A109-68BB-A245F1118DDB}"/>
              </a:ext>
            </a:extLst>
          </p:cNvPr>
          <p:cNvSpPr>
            <a:spLocks noGrp="1"/>
          </p:cNvSpPr>
          <p:nvPr>
            <p:ph type="body" idx="39" hasCustomPrompt="1"/>
          </p:nvPr>
        </p:nvSpPr>
        <p:spPr>
          <a:xfrm>
            <a:off x="3819143" y="2449570"/>
            <a:ext cx="1512000" cy="1255500"/>
          </a:xfrm>
        </p:spPr>
        <p:txBody>
          <a:bodyPr lIns="216000" tIns="216000" rIns="216000" bIns="0" anchor="b" anchorCtr="0">
            <a:noAutofit/>
          </a:bodyPr>
          <a:lstStyle>
            <a:lvl1pPr marL="0" indent="0" algn="l">
              <a:buNone/>
              <a:defRPr sz="1013">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37" name="Subtitle Placeholder">
            <a:extLst>
              <a:ext uri="{FF2B5EF4-FFF2-40B4-BE49-F238E27FC236}">
                <a16:creationId xmlns:a16="http://schemas.microsoft.com/office/drawing/2014/main" id="{68A2F60F-4834-8BFD-D168-6C050B3CCE80}"/>
              </a:ext>
            </a:extLst>
          </p:cNvPr>
          <p:cNvSpPr>
            <a:spLocks noGrp="1"/>
          </p:cNvSpPr>
          <p:nvPr>
            <p:ph type="body" idx="40" hasCustomPrompt="1"/>
          </p:nvPr>
        </p:nvSpPr>
        <p:spPr>
          <a:xfrm>
            <a:off x="3819143" y="3712952"/>
            <a:ext cx="1512000" cy="993600"/>
          </a:xfrm>
        </p:spPr>
        <p:txBody>
          <a:bodyPr wrap="square" lIns="216000" tIns="108000" rIns="216000" bIns="288000" anchor="t" anchorCtr="0">
            <a:noAutofit/>
          </a:bodyPr>
          <a:lstStyle>
            <a:lvl1pPr marL="0" indent="0" algn="l">
              <a:buNone/>
              <a:defRPr sz="1500" b="0">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cxnSp>
        <p:nvCxnSpPr>
          <p:cNvPr id="38" name="Прямая соединительная линия 37">
            <a:extLst>
              <a:ext uri="{FF2B5EF4-FFF2-40B4-BE49-F238E27FC236}">
                <a16:creationId xmlns:a16="http://schemas.microsoft.com/office/drawing/2014/main" id="{388155CE-94D5-CC1A-D9D5-3604DB7AB52C}"/>
              </a:ext>
            </a:extLst>
          </p:cNvPr>
          <p:cNvCxnSpPr>
            <a:cxnSpLocks/>
          </p:cNvCxnSpPr>
          <p:nvPr userDrawn="1"/>
        </p:nvCxnSpPr>
        <p:spPr>
          <a:xfrm flipV="1">
            <a:off x="1960184" y="1976871"/>
            <a:ext cx="162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cxnSp>
        <p:nvCxnSpPr>
          <p:cNvPr id="42" name="Прямая соединительная линия 41">
            <a:extLst>
              <a:ext uri="{FF2B5EF4-FFF2-40B4-BE49-F238E27FC236}">
                <a16:creationId xmlns:a16="http://schemas.microsoft.com/office/drawing/2014/main" id="{54727071-2789-3FA6-BC59-EFACD4ECE169}"/>
              </a:ext>
            </a:extLst>
          </p:cNvPr>
          <p:cNvCxnSpPr>
            <a:cxnSpLocks/>
          </p:cNvCxnSpPr>
          <p:nvPr userDrawn="1"/>
        </p:nvCxnSpPr>
        <p:spPr>
          <a:xfrm flipV="1">
            <a:off x="3649490" y="1976871"/>
            <a:ext cx="162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cxnSp>
        <p:nvCxnSpPr>
          <p:cNvPr id="46" name="Прямая соединительная линия 45">
            <a:extLst>
              <a:ext uri="{FF2B5EF4-FFF2-40B4-BE49-F238E27FC236}">
                <a16:creationId xmlns:a16="http://schemas.microsoft.com/office/drawing/2014/main" id="{D677E2F5-F7FA-9849-2C97-80F7B042A9C6}"/>
              </a:ext>
            </a:extLst>
          </p:cNvPr>
          <p:cNvCxnSpPr>
            <a:cxnSpLocks/>
          </p:cNvCxnSpPr>
          <p:nvPr userDrawn="1"/>
        </p:nvCxnSpPr>
        <p:spPr>
          <a:xfrm flipV="1">
            <a:off x="8717405" y="1976871"/>
            <a:ext cx="162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52" name="Text Placeholder">
            <a:extLst>
              <a:ext uri="{FF2B5EF4-FFF2-40B4-BE49-F238E27FC236}">
                <a16:creationId xmlns:a16="http://schemas.microsoft.com/office/drawing/2014/main" id="{BE8DE4E5-51AE-90F3-EC99-A6E539EECEEA}"/>
              </a:ext>
            </a:extLst>
          </p:cNvPr>
          <p:cNvSpPr>
            <a:spLocks noGrp="1"/>
          </p:cNvSpPr>
          <p:nvPr>
            <p:ph type="body" idx="42" hasCustomPrompt="1"/>
          </p:nvPr>
        </p:nvSpPr>
        <p:spPr>
          <a:xfrm>
            <a:off x="440531" y="2449570"/>
            <a:ext cx="1512000" cy="1255500"/>
          </a:xfrm>
        </p:spPr>
        <p:txBody>
          <a:bodyPr lIns="216000" tIns="216000" rIns="216000" bIns="0" anchor="b" anchorCtr="0">
            <a:noAutofit/>
          </a:bodyPr>
          <a:lstStyle>
            <a:lvl1pPr marL="0" indent="0" algn="l">
              <a:buNone/>
              <a:defRPr sz="1013">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53" name="Subtitle Placeholder">
            <a:extLst>
              <a:ext uri="{FF2B5EF4-FFF2-40B4-BE49-F238E27FC236}">
                <a16:creationId xmlns:a16="http://schemas.microsoft.com/office/drawing/2014/main" id="{B6F59084-8963-FE15-E54E-C00F8FB091BD}"/>
              </a:ext>
            </a:extLst>
          </p:cNvPr>
          <p:cNvSpPr>
            <a:spLocks noGrp="1"/>
          </p:cNvSpPr>
          <p:nvPr>
            <p:ph type="body" idx="43" hasCustomPrompt="1"/>
          </p:nvPr>
        </p:nvSpPr>
        <p:spPr>
          <a:xfrm>
            <a:off x="440531" y="3712952"/>
            <a:ext cx="1512000" cy="993600"/>
          </a:xfrm>
        </p:spPr>
        <p:txBody>
          <a:bodyPr wrap="square" lIns="216000" tIns="108000" rIns="216000" bIns="288000" anchor="t" anchorCtr="0">
            <a:noAutofit/>
          </a:bodyPr>
          <a:lstStyle>
            <a:lvl1pPr marL="0" indent="0" algn="l">
              <a:buNone/>
              <a:defRPr sz="1500" b="0">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54" name="Text Placeholder">
            <a:extLst>
              <a:ext uri="{FF2B5EF4-FFF2-40B4-BE49-F238E27FC236}">
                <a16:creationId xmlns:a16="http://schemas.microsoft.com/office/drawing/2014/main" id="{98C82415-AD65-D650-04B8-7BE1BCF9845C}"/>
              </a:ext>
            </a:extLst>
          </p:cNvPr>
          <p:cNvSpPr>
            <a:spLocks noGrp="1"/>
          </p:cNvSpPr>
          <p:nvPr>
            <p:ph type="body" idx="44" hasCustomPrompt="1"/>
          </p:nvPr>
        </p:nvSpPr>
        <p:spPr>
          <a:xfrm>
            <a:off x="5508449" y="2449570"/>
            <a:ext cx="1512000" cy="1255500"/>
          </a:xfrm>
        </p:spPr>
        <p:txBody>
          <a:bodyPr lIns="216000" tIns="216000" rIns="216000" bIns="0" anchor="b" anchorCtr="0">
            <a:noAutofit/>
          </a:bodyPr>
          <a:lstStyle>
            <a:lvl1pPr marL="0" indent="0" algn="l">
              <a:buNone/>
              <a:defRPr sz="1013">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55" name="Subtitle Placeholder">
            <a:extLst>
              <a:ext uri="{FF2B5EF4-FFF2-40B4-BE49-F238E27FC236}">
                <a16:creationId xmlns:a16="http://schemas.microsoft.com/office/drawing/2014/main" id="{CB9E83AF-9834-4B55-9D22-7BBF5669732D}"/>
              </a:ext>
            </a:extLst>
          </p:cNvPr>
          <p:cNvSpPr>
            <a:spLocks noGrp="1"/>
          </p:cNvSpPr>
          <p:nvPr>
            <p:ph type="body" idx="45" hasCustomPrompt="1"/>
          </p:nvPr>
        </p:nvSpPr>
        <p:spPr>
          <a:xfrm>
            <a:off x="5508449" y="3712953"/>
            <a:ext cx="1512000" cy="992398"/>
          </a:xfrm>
        </p:spPr>
        <p:txBody>
          <a:bodyPr wrap="square" lIns="216000" tIns="108000" rIns="216000" bIns="288000" anchor="t" anchorCtr="0">
            <a:noAutofit/>
          </a:bodyPr>
          <a:lstStyle>
            <a:lvl1pPr marL="0" indent="0" algn="l">
              <a:buNone/>
              <a:defRPr sz="1500" b="0">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56" name="Прямоугольник: скругленные углы 55">
            <a:extLst>
              <a:ext uri="{FF2B5EF4-FFF2-40B4-BE49-F238E27FC236}">
                <a16:creationId xmlns:a16="http://schemas.microsoft.com/office/drawing/2014/main" id="{065CE1F3-7EBC-C22F-8633-8406DF2DA7D1}"/>
              </a:ext>
            </a:extLst>
          </p:cNvPr>
          <p:cNvSpPr/>
          <p:nvPr userDrawn="1"/>
        </p:nvSpPr>
        <p:spPr>
          <a:xfrm>
            <a:off x="5508449" y="1706870"/>
            <a:ext cx="1512000" cy="5400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solidFill>
                <a:schemeClr val="bg1"/>
              </a:solidFill>
            </a:endParaRPr>
          </a:p>
        </p:txBody>
      </p:sp>
      <p:cxnSp>
        <p:nvCxnSpPr>
          <p:cNvPr id="57" name="Прямая соединительная линия 56">
            <a:extLst>
              <a:ext uri="{FF2B5EF4-FFF2-40B4-BE49-F238E27FC236}">
                <a16:creationId xmlns:a16="http://schemas.microsoft.com/office/drawing/2014/main" id="{D9C08971-400B-3414-5B62-A71FC37116C6}"/>
              </a:ext>
            </a:extLst>
          </p:cNvPr>
          <p:cNvCxnSpPr>
            <a:cxnSpLocks/>
          </p:cNvCxnSpPr>
          <p:nvPr userDrawn="1"/>
        </p:nvCxnSpPr>
        <p:spPr>
          <a:xfrm flipV="1">
            <a:off x="5338796" y="1976871"/>
            <a:ext cx="162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58" name="Прямоугольник: скругленные углы 57">
            <a:extLst>
              <a:ext uri="{FF2B5EF4-FFF2-40B4-BE49-F238E27FC236}">
                <a16:creationId xmlns:a16="http://schemas.microsoft.com/office/drawing/2014/main" id="{45D32B9F-D0B6-72D0-5BC7-3D18F66A28DA}"/>
              </a:ext>
            </a:extLst>
          </p:cNvPr>
          <p:cNvSpPr/>
          <p:nvPr userDrawn="1"/>
        </p:nvSpPr>
        <p:spPr>
          <a:xfrm>
            <a:off x="7197755" y="1706870"/>
            <a:ext cx="1512000" cy="540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solidFill>
                <a:schemeClr val="bg1"/>
              </a:solidFill>
            </a:endParaRPr>
          </a:p>
        </p:txBody>
      </p:sp>
      <p:cxnSp>
        <p:nvCxnSpPr>
          <p:cNvPr id="59" name="Прямая соединительная линия 58">
            <a:extLst>
              <a:ext uri="{FF2B5EF4-FFF2-40B4-BE49-F238E27FC236}">
                <a16:creationId xmlns:a16="http://schemas.microsoft.com/office/drawing/2014/main" id="{E651C224-5EB7-4582-23F0-DD7950E35461}"/>
              </a:ext>
            </a:extLst>
          </p:cNvPr>
          <p:cNvCxnSpPr>
            <a:cxnSpLocks/>
          </p:cNvCxnSpPr>
          <p:nvPr userDrawn="1"/>
        </p:nvCxnSpPr>
        <p:spPr>
          <a:xfrm flipV="1">
            <a:off x="7028102" y="1976871"/>
            <a:ext cx="162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60" name="Milestone Placeholder">
            <a:extLst>
              <a:ext uri="{FF2B5EF4-FFF2-40B4-BE49-F238E27FC236}">
                <a16:creationId xmlns:a16="http://schemas.microsoft.com/office/drawing/2014/main" id="{974F66B7-BEE2-A657-E136-F73FC1166812}"/>
              </a:ext>
            </a:extLst>
          </p:cNvPr>
          <p:cNvSpPr>
            <a:spLocks noGrp="1"/>
          </p:cNvSpPr>
          <p:nvPr>
            <p:ph type="body" idx="48" hasCustomPrompt="1"/>
          </p:nvPr>
        </p:nvSpPr>
        <p:spPr>
          <a:xfrm>
            <a:off x="2165580" y="1746038"/>
            <a:ext cx="1440513" cy="461665"/>
          </a:xfrm>
        </p:spPr>
        <p:txBody>
          <a:bodyPr lIns="216000" tIns="0" rIns="216000" bIns="0" anchor="ctr" anchorCtr="0">
            <a:noAutofit/>
          </a:bodyPr>
          <a:lstStyle>
            <a:lvl1pPr marL="0" indent="0" algn="ctr">
              <a:buNone/>
              <a:defRPr sz="1425">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a:t>
            </a:r>
          </a:p>
        </p:txBody>
      </p:sp>
      <p:sp>
        <p:nvSpPr>
          <p:cNvPr id="61" name="Milestone Placeholder">
            <a:extLst>
              <a:ext uri="{FF2B5EF4-FFF2-40B4-BE49-F238E27FC236}">
                <a16:creationId xmlns:a16="http://schemas.microsoft.com/office/drawing/2014/main" id="{0DE4414C-6905-06A9-0CDB-BFA85BEA5875}"/>
              </a:ext>
            </a:extLst>
          </p:cNvPr>
          <p:cNvSpPr>
            <a:spLocks noGrp="1"/>
          </p:cNvSpPr>
          <p:nvPr>
            <p:ph type="body" idx="49" hasCustomPrompt="1"/>
          </p:nvPr>
        </p:nvSpPr>
        <p:spPr>
          <a:xfrm>
            <a:off x="3835210" y="1746038"/>
            <a:ext cx="1440513" cy="461665"/>
          </a:xfrm>
        </p:spPr>
        <p:txBody>
          <a:bodyPr lIns="216000" tIns="0" rIns="216000" bIns="0" anchor="ctr" anchorCtr="0">
            <a:noAutofit/>
          </a:bodyPr>
          <a:lstStyle>
            <a:lvl1pPr marL="0" indent="0" algn="ctr">
              <a:buNone/>
              <a:defRPr sz="1425">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a:t>
            </a:r>
          </a:p>
        </p:txBody>
      </p:sp>
      <p:sp>
        <p:nvSpPr>
          <p:cNvPr id="62" name="Milestone Placeholder">
            <a:extLst>
              <a:ext uri="{FF2B5EF4-FFF2-40B4-BE49-F238E27FC236}">
                <a16:creationId xmlns:a16="http://schemas.microsoft.com/office/drawing/2014/main" id="{D596F846-ACE4-2C30-AC29-31A2C78C3652}"/>
              </a:ext>
            </a:extLst>
          </p:cNvPr>
          <p:cNvSpPr>
            <a:spLocks noGrp="1"/>
          </p:cNvSpPr>
          <p:nvPr>
            <p:ph type="body" idx="50" hasCustomPrompt="1"/>
          </p:nvPr>
        </p:nvSpPr>
        <p:spPr>
          <a:xfrm>
            <a:off x="5544192" y="1746038"/>
            <a:ext cx="1440513" cy="461665"/>
          </a:xfrm>
        </p:spPr>
        <p:txBody>
          <a:bodyPr lIns="216000" tIns="0" rIns="216000" bIns="0" anchor="ctr" anchorCtr="0">
            <a:noAutofit/>
          </a:bodyPr>
          <a:lstStyle>
            <a:lvl1pPr marL="0" indent="0" algn="ctr">
              <a:buNone/>
              <a:defRPr sz="1425">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a:t>
            </a:r>
          </a:p>
        </p:txBody>
      </p:sp>
      <p:sp>
        <p:nvSpPr>
          <p:cNvPr id="63" name="Milestone Placeholder">
            <a:extLst>
              <a:ext uri="{FF2B5EF4-FFF2-40B4-BE49-F238E27FC236}">
                <a16:creationId xmlns:a16="http://schemas.microsoft.com/office/drawing/2014/main" id="{A95F2E75-8A36-E01F-9FD2-F73D1DC03AC3}"/>
              </a:ext>
            </a:extLst>
          </p:cNvPr>
          <p:cNvSpPr>
            <a:spLocks noGrp="1"/>
          </p:cNvSpPr>
          <p:nvPr>
            <p:ph type="body" idx="51" hasCustomPrompt="1"/>
          </p:nvPr>
        </p:nvSpPr>
        <p:spPr>
          <a:xfrm>
            <a:off x="7233498" y="1746038"/>
            <a:ext cx="1440513" cy="461665"/>
          </a:xfrm>
        </p:spPr>
        <p:txBody>
          <a:bodyPr lIns="216000" tIns="0" rIns="216000" bIns="0" anchor="ctr" anchorCtr="0">
            <a:noAutofit/>
          </a:bodyPr>
          <a:lstStyle>
            <a:lvl1pPr marL="0" indent="0" algn="ctr">
              <a:buNone/>
              <a:defRPr sz="1425">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a:t>
            </a:r>
          </a:p>
        </p:txBody>
      </p:sp>
      <p:sp>
        <p:nvSpPr>
          <p:cNvPr id="64" name="Прямоугольник: скругленные углы 63">
            <a:extLst>
              <a:ext uri="{FF2B5EF4-FFF2-40B4-BE49-F238E27FC236}">
                <a16:creationId xmlns:a16="http://schemas.microsoft.com/office/drawing/2014/main" id="{40A436D7-D18E-CD23-B9D5-295F18843B16}"/>
              </a:ext>
            </a:extLst>
          </p:cNvPr>
          <p:cNvSpPr/>
          <p:nvPr userDrawn="1"/>
        </p:nvSpPr>
        <p:spPr>
          <a:xfrm>
            <a:off x="7197755" y="2410402"/>
            <a:ext cx="1512000" cy="2294735"/>
          </a:xfrm>
          <a:prstGeom prst="roundRect">
            <a:avLst>
              <a:gd name="adj" fmla="val 1517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65" name="Text Placeholder">
            <a:extLst>
              <a:ext uri="{FF2B5EF4-FFF2-40B4-BE49-F238E27FC236}">
                <a16:creationId xmlns:a16="http://schemas.microsoft.com/office/drawing/2014/main" id="{F9148CAC-B0F9-97BD-8841-94F1E24572C7}"/>
              </a:ext>
            </a:extLst>
          </p:cNvPr>
          <p:cNvSpPr>
            <a:spLocks noGrp="1"/>
          </p:cNvSpPr>
          <p:nvPr>
            <p:ph type="body" idx="52" hasCustomPrompt="1"/>
          </p:nvPr>
        </p:nvSpPr>
        <p:spPr>
          <a:xfrm>
            <a:off x="7197755" y="2449570"/>
            <a:ext cx="1512000" cy="1255500"/>
          </a:xfrm>
        </p:spPr>
        <p:txBody>
          <a:bodyPr lIns="216000" tIns="216000" rIns="216000" bIns="0" anchor="b" anchorCtr="0">
            <a:noAutofit/>
          </a:bodyPr>
          <a:lstStyle>
            <a:lvl1pPr marL="0" indent="0" algn="l">
              <a:buNone/>
              <a:defRPr sz="1013">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66" name="Subtitle Placeholder">
            <a:extLst>
              <a:ext uri="{FF2B5EF4-FFF2-40B4-BE49-F238E27FC236}">
                <a16:creationId xmlns:a16="http://schemas.microsoft.com/office/drawing/2014/main" id="{E0D0278B-FC44-11F4-0EF7-B6545D39AE1F}"/>
              </a:ext>
            </a:extLst>
          </p:cNvPr>
          <p:cNvSpPr>
            <a:spLocks noGrp="1"/>
          </p:cNvSpPr>
          <p:nvPr>
            <p:ph type="body" idx="53" hasCustomPrompt="1"/>
          </p:nvPr>
        </p:nvSpPr>
        <p:spPr>
          <a:xfrm>
            <a:off x="7197755" y="3712953"/>
            <a:ext cx="1512000" cy="992398"/>
          </a:xfrm>
        </p:spPr>
        <p:txBody>
          <a:bodyPr wrap="square" lIns="216000" tIns="108000" rIns="216000" bIns="288000" anchor="t" anchorCtr="0">
            <a:noAutofit/>
          </a:bodyPr>
          <a:lstStyle>
            <a:lvl1pPr marL="0" indent="0" algn="l">
              <a:buNone/>
              <a:defRPr sz="1500" b="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3" name="Footer Placeholder">
            <a:extLst>
              <a:ext uri="{FF2B5EF4-FFF2-40B4-BE49-F238E27FC236}">
                <a16:creationId xmlns:a16="http://schemas.microsoft.com/office/drawing/2014/main" id="{23FD9F5F-A7EA-1F9D-69E8-222BDB6E79DD}"/>
              </a:ext>
            </a:extLst>
          </p:cNvPr>
          <p:cNvSpPr>
            <a:spLocks noGrp="1"/>
          </p:cNvSpPr>
          <p:nvPr>
            <p:ph type="body" sz="quarter" idx="22" hasCustomPrompt="1"/>
          </p:nvPr>
        </p:nvSpPr>
        <p:spPr>
          <a:xfrm>
            <a:off x="1134317" y="439953"/>
            <a:ext cx="4752486" cy="891540"/>
          </a:xfrm>
        </p:spPr>
        <p:txBody>
          <a:bodyPr wrap="square" lIns="0" tIns="0" rIns="0" bIns="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975">
                <a:solidFill>
                  <a:schemeClr val="bg1">
                    <a:alpha val="50000"/>
                  </a:schemeClr>
                </a:solidFill>
              </a:defRPr>
            </a:lvl1pPr>
            <a:lvl5pPr marL="1371600" indent="0">
              <a:buNone/>
              <a:defRPr/>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3271367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 Text Boxes T21V2">
    <p:bg>
      <p:bgPr>
        <a:solidFill>
          <a:schemeClr val="bg2"/>
        </a:solidFill>
        <a:effectLst/>
      </p:bgPr>
    </p:bg>
    <p:spTree>
      <p:nvGrpSpPr>
        <p:cNvPr id="1" name=""/>
        <p:cNvGrpSpPr/>
        <p:nvPr/>
      </p:nvGrpSpPr>
      <p:grpSpPr>
        <a:xfrm>
          <a:off x="0" y="0"/>
          <a:ext cx="0" cy="0"/>
          <a:chOff x="0" y="0"/>
          <a:chExt cx="0" cy="0"/>
        </a:xfrm>
      </p:grpSpPr>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6057900" y="1635106"/>
            <a:ext cx="2646000" cy="3069900"/>
          </a:xfrm>
          <a:prstGeom prst="roundRect">
            <a:avLst>
              <a:gd name="adj" fmla="val 1192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34" name="Текст 2">
            <a:extLst>
              <a:ext uri="{FF2B5EF4-FFF2-40B4-BE49-F238E27FC236}">
                <a16:creationId xmlns:a16="http://schemas.microsoft.com/office/drawing/2014/main" id="{0D141B0A-352C-6023-D264-7520957DA575}"/>
              </a:ext>
            </a:extLst>
          </p:cNvPr>
          <p:cNvSpPr>
            <a:spLocks noGrp="1"/>
          </p:cNvSpPr>
          <p:nvPr>
            <p:ph type="body" idx="25" hasCustomPrompt="1"/>
          </p:nvPr>
        </p:nvSpPr>
        <p:spPr>
          <a:xfrm>
            <a:off x="6057900" y="2409730"/>
            <a:ext cx="2646000" cy="1415772"/>
          </a:xfrm>
        </p:spPr>
        <p:txBody>
          <a:bodyPr lIns="216000" tIns="0" rIns="216000" bIns="0" anchor="b" anchorCtr="0">
            <a:noAutofit/>
          </a:bodyPr>
          <a:lstStyle>
            <a:lvl1pPr marL="0" indent="0" algn="l">
              <a:buNone/>
              <a:defRPr sz="1013">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33" name="Текст 2">
            <a:extLst>
              <a:ext uri="{FF2B5EF4-FFF2-40B4-BE49-F238E27FC236}">
                <a16:creationId xmlns:a16="http://schemas.microsoft.com/office/drawing/2014/main" id="{83752713-A816-288F-B1ED-9153BA5CE767}"/>
              </a:ext>
            </a:extLst>
          </p:cNvPr>
          <p:cNvSpPr>
            <a:spLocks noGrp="1"/>
          </p:cNvSpPr>
          <p:nvPr>
            <p:ph type="body" idx="24" hasCustomPrompt="1"/>
          </p:nvPr>
        </p:nvSpPr>
        <p:spPr>
          <a:xfrm>
            <a:off x="6057900" y="3834730"/>
            <a:ext cx="2646000" cy="870620"/>
          </a:xfrm>
        </p:spPr>
        <p:txBody>
          <a:bodyPr wrap="square" lIns="216000" tIns="108000" rIns="216000" bIns="432000" anchor="t" anchorCtr="0">
            <a:noAutofit/>
          </a:bodyPr>
          <a:lstStyle>
            <a:lvl1pPr marL="0" indent="0" algn="l">
              <a:buNone/>
              <a:defRPr sz="1500" b="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7" name="Овал 6">
            <a:extLst>
              <a:ext uri="{FF2B5EF4-FFF2-40B4-BE49-F238E27FC236}">
                <a16:creationId xmlns:a16="http://schemas.microsoft.com/office/drawing/2014/main" id="{FE4E2D84-7B51-3838-AFB2-D38F229F4EDA}"/>
              </a:ext>
            </a:extLst>
          </p:cNvPr>
          <p:cNvSpPr/>
          <p:nvPr userDrawn="1"/>
        </p:nvSpPr>
        <p:spPr>
          <a:xfrm>
            <a:off x="6219900" y="1797107"/>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pic>
        <p:nvPicPr>
          <p:cNvPr id="2" name="Рисунок 1" descr="Стрелка вниз со сплошной заливкой">
            <a:extLst>
              <a:ext uri="{FF2B5EF4-FFF2-40B4-BE49-F238E27FC236}">
                <a16:creationId xmlns:a16="http://schemas.microsoft.com/office/drawing/2014/main" id="{511C1B63-B45C-68A1-0089-F719F223BA23}"/>
              </a:ext>
            </a:extLst>
          </p:cNvPr>
          <p:cNvPicPr>
            <a:picLocks noChangeAspect="1"/>
          </p:cNvPicPr>
          <p:nvPr userDrawn="1"/>
        </p:nvPicPr>
        <p:blipFill>
          <a:blip>
            <a:extLst>
              <a:ext uri="{96DAC541-7B7A-43D3-8B79-37D633B846F1}">
                <asvg:svgBlip xmlns:asvg="http://schemas.microsoft.com/office/drawing/2016/SVG/main" r:embed="rId2"/>
              </a:ext>
            </a:extLst>
          </a:blip>
          <a:srcRect t="54542" b="3102"/>
          <a:stretch>
            <a:fillRect/>
          </a:stretch>
        </p:blipFill>
        <p:spPr>
          <a:xfrm rot="18900000">
            <a:off x="6171068" y="1869807"/>
            <a:ext cx="421666" cy="178603"/>
          </a:xfrm>
          <a:prstGeom prst="rect">
            <a:avLst/>
          </a:prstGeom>
        </p:spPr>
      </p:pic>
      <p:sp>
        <p:nvSpPr>
          <p:cNvPr id="3" name="Прямоугольник: скругленные углы 2">
            <a:extLst>
              <a:ext uri="{FF2B5EF4-FFF2-40B4-BE49-F238E27FC236}">
                <a16:creationId xmlns:a16="http://schemas.microsoft.com/office/drawing/2014/main" id="{CC40E4B8-5463-5608-7FB6-94987AE54F86}"/>
              </a:ext>
            </a:extLst>
          </p:cNvPr>
          <p:cNvSpPr/>
          <p:nvPr userDrawn="1"/>
        </p:nvSpPr>
        <p:spPr>
          <a:xfrm>
            <a:off x="3249216" y="1635274"/>
            <a:ext cx="2646000" cy="3068440"/>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4" name="Текст 2">
            <a:extLst>
              <a:ext uri="{FF2B5EF4-FFF2-40B4-BE49-F238E27FC236}">
                <a16:creationId xmlns:a16="http://schemas.microsoft.com/office/drawing/2014/main" id="{340048D2-8264-FC83-B01D-357D4735BEED}"/>
              </a:ext>
            </a:extLst>
          </p:cNvPr>
          <p:cNvSpPr>
            <a:spLocks noGrp="1"/>
          </p:cNvSpPr>
          <p:nvPr>
            <p:ph type="body" idx="26" hasCustomPrompt="1"/>
          </p:nvPr>
        </p:nvSpPr>
        <p:spPr>
          <a:xfrm>
            <a:off x="3249216" y="2409897"/>
            <a:ext cx="2646000" cy="1415772"/>
          </a:xfrm>
        </p:spPr>
        <p:txBody>
          <a:bodyPr lIns="216000" tIns="0" rIns="216000" bIns="0" anchor="b" anchorCtr="0">
            <a:noAutofit/>
          </a:bodyPr>
          <a:lstStyle>
            <a:lvl1pPr marL="0" indent="0" algn="l">
              <a:buNone/>
              <a:defRPr sz="1013">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5" name="Текст 2">
            <a:extLst>
              <a:ext uri="{FF2B5EF4-FFF2-40B4-BE49-F238E27FC236}">
                <a16:creationId xmlns:a16="http://schemas.microsoft.com/office/drawing/2014/main" id="{7A355C18-AE6B-8894-F419-E71021FF5061}"/>
              </a:ext>
            </a:extLst>
          </p:cNvPr>
          <p:cNvSpPr>
            <a:spLocks noGrp="1"/>
          </p:cNvSpPr>
          <p:nvPr>
            <p:ph type="body" idx="27" hasCustomPrompt="1"/>
          </p:nvPr>
        </p:nvSpPr>
        <p:spPr>
          <a:xfrm>
            <a:off x="3249216" y="3834730"/>
            <a:ext cx="2646000" cy="870620"/>
          </a:xfrm>
        </p:spPr>
        <p:txBody>
          <a:bodyPr wrap="square" lIns="216000" tIns="108000" rIns="216000" bIns="432000" anchor="t" anchorCtr="0">
            <a:noAutofit/>
          </a:bodyPr>
          <a:lstStyle>
            <a:lvl1pPr marL="0" indent="0" algn="l">
              <a:buNone/>
              <a:defRPr sz="1500" b="0">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6" name="Овал 5">
            <a:extLst>
              <a:ext uri="{FF2B5EF4-FFF2-40B4-BE49-F238E27FC236}">
                <a16:creationId xmlns:a16="http://schemas.microsoft.com/office/drawing/2014/main" id="{9B8B0384-C066-92EB-D55B-208A039522A4}"/>
              </a:ext>
            </a:extLst>
          </p:cNvPr>
          <p:cNvSpPr/>
          <p:nvPr userDrawn="1"/>
        </p:nvSpPr>
        <p:spPr>
          <a:xfrm>
            <a:off x="3411216" y="1797275"/>
            <a:ext cx="324000" cy="32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pic>
        <p:nvPicPr>
          <p:cNvPr id="10" name="Рисунок 9" descr="Стрелка вниз со сплошной заливкой">
            <a:extLst>
              <a:ext uri="{FF2B5EF4-FFF2-40B4-BE49-F238E27FC236}">
                <a16:creationId xmlns:a16="http://schemas.microsoft.com/office/drawing/2014/main" id="{CFA80331-4340-2F48-8519-3D57D1B5E0A5}"/>
              </a:ext>
            </a:extLst>
          </p:cNvPr>
          <p:cNvPicPr>
            <a:picLocks noChangeAspect="1"/>
          </p:cNvPicPr>
          <p:nvPr userDrawn="1"/>
        </p:nvPicPr>
        <p:blipFill>
          <a:blip>
            <a:extLst>
              <a:ext uri="{96DAC541-7B7A-43D3-8B79-37D633B846F1}">
                <asvg:svgBlip xmlns:asvg="http://schemas.microsoft.com/office/drawing/2016/SVG/main" r:embed="rId3"/>
              </a:ext>
            </a:extLst>
          </a:blip>
          <a:srcRect t="54542" b="3102"/>
          <a:stretch>
            <a:fillRect/>
          </a:stretch>
        </p:blipFill>
        <p:spPr>
          <a:xfrm rot="18900000">
            <a:off x="3362384" y="1869974"/>
            <a:ext cx="421666" cy="178603"/>
          </a:xfrm>
          <a:prstGeom prst="rect">
            <a:avLst/>
          </a:prstGeom>
        </p:spPr>
      </p:pic>
      <p:sp>
        <p:nvSpPr>
          <p:cNvPr id="13" name="Рисунок 19">
            <a:extLst>
              <a:ext uri="{FF2B5EF4-FFF2-40B4-BE49-F238E27FC236}">
                <a16:creationId xmlns:a16="http://schemas.microsoft.com/office/drawing/2014/main" id="{F5B58ABD-0DB8-F2A8-6CE7-3B8D7570AE76}"/>
              </a:ext>
            </a:extLst>
          </p:cNvPr>
          <p:cNvSpPr>
            <a:spLocks noGrp="1"/>
          </p:cNvSpPr>
          <p:nvPr>
            <p:ph type="pic" sz="quarter" idx="12"/>
          </p:nvPr>
        </p:nvSpPr>
        <p:spPr>
          <a:xfrm>
            <a:off x="440100" y="1635106"/>
            <a:ext cx="2646000" cy="3069900"/>
          </a:xfrm>
          <a:prstGeom prst="roundRect">
            <a:avLst>
              <a:gd name="adj" fmla="val 11303"/>
            </a:avLst>
          </a:prstGeom>
        </p:spPr>
        <p:txBody>
          <a:bodyPr/>
          <a:lstStyle/>
          <a:p>
            <a:endParaRPr lang="ru-RU"/>
          </a:p>
        </p:txBody>
      </p:sp>
      <p:sp>
        <p:nvSpPr>
          <p:cNvPr id="8" name="Заголовок 1">
            <a:extLst>
              <a:ext uri="{FF2B5EF4-FFF2-40B4-BE49-F238E27FC236}">
                <a16:creationId xmlns:a16="http://schemas.microsoft.com/office/drawing/2014/main" id="{1F1D5F2C-AE1C-C48C-E24D-D3773B5313B9}"/>
              </a:ext>
            </a:extLst>
          </p:cNvPr>
          <p:cNvSpPr>
            <a:spLocks noGrp="1"/>
          </p:cNvSpPr>
          <p:nvPr>
            <p:ph type="title" hasCustomPrompt="1"/>
          </p:nvPr>
        </p:nvSpPr>
        <p:spPr>
          <a:xfrm>
            <a:off x="447905" y="982056"/>
            <a:ext cx="8255564" cy="498598"/>
          </a:xfrm>
          <a:prstGeom prst="rect">
            <a:avLst/>
          </a:prstGeom>
        </p:spPr>
        <p:txBody>
          <a:bodyPr vert="horz" wrap="square" lIns="0" tIns="0" rIns="0" bIns="0" rtlCol="0" anchor="t" anchorCtr="0">
            <a:noAutofit/>
          </a:bodyPr>
          <a:lstStyle>
            <a:lvl1pPr>
              <a:defRPr sz="3600"/>
            </a:lvl1pPr>
          </a:lstStyle>
          <a:p>
            <a:pPr lvl="0"/>
            <a:r>
              <a:rPr lang="en-US" dirty="0"/>
              <a:t>Click to edit Master text styles</a:t>
            </a:r>
            <a:endParaRPr lang="ru-RU" dirty="0"/>
          </a:p>
        </p:txBody>
      </p:sp>
      <p:sp>
        <p:nvSpPr>
          <p:cNvPr id="9" name="Ellipse">
            <a:extLst>
              <a:ext uri="{FF2B5EF4-FFF2-40B4-BE49-F238E27FC236}">
                <a16:creationId xmlns:a16="http://schemas.microsoft.com/office/drawing/2014/main" id="{3E724EC9-08DB-D30D-2A6E-A8BE42CA7C0B}"/>
              </a:ext>
            </a:extLst>
          </p:cNvPr>
          <p:cNvSpPr/>
          <p:nvPr userDrawn="1"/>
        </p:nvSpPr>
        <p:spPr>
          <a:xfrm>
            <a:off x="440531" y="456068"/>
            <a:ext cx="108000" cy="10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1" name="Ellipse">
            <a:extLst>
              <a:ext uri="{FF2B5EF4-FFF2-40B4-BE49-F238E27FC236}">
                <a16:creationId xmlns:a16="http://schemas.microsoft.com/office/drawing/2014/main" id="{5C1DE741-6AFA-F085-7A49-6E83506C5C80}"/>
              </a:ext>
            </a:extLst>
          </p:cNvPr>
          <p:cNvSpPr/>
          <p:nvPr userDrawn="1"/>
        </p:nvSpPr>
        <p:spPr>
          <a:xfrm>
            <a:off x="671794" y="456068"/>
            <a:ext cx="108000" cy="108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2" name="Ellipse">
            <a:extLst>
              <a:ext uri="{FF2B5EF4-FFF2-40B4-BE49-F238E27FC236}">
                <a16:creationId xmlns:a16="http://schemas.microsoft.com/office/drawing/2014/main" id="{D53490D7-12A8-52B0-8A8A-DFCEC9C88C5B}"/>
              </a:ext>
            </a:extLst>
          </p:cNvPr>
          <p:cNvSpPr/>
          <p:nvPr userDrawn="1"/>
        </p:nvSpPr>
        <p:spPr>
          <a:xfrm>
            <a:off x="903056" y="456068"/>
            <a:ext cx="108000" cy="108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4" name="Footer Placeholder">
            <a:extLst>
              <a:ext uri="{FF2B5EF4-FFF2-40B4-BE49-F238E27FC236}">
                <a16:creationId xmlns:a16="http://schemas.microsoft.com/office/drawing/2014/main" id="{F81086EA-9F68-AA4D-6507-B028CF0777D3}"/>
              </a:ext>
            </a:extLst>
          </p:cNvPr>
          <p:cNvSpPr>
            <a:spLocks noGrp="1"/>
          </p:cNvSpPr>
          <p:nvPr>
            <p:ph type="body" sz="quarter" idx="22" hasCustomPrompt="1"/>
          </p:nvPr>
        </p:nvSpPr>
        <p:spPr>
          <a:xfrm>
            <a:off x="1134317" y="439953"/>
            <a:ext cx="4752486" cy="891540"/>
          </a:xfrm>
        </p:spPr>
        <p:txBody>
          <a:bodyPr wrap="square" lIns="0" tIns="0" rIns="0" bIns="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975">
                <a:solidFill>
                  <a:schemeClr val="tx1">
                    <a:alpha val="50000"/>
                  </a:schemeClr>
                </a:solidFill>
              </a:defRPr>
            </a:lvl1pPr>
            <a:lvl5pPr marL="1371600" indent="0">
              <a:buNone/>
              <a:defRPr/>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583884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descr="Connexions numérique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15" y="7"/>
            <a:ext cx="9143985" cy="5143493"/>
          </a:xfrm>
          <a:prstGeom prst="rect">
            <a:avLst/>
          </a:prstGeom>
        </p:spPr>
      </p:pic>
      <p:sp>
        <p:nvSpPr>
          <p:cNvPr id="2" name="Titre 1">
            <a:extLst>
              <a:ext uri="{FF2B5EF4-FFF2-40B4-BE49-F238E27FC236}">
                <a16:creationId xmlns:a16="http://schemas.microsoft.com/office/drawing/2014/main" id="{C02C5318-1A1E-49D0-B2E2-A4B0FA9E8A40}"/>
              </a:ext>
            </a:extLst>
          </p:cNvPr>
          <p:cNvSpPr>
            <a:spLocks noGrp="1"/>
          </p:cNvSpPr>
          <p:nvPr>
            <p:ph type="ctrTitle"/>
          </p:nvPr>
        </p:nvSpPr>
        <p:spPr>
          <a:xfrm>
            <a:off x="435894" y="3429000"/>
            <a:ext cx="8245162" cy="671433"/>
          </a:xfrm>
        </p:spPr>
        <p:txBody>
          <a:bodyPr rtlCol="0">
            <a:noAutofit/>
          </a:bodyPr>
          <a:lstStyle/>
          <a:p>
            <a:pPr rtl="0"/>
            <a:r>
              <a:rPr lang="fr-FR" sz="4500">
                <a:solidFill>
                  <a:schemeClr val="bg1"/>
                </a:solidFill>
              </a:rPr>
              <a:t>Conception technique</a:t>
            </a:r>
          </a:p>
        </p:txBody>
      </p:sp>
      <p:sp>
        <p:nvSpPr>
          <p:cNvPr id="3" name="Sous-titre 2">
            <a:extLst>
              <a:ext uri="{FF2B5EF4-FFF2-40B4-BE49-F238E27FC236}">
                <a16:creationId xmlns:a16="http://schemas.microsoft.com/office/drawing/2014/main" id="{48B6CF59-4E5B-494D-A2F7-97ADD01E6497}"/>
              </a:ext>
            </a:extLst>
          </p:cNvPr>
          <p:cNvSpPr>
            <a:spLocks noGrp="1"/>
          </p:cNvSpPr>
          <p:nvPr>
            <p:ph type="subTitle" idx="1"/>
          </p:nvPr>
        </p:nvSpPr>
        <p:spPr>
          <a:xfrm>
            <a:off x="435895" y="4100434"/>
            <a:ext cx="8245160" cy="363617"/>
          </a:xfrm>
        </p:spPr>
        <p:txBody>
          <a:bodyPr rtlCol="0">
            <a:normAutofit/>
          </a:bodyPr>
          <a:lstStyle/>
          <a:p>
            <a:pPr rtl="0"/>
            <a:endParaRPr lang="fr-FR">
              <a:solidFill>
                <a:srgbClr val="7CEBFF"/>
              </a:solidFill>
            </a:endParaRPr>
          </a:p>
        </p:txBody>
      </p:sp>
      <p:pic>
        <p:nvPicPr>
          <p:cNvPr id="5" name="Image 4">
            <a:extLst>
              <a:ext uri="{FF2B5EF4-FFF2-40B4-BE49-F238E27FC236}">
                <a16:creationId xmlns:a16="http://schemas.microsoft.com/office/drawing/2014/main" id="{C92D453B-9092-EA24-52E7-4E2D9351763E}"/>
              </a:ext>
            </a:extLst>
          </p:cNvPr>
          <p:cNvPicPr>
            <a:picLocks noChangeAspect="1"/>
          </p:cNvPicPr>
          <p:nvPr/>
        </p:nvPicPr>
        <p:blipFill>
          <a:blip r:embed="rId4"/>
          <a:stretch>
            <a:fillRect/>
          </a:stretch>
        </p:blipFill>
        <p:spPr>
          <a:xfrm>
            <a:off x="411480" y="112214"/>
            <a:ext cx="9144000" cy="4919072"/>
          </a:xfrm>
          <a:prstGeom prst="rect">
            <a:avLst/>
          </a:prstGeom>
        </p:spPr>
      </p:pic>
      <p:sp>
        <p:nvSpPr>
          <p:cNvPr id="6" name="ZoneTexte 5">
            <a:extLst>
              <a:ext uri="{FF2B5EF4-FFF2-40B4-BE49-F238E27FC236}">
                <a16:creationId xmlns:a16="http://schemas.microsoft.com/office/drawing/2014/main" id="{6FEB044B-CDCF-7672-E077-E9CD4BD8650E}"/>
              </a:ext>
            </a:extLst>
          </p:cNvPr>
          <p:cNvSpPr txBox="1"/>
          <p:nvPr/>
        </p:nvSpPr>
        <p:spPr>
          <a:xfrm>
            <a:off x="5297214" y="2307218"/>
            <a:ext cx="874987" cy="300082"/>
          </a:xfrm>
          <a:prstGeom prst="rect">
            <a:avLst/>
          </a:prstGeom>
          <a:solidFill>
            <a:schemeClr val="bg1"/>
          </a:solidFill>
        </p:spPr>
        <p:txBody>
          <a:bodyPr wrap="square" rtlCol="0">
            <a:spAutoFit/>
          </a:bodyPr>
          <a:lstStyle/>
          <a:p>
            <a:r>
              <a:rPr lang="fr-MA" sz="1350" dirty="0"/>
              <a:t>(S7)</a:t>
            </a:r>
          </a:p>
        </p:txBody>
      </p:sp>
      <p:sp>
        <p:nvSpPr>
          <p:cNvPr id="8" name="ZoneTexte 7">
            <a:extLst>
              <a:ext uri="{FF2B5EF4-FFF2-40B4-BE49-F238E27FC236}">
                <a16:creationId xmlns:a16="http://schemas.microsoft.com/office/drawing/2014/main" id="{86935843-7477-FFB9-7C01-2EADA72B3619}"/>
              </a:ext>
            </a:extLst>
          </p:cNvPr>
          <p:cNvSpPr txBox="1"/>
          <p:nvPr/>
        </p:nvSpPr>
        <p:spPr>
          <a:xfrm>
            <a:off x="8106414" y="4576258"/>
            <a:ext cx="874987" cy="276999"/>
          </a:xfrm>
          <a:prstGeom prst="rect">
            <a:avLst/>
          </a:prstGeom>
          <a:solidFill>
            <a:schemeClr val="bg1"/>
          </a:solidFill>
        </p:spPr>
        <p:txBody>
          <a:bodyPr wrap="square" rtlCol="0">
            <a:spAutoFit/>
          </a:bodyPr>
          <a:lstStyle/>
          <a:p>
            <a:r>
              <a:rPr lang="fr-MA" sz="1200" dirty="0"/>
              <a:t>2026-2027</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0E774F4E-C47F-3D9E-6587-5EA32C37E28F}"/>
              </a:ext>
            </a:extLst>
          </p:cNvPr>
          <p:cNvPicPr>
            <a:picLocks noChangeAspect="1"/>
          </p:cNvPicPr>
          <p:nvPr/>
        </p:nvPicPr>
        <p:blipFill>
          <a:blip r:embed="rId2"/>
          <a:stretch>
            <a:fillRect/>
          </a:stretch>
        </p:blipFill>
        <p:spPr>
          <a:xfrm>
            <a:off x="220718" y="0"/>
            <a:ext cx="8655268" cy="5143500"/>
          </a:xfrm>
          <a:prstGeom prst="rect">
            <a:avLst/>
          </a:prstGeom>
        </p:spPr>
      </p:pic>
      <p:sp>
        <p:nvSpPr>
          <p:cNvPr id="3" name="ZoneTexte 2">
            <a:extLst>
              <a:ext uri="{FF2B5EF4-FFF2-40B4-BE49-F238E27FC236}">
                <a16:creationId xmlns:a16="http://schemas.microsoft.com/office/drawing/2014/main" id="{BF22D856-FC46-5DFD-5BCF-B0148D017FF7}"/>
              </a:ext>
            </a:extLst>
          </p:cNvPr>
          <p:cNvSpPr txBox="1"/>
          <p:nvPr/>
        </p:nvSpPr>
        <p:spPr>
          <a:xfrm>
            <a:off x="3503584" y="1624935"/>
            <a:ext cx="329862" cy="300082"/>
          </a:xfrm>
          <a:prstGeom prst="rect">
            <a:avLst/>
          </a:prstGeom>
          <a:solidFill>
            <a:schemeClr val="bg1"/>
          </a:solidFill>
        </p:spPr>
        <p:txBody>
          <a:bodyPr wrap="square" rtlCol="0">
            <a:spAutoFit/>
          </a:bodyPr>
          <a:lstStyle/>
          <a:p>
            <a:endParaRPr lang="fr-MA" sz="1350" dirty="0"/>
          </a:p>
        </p:txBody>
      </p:sp>
    </p:spTree>
    <p:extLst>
      <p:ext uri="{BB962C8B-B14F-4D97-AF65-F5344CB8AC3E}">
        <p14:creationId xmlns:p14="http://schemas.microsoft.com/office/powerpoint/2010/main" val="245947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7B208-B51A-6A97-4C7E-5B6ACD3DB22C}"/>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8305B054-A598-BB39-256B-D7BD83385376}"/>
              </a:ext>
            </a:extLst>
          </p:cNvPr>
          <p:cNvPicPr>
            <a:picLocks noChangeAspect="1"/>
          </p:cNvPicPr>
          <p:nvPr/>
        </p:nvPicPr>
        <p:blipFill>
          <a:blip r:embed="rId2"/>
          <a:stretch>
            <a:fillRect/>
          </a:stretch>
        </p:blipFill>
        <p:spPr>
          <a:xfrm>
            <a:off x="227994" y="117530"/>
            <a:ext cx="8688013" cy="4908441"/>
          </a:xfrm>
          <a:prstGeom prst="rect">
            <a:avLst/>
          </a:prstGeom>
        </p:spPr>
      </p:pic>
    </p:spTree>
    <p:extLst>
      <p:ext uri="{BB962C8B-B14F-4D97-AF65-F5344CB8AC3E}">
        <p14:creationId xmlns:p14="http://schemas.microsoft.com/office/powerpoint/2010/main" val="2353810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E9499-E7FC-9720-7D03-EADF2266495B}"/>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36DE70AE-46F5-6138-F12A-66B04B568F5A}"/>
              </a:ext>
            </a:extLst>
          </p:cNvPr>
          <p:cNvPicPr>
            <a:picLocks noChangeAspect="1"/>
          </p:cNvPicPr>
          <p:nvPr/>
        </p:nvPicPr>
        <p:blipFill>
          <a:blip r:embed="rId2"/>
          <a:stretch>
            <a:fillRect/>
          </a:stretch>
        </p:blipFill>
        <p:spPr>
          <a:xfrm>
            <a:off x="206560" y="188977"/>
            <a:ext cx="8730881" cy="4765547"/>
          </a:xfrm>
          <a:prstGeom prst="rect">
            <a:avLst/>
          </a:prstGeom>
        </p:spPr>
      </p:pic>
      <p:sp>
        <p:nvSpPr>
          <p:cNvPr id="4" name="ZoneTexte 3">
            <a:extLst>
              <a:ext uri="{FF2B5EF4-FFF2-40B4-BE49-F238E27FC236}">
                <a16:creationId xmlns:a16="http://schemas.microsoft.com/office/drawing/2014/main" id="{03DD3D2C-A0D8-449D-E492-EE9BC630357A}"/>
              </a:ext>
            </a:extLst>
          </p:cNvPr>
          <p:cNvSpPr txBox="1"/>
          <p:nvPr/>
        </p:nvSpPr>
        <p:spPr>
          <a:xfrm>
            <a:off x="6305214" y="507218"/>
            <a:ext cx="973985" cy="400110"/>
          </a:xfrm>
          <a:prstGeom prst="rect">
            <a:avLst/>
          </a:prstGeom>
          <a:solidFill>
            <a:schemeClr val="bg1"/>
          </a:solidFill>
        </p:spPr>
        <p:txBody>
          <a:bodyPr wrap="square" rtlCol="0">
            <a:spAutoFit/>
          </a:bodyPr>
          <a:lstStyle/>
          <a:p>
            <a:r>
              <a:rPr lang="fr-MA" sz="2000" dirty="0"/>
              <a:t>2026</a:t>
            </a:r>
          </a:p>
        </p:txBody>
      </p:sp>
    </p:spTree>
    <p:extLst>
      <p:ext uri="{BB962C8B-B14F-4D97-AF65-F5344CB8AC3E}">
        <p14:creationId xmlns:p14="http://schemas.microsoft.com/office/powerpoint/2010/main" val="98066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FABB5-6C18-2F00-9326-2FFCE3EACD1C}"/>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B7D4C13D-2DAB-458B-C00A-E7DF67A1E890}"/>
              </a:ext>
            </a:extLst>
          </p:cNvPr>
          <p:cNvPicPr>
            <a:picLocks noChangeAspect="1"/>
          </p:cNvPicPr>
          <p:nvPr/>
        </p:nvPicPr>
        <p:blipFill>
          <a:blip r:embed="rId2"/>
          <a:stretch>
            <a:fillRect/>
          </a:stretch>
        </p:blipFill>
        <p:spPr>
          <a:xfrm>
            <a:off x="227994" y="46082"/>
            <a:ext cx="8688013" cy="5051336"/>
          </a:xfrm>
          <a:prstGeom prst="rect">
            <a:avLst/>
          </a:prstGeom>
        </p:spPr>
      </p:pic>
    </p:spTree>
    <p:extLst>
      <p:ext uri="{BB962C8B-B14F-4D97-AF65-F5344CB8AC3E}">
        <p14:creationId xmlns:p14="http://schemas.microsoft.com/office/powerpoint/2010/main" val="272821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1D74A-7D79-72E7-D3A2-D39369D4823B}"/>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677EE67C-C095-5D61-9489-0541DE3135DD}"/>
              </a:ext>
            </a:extLst>
          </p:cNvPr>
          <p:cNvPicPr>
            <a:picLocks noChangeAspect="1"/>
          </p:cNvPicPr>
          <p:nvPr/>
        </p:nvPicPr>
        <p:blipFill>
          <a:blip r:embed="rId2"/>
          <a:stretch>
            <a:fillRect/>
          </a:stretch>
        </p:blipFill>
        <p:spPr>
          <a:xfrm>
            <a:off x="220849" y="188977"/>
            <a:ext cx="8702302" cy="4765547"/>
          </a:xfrm>
          <a:prstGeom prst="rect">
            <a:avLst/>
          </a:prstGeom>
        </p:spPr>
      </p:pic>
    </p:spTree>
    <p:extLst>
      <p:ext uri="{BB962C8B-B14F-4D97-AF65-F5344CB8AC3E}">
        <p14:creationId xmlns:p14="http://schemas.microsoft.com/office/powerpoint/2010/main" val="401849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90E6A-DBA4-EAD8-088B-13FEC6BB84B0}"/>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E3C16C3A-BE72-49E2-7652-AD3884512F09}"/>
              </a:ext>
            </a:extLst>
          </p:cNvPr>
          <p:cNvPicPr>
            <a:picLocks noChangeAspect="1"/>
          </p:cNvPicPr>
          <p:nvPr/>
        </p:nvPicPr>
        <p:blipFill>
          <a:blip r:embed="rId2"/>
          <a:stretch>
            <a:fillRect/>
          </a:stretch>
        </p:blipFill>
        <p:spPr>
          <a:xfrm>
            <a:off x="220718" y="0"/>
            <a:ext cx="8773510" cy="5143500"/>
          </a:xfrm>
          <a:prstGeom prst="rect">
            <a:avLst/>
          </a:prstGeom>
        </p:spPr>
      </p:pic>
    </p:spTree>
    <p:extLst>
      <p:ext uri="{BB962C8B-B14F-4D97-AF65-F5344CB8AC3E}">
        <p14:creationId xmlns:p14="http://schemas.microsoft.com/office/powerpoint/2010/main" val="3004783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C12DFB2F-D173-31A9-38DA-9CDE0FC41FA5}"/>
              </a:ext>
            </a:extLst>
          </p:cNvPr>
          <p:cNvPicPr>
            <a:picLocks noChangeAspect="1"/>
          </p:cNvPicPr>
          <p:nvPr/>
        </p:nvPicPr>
        <p:blipFill>
          <a:blip r:embed="rId2"/>
          <a:stretch>
            <a:fillRect/>
          </a:stretch>
        </p:blipFill>
        <p:spPr>
          <a:xfrm>
            <a:off x="236483" y="0"/>
            <a:ext cx="8710448" cy="5143500"/>
          </a:xfrm>
          <a:prstGeom prst="rect">
            <a:avLst/>
          </a:prstGeom>
        </p:spPr>
      </p:pic>
    </p:spTree>
    <p:extLst>
      <p:ext uri="{BB962C8B-B14F-4D97-AF65-F5344CB8AC3E}">
        <p14:creationId xmlns:p14="http://schemas.microsoft.com/office/powerpoint/2010/main" val="4168765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1775049F-328B-A675-8443-C519C49DCBF2}"/>
              </a:ext>
            </a:extLst>
          </p:cNvPr>
          <p:cNvPicPr>
            <a:picLocks noChangeAspect="1"/>
          </p:cNvPicPr>
          <p:nvPr/>
        </p:nvPicPr>
        <p:blipFill>
          <a:blip r:embed="rId2"/>
          <a:stretch>
            <a:fillRect/>
          </a:stretch>
        </p:blipFill>
        <p:spPr>
          <a:xfrm>
            <a:off x="204107" y="81643"/>
            <a:ext cx="8180615" cy="4939394"/>
          </a:xfrm>
          <a:prstGeom prst="rect">
            <a:avLst/>
          </a:prstGeom>
        </p:spPr>
      </p:pic>
    </p:spTree>
    <p:extLst>
      <p:ext uri="{BB962C8B-B14F-4D97-AF65-F5344CB8AC3E}">
        <p14:creationId xmlns:p14="http://schemas.microsoft.com/office/powerpoint/2010/main" val="2809653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9A08C-378F-C447-F2DC-695365C1B1B5}"/>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9FCD6236-7EFF-0C68-1A30-0AF9A2D0FCE0}"/>
              </a:ext>
            </a:extLst>
          </p:cNvPr>
          <p:cNvPicPr>
            <a:picLocks noChangeAspect="1"/>
          </p:cNvPicPr>
          <p:nvPr/>
        </p:nvPicPr>
        <p:blipFill>
          <a:blip r:embed="rId2"/>
          <a:stretch>
            <a:fillRect/>
          </a:stretch>
        </p:blipFill>
        <p:spPr>
          <a:xfrm>
            <a:off x="310243" y="73478"/>
            <a:ext cx="8572500" cy="4996544"/>
          </a:xfrm>
          <a:prstGeom prst="rect">
            <a:avLst/>
          </a:prstGeom>
        </p:spPr>
      </p:pic>
    </p:spTree>
    <p:extLst>
      <p:ext uri="{BB962C8B-B14F-4D97-AF65-F5344CB8AC3E}">
        <p14:creationId xmlns:p14="http://schemas.microsoft.com/office/powerpoint/2010/main" val="257485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D8F3E-10E2-A038-3570-B510C13AB56F}"/>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292CE261-8EEC-C696-5248-1427B40805AD}"/>
              </a:ext>
            </a:extLst>
          </p:cNvPr>
          <p:cNvPicPr>
            <a:picLocks noChangeAspect="1"/>
          </p:cNvPicPr>
          <p:nvPr/>
        </p:nvPicPr>
        <p:blipFill>
          <a:blip r:embed="rId2"/>
          <a:stretch>
            <a:fillRect/>
          </a:stretch>
        </p:blipFill>
        <p:spPr>
          <a:xfrm>
            <a:off x="229412" y="130628"/>
            <a:ext cx="2986505" cy="3472347"/>
          </a:xfrm>
          <a:prstGeom prst="rect">
            <a:avLst/>
          </a:prstGeom>
        </p:spPr>
      </p:pic>
      <p:pic>
        <p:nvPicPr>
          <p:cNvPr id="5" name="Image 4">
            <a:extLst>
              <a:ext uri="{FF2B5EF4-FFF2-40B4-BE49-F238E27FC236}">
                <a16:creationId xmlns:a16="http://schemas.microsoft.com/office/drawing/2014/main" id="{2FEFA89D-3630-FD14-A7E3-8FD7B870EE86}"/>
              </a:ext>
            </a:extLst>
          </p:cNvPr>
          <p:cNvPicPr>
            <a:picLocks noChangeAspect="1"/>
          </p:cNvPicPr>
          <p:nvPr/>
        </p:nvPicPr>
        <p:blipFill>
          <a:blip r:embed="rId3"/>
          <a:stretch>
            <a:fillRect/>
          </a:stretch>
        </p:blipFill>
        <p:spPr>
          <a:xfrm>
            <a:off x="2551626" y="1030548"/>
            <a:ext cx="3207992" cy="2772162"/>
          </a:xfrm>
          <a:prstGeom prst="rect">
            <a:avLst/>
          </a:prstGeom>
        </p:spPr>
      </p:pic>
      <p:pic>
        <p:nvPicPr>
          <p:cNvPr id="7" name="Image 6">
            <a:extLst>
              <a:ext uri="{FF2B5EF4-FFF2-40B4-BE49-F238E27FC236}">
                <a16:creationId xmlns:a16="http://schemas.microsoft.com/office/drawing/2014/main" id="{BD6B5C53-7AA4-535E-F0C8-DC2D02F627DF}"/>
              </a:ext>
            </a:extLst>
          </p:cNvPr>
          <p:cNvPicPr>
            <a:picLocks noChangeAspect="1"/>
          </p:cNvPicPr>
          <p:nvPr/>
        </p:nvPicPr>
        <p:blipFill>
          <a:blip r:embed="rId4"/>
          <a:stretch>
            <a:fillRect/>
          </a:stretch>
        </p:blipFill>
        <p:spPr>
          <a:xfrm>
            <a:off x="6465987" y="1030548"/>
            <a:ext cx="1829055" cy="2343477"/>
          </a:xfrm>
          <a:prstGeom prst="rect">
            <a:avLst/>
          </a:prstGeom>
        </p:spPr>
      </p:pic>
    </p:spTree>
    <p:extLst>
      <p:ext uri="{BB962C8B-B14F-4D97-AF65-F5344CB8AC3E}">
        <p14:creationId xmlns:p14="http://schemas.microsoft.com/office/powerpoint/2010/main" val="2737350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70A78-BEAB-9269-90CF-9A84C1777EAF}"/>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C3B335B3-B5E1-99E5-39AA-D8D4B8268956}"/>
              </a:ext>
            </a:extLst>
          </p:cNvPr>
          <p:cNvPicPr>
            <a:picLocks noChangeAspect="1"/>
          </p:cNvPicPr>
          <p:nvPr/>
        </p:nvPicPr>
        <p:blipFill>
          <a:blip r:embed="rId2"/>
          <a:stretch>
            <a:fillRect/>
          </a:stretch>
        </p:blipFill>
        <p:spPr>
          <a:xfrm>
            <a:off x="293915" y="156826"/>
            <a:ext cx="8605157" cy="4829849"/>
          </a:xfrm>
          <a:prstGeom prst="rect">
            <a:avLst/>
          </a:prstGeom>
        </p:spPr>
      </p:pic>
    </p:spTree>
    <p:extLst>
      <p:ext uri="{BB962C8B-B14F-4D97-AF65-F5344CB8AC3E}">
        <p14:creationId xmlns:p14="http://schemas.microsoft.com/office/powerpoint/2010/main" val="348799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C595C513-4FC8-B602-100B-8A0AFD16DAEF}"/>
              </a:ext>
            </a:extLst>
          </p:cNvPr>
          <p:cNvPicPr>
            <a:picLocks noChangeAspect="1"/>
          </p:cNvPicPr>
          <p:nvPr/>
        </p:nvPicPr>
        <p:blipFill>
          <a:blip r:embed="rId2"/>
          <a:stretch>
            <a:fillRect/>
          </a:stretch>
        </p:blipFill>
        <p:spPr>
          <a:xfrm>
            <a:off x="285750" y="296148"/>
            <a:ext cx="8564336" cy="4551204"/>
          </a:xfrm>
          <a:prstGeom prst="rect">
            <a:avLst/>
          </a:prstGeom>
        </p:spPr>
      </p:pic>
    </p:spTree>
    <p:extLst>
      <p:ext uri="{BB962C8B-B14F-4D97-AF65-F5344CB8AC3E}">
        <p14:creationId xmlns:p14="http://schemas.microsoft.com/office/powerpoint/2010/main" val="1118444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FECA41B1-6E0F-C471-BDA4-77580F7F9171}"/>
              </a:ext>
            </a:extLst>
          </p:cNvPr>
          <p:cNvPicPr>
            <a:picLocks noChangeAspect="1"/>
          </p:cNvPicPr>
          <p:nvPr/>
        </p:nvPicPr>
        <p:blipFill>
          <a:blip r:embed="rId2"/>
          <a:stretch>
            <a:fillRect/>
          </a:stretch>
        </p:blipFill>
        <p:spPr>
          <a:xfrm>
            <a:off x="310243" y="260425"/>
            <a:ext cx="8564336" cy="4622651"/>
          </a:xfrm>
          <a:prstGeom prst="rect">
            <a:avLst/>
          </a:prstGeom>
        </p:spPr>
      </p:pic>
    </p:spTree>
    <p:extLst>
      <p:ext uri="{BB962C8B-B14F-4D97-AF65-F5344CB8AC3E}">
        <p14:creationId xmlns:p14="http://schemas.microsoft.com/office/powerpoint/2010/main" val="2050230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A422C-CA54-BC6B-E293-820E917B53D1}"/>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A27C5A5E-797C-8836-2B4D-3CAA46A725CB}"/>
              </a:ext>
            </a:extLst>
          </p:cNvPr>
          <p:cNvPicPr>
            <a:picLocks noChangeAspect="1"/>
          </p:cNvPicPr>
          <p:nvPr/>
        </p:nvPicPr>
        <p:blipFill>
          <a:blip r:embed="rId2"/>
          <a:stretch>
            <a:fillRect/>
          </a:stretch>
        </p:blipFill>
        <p:spPr>
          <a:xfrm>
            <a:off x="244928" y="131819"/>
            <a:ext cx="8670472" cy="4879862"/>
          </a:xfrm>
          <a:prstGeom prst="rect">
            <a:avLst/>
          </a:prstGeom>
        </p:spPr>
      </p:pic>
      <p:pic>
        <p:nvPicPr>
          <p:cNvPr id="6" name="Image 5">
            <a:extLst>
              <a:ext uri="{FF2B5EF4-FFF2-40B4-BE49-F238E27FC236}">
                <a16:creationId xmlns:a16="http://schemas.microsoft.com/office/drawing/2014/main" id="{D62A6695-951C-BD01-8C02-5CE7FA65065B}"/>
              </a:ext>
            </a:extLst>
          </p:cNvPr>
          <p:cNvPicPr>
            <a:picLocks noChangeAspect="1"/>
          </p:cNvPicPr>
          <p:nvPr/>
        </p:nvPicPr>
        <p:blipFill>
          <a:blip r:embed="rId3"/>
          <a:stretch>
            <a:fillRect/>
          </a:stretch>
        </p:blipFill>
        <p:spPr>
          <a:xfrm>
            <a:off x="2669971" y="4491149"/>
            <a:ext cx="4057400" cy="276999"/>
          </a:xfrm>
          <a:prstGeom prst="rect">
            <a:avLst/>
          </a:prstGeom>
        </p:spPr>
      </p:pic>
      <p:sp>
        <p:nvSpPr>
          <p:cNvPr id="4" name="ZoneTexte 3">
            <a:extLst>
              <a:ext uri="{FF2B5EF4-FFF2-40B4-BE49-F238E27FC236}">
                <a16:creationId xmlns:a16="http://schemas.microsoft.com/office/drawing/2014/main" id="{E995B577-2904-8343-F040-FF6FB1BC15C0}"/>
              </a:ext>
            </a:extLst>
          </p:cNvPr>
          <p:cNvSpPr txBox="1"/>
          <p:nvPr/>
        </p:nvSpPr>
        <p:spPr>
          <a:xfrm>
            <a:off x="3357562" y="4474416"/>
            <a:ext cx="2428876" cy="507831"/>
          </a:xfrm>
          <a:prstGeom prst="rect">
            <a:avLst/>
          </a:prstGeom>
          <a:solidFill>
            <a:schemeClr val="accent1">
              <a:lumMod val="20000"/>
              <a:lumOff val="80000"/>
            </a:schemeClr>
          </a:solidFill>
        </p:spPr>
        <p:txBody>
          <a:bodyPr wrap="square" rtlCol="0">
            <a:spAutoFit/>
          </a:bodyPr>
          <a:lstStyle/>
          <a:p>
            <a:r>
              <a:rPr lang="fr-MA" sz="1350"/>
              <a:t>Abderrahim.larhlimi@uhp.ac.ma</a:t>
            </a:r>
            <a:endParaRPr lang="fr-MA" sz="1350" dirty="0"/>
          </a:p>
        </p:txBody>
      </p:sp>
    </p:spTree>
    <p:extLst>
      <p:ext uri="{BB962C8B-B14F-4D97-AF65-F5344CB8AC3E}">
        <p14:creationId xmlns:p14="http://schemas.microsoft.com/office/powerpoint/2010/main" val="26370642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C8DAC0DB-3B6B-95AC-B876-DC2A6EA51421}"/>
              </a:ext>
            </a:extLst>
          </p:cNvPr>
          <p:cNvPicPr>
            <a:picLocks noChangeAspect="1"/>
          </p:cNvPicPr>
          <p:nvPr/>
        </p:nvPicPr>
        <p:blipFill>
          <a:blip r:embed="rId2"/>
          <a:stretch>
            <a:fillRect/>
          </a:stretch>
        </p:blipFill>
        <p:spPr>
          <a:xfrm>
            <a:off x="714375" y="0"/>
            <a:ext cx="7715250" cy="5143500"/>
          </a:xfrm>
          <a:prstGeom prst="rect">
            <a:avLst/>
          </a:prstGeom>
        </p:spPr>
      </p:pic>
    </p:spTree>
    <p:extLst>
      <p:ext uri="{BB962C8B-B14F-4D97-AF65-F5344CB8AC3E}">
        <p14:creationId xmlns:p14="http://schemas.microsoft.com/office/powerpoint/2010/main" val="5100702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Espace réservé pour une image  2">
            <a:extLst>
              <a:ext uri="{FF2B5EF4-FFF2-40B4-BE49-F238E27FC236}">
                <a16:creationId xmlns:a16="http://schemas.microsoft.com/office/drawing/2014/main" id="{39B85A85-5651-2DB3-2787-A9EB5AE5C280}"/>
              </a:ext>
            </a:extLst>
          </p:cNvPr>
          <p:cNvPicPr>
            <a:picLocks noGrp="1" noChangeAspect="1"/>
          </p:cNvPicPr>
          <p:nvPr>
            <p:ph type="pic" sz="quarter" idx="12"/>
          </p:nvPr>
        </p:nvPicPr>
        <p:blipFill>
          <a:blip r:embed="rId2"/>
          <a:srcRect t="24378" b="24378"/>
          <a:stretch>
            <a:fillRect/>
          </a:stretch>
        </p:blipFill>
        <p:spPr/>
      </p:pic>
      <p:sp>
        <p:nvSpPr>
          <p:cNvPr id="5" name="Title 4">
            <a:extLst>
              <a:ext uri="{FF2B5EF4-FFF2-40B4-BE49-F238E27FC236}">
                <a16:creationId xmlns:a16="http://schemas.microsoft.com/office/drawing/2014/main" id="{C548803F-31BB-B144-4058-44EA9B461BFC}"/>
              </a:ext>
            </a:extLst>
          </p:cNvPr>
          <p:cNvSpPr>
            <a:spLocks noGrp="1"/>
          </p:cNvSpPr>
          <p:nvPr>
            <p:ph type="title"/>
          </p:nvPr>
        </p:nvSpPr>
        <p:spPr/>
        <p:txBody>
          <a:bodyPr/>
          <a:lstStyle/>
          <a:p>
            <a:r>
              <a:rPr lang="fr-FR"/>
              <a:t>Bases de Données et Data Science</a:t>
            </a:r>
            <a:endParaRPr lang="en-US" dirty="0"/>
          </a:p>
        </p:txBody>
      </p:sp>
      <p:sp>
        <p:nvSpPr>
          <p:cNvPr id="7" name="Text Placeholder 6">
            <a:extLst>
              <a:ext uri="{FF2B5EF4-FFF2-40B4-BE49-F238E27FC236}">
                <a16:creationId xmlns:a16="http://schemas.microsoft.com/office/drawing/2014/main" id="{69FAB94C-C409-7ED3-872B-13CD53D70DE5}"/>
              </a:ext>
            </a:extLst>
          </p:cNvPr>
          <p:cNvSpPr>
            <a:spLocks noGrp="1"/>
          </p:cNvSpPr>
          <p:nvPr>
            <p:ph type="body" idx="24"/>
          </p:nvPr>
        </p:nvSpPr>
        <p:spPr/>
        <p:txBody>
          <a:bodyPr/>
          <a:lstStyle/>
          <a:p>
            <a:r>
              <a:rPr lang="fr-FR"/>
              <a:t>Exploration des fondamentaux et de l'impact de la Data Science.</a:t>
            </a:r>
            <a:endParaRPr lang="en-US"/>
          </a:p>
        </p:txBody>
      </p:sp>
      <p:sp>
        <p:nvSpPr>
          <p:cNvPr id="2" name="Name Date Placeholder">
            <a:extLst>
              <a:ext uri="{FF2B5EF4-FFF2-40B4-BE49-F238E27FC236}">
                <a16:creationId xmlns:a16="http://schemas.microsoft.com/office/drawing/2014/main" id="{14113312-3691-7D20-FA18-B0B4C090EC8E}"/>
              </a:ext>
            </a:extLst>
          </p:cNvPr>
          <p:cNvSpPr>
            <a:spLocks noGrp="1"/>
          </p:cNvSpPr>
          <p:nvPr>
            <p:ph type="body" idx="27"/>
          </p:nvPr>
        </p:nvSpPr>
        <p:spPr>
          <a:xfrm>
            <a:off x="1134317" y="439953"/>
            <a:ext cx="4760468" cy="155812"/>
          </a:xfrm>
        </p:spPr>
        <p:txBody>
          <a:bodyPr wrap="square" lIns="0" tIns="0" rIns="0" bIns="0" anchor="t" anchorCtr="0">
            <a:noAutofit/>
          </a:bodyPr>
          <a:lstStyle>
            <a:lvl1pPr marL="0" indent="0" algn="l">
              <a:buNone/>
              <a:defRPr sz="1350">
                <a:solidFill>
                  <a:schemeClr val="bg1">
                    <a:alpha val="50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CREATED BY: Your Name DATE: septembre-2025</a:t>
            </a:r>
            <a:endParaRPr lang="en-US" dirty="0"/>
          </a:p>
        </p:txBody>
      </p:sp>
    </p:spTree>
    <p:extLst>
      <p:ext uri="{BB962C8B-B14F-4D97-AF65-F5344CB8AC3E}">
        <p14:creationId xmlns:p14="http://schemas.microsoft.com/office/powerpoint/2010/main" val="3708763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Espace réservé pour une image  6">
            <a:extLst>
              <a:ext uri="{FF2B5EF4-FFF2-40B4-BE49-F238E27FC236}">
                <a16:creationId xmlns:a16="http://schemas.microsoft.com/office/drawing/2014/main" id="{0E4D3ABE-3C39-1EFC-C00A-0792638C1B80}"/>
              </a:ext>
            </a:extLst>
          </p:cNvPr>
          <p:cNvPicPr>
            <a:picLocks noGrp="1" noChangeAspect="1"/>
          </p:cNvPicPr>
          <p:nvPr>
            <p:ph type="pic" sz="quarter" idx="12"/>
          </p:nvPr>
        </p:nvPicPr>
        <p:blipFill>
          <a:blip r:embed="rId2"/>
          <a:srcRect t="15498" b="15498"/>
          <a:stretch>
            <a:fillRect/>
          </a:stretch>
        </p:blipFill>
        <p:spPr/>
      </p:pic>
      <p:sp>
        <p:nvSpPr>
          <p:cNvPr id="3" name="Espace réservé du texte 2">
            <a:extLst>
              <a:ext uri="{FF2B5EF4-FFF2-40B4-BE49-F238E27FC236}">
                <a16:creationId xmlns:a16="http://schemas.microsoft.com/office/drawing/2014/main" id="{1EB6A0C4-DA42-6D58-9EA5-5C9AA86CE11E}"/>
              </a:ext>
            </a:extLst>
          </p:cNvPr>
          <p:cNvSpPr>
            <a:spLocks noGrp="1"/>
          </p:cNvSpPr>
          <p:nvPr>
            <p:ph type="body" idx="25"/>
          </p:nvPr>
        </p:nvSpPr>
        <p:spPr/>
        <p:txBody>
          <a:bodyPr/>
          <a:lstStyle/>
          <a:p>
            <a:r>
              <a:rPr lang="fr-FR" dirty="0"/>
              <a:t>Les bases de données sont des systèmes structurés conçus pour recueillir, stocker et gérer des données de manière organisée et accessible, facilitant ainsi leur utilisation.</a:t>
            </a:r>
            <a:endParaRPr lang="fr-MA" dirty="0"/>
          </a:p>
        </p:txBody>
      </p:sp>
      <p:sp>
        <p:nvSpPr>
          <p:cNvPr id="4" name="Espace réservé du texte 3">
            <a:extLst>
              <a:ext uri="{FF2B5EF4-FFF2-40B4-BE49-F238E27FC236}">
                <a16:creationId xmlns:a16="http://schemas.microsoft.com/office/drawing/2014/main" id="{FB95549C-A784-3790-99F8-626D6A97C08D}"/>
              </a:ext>
            </a:extLst>
          </p:cNvPr>
          <p:cNvSpPr>
            <a:spLocks noGrp="1"/>
          </p:cNvSpPr>
          <p:nvPr>
            <p:ph type="body" idx="24"/>
          </p:nvPr>
        </p:nvSpPr>
        <p:spPr>
          <a:xfrm>
            <a:off x="521494" y="585844"/>
            <a:ext cx="4050506" cy="4611600"/>
          </a:xfrm>
        </p:spPr>
        <p:txBody>
          <a:bodyPr/>
          <a:lstStyle/>
          <a:p>
            <a:r>
              <a:rPr lang="fr-MA" dirty="0"/>
              <a:t>Définition</a:t>
            </a:r>
          </a:p>
        </p:txBody>
      </p:sp>
      <p:sp>
        <p:nvSpPr>
          <p:cNvPr id="5" name="Titre 4">
            <a:extLst>
              <a:ext uri="{FF2B5EF4-FFF2-40B4-BE49-F238E27FC236}">
                <a16:creationId xmlns:a16="http://schemas.microsoft.com/office/drawing/2014/main" id="{B809C9A1-4A3F-F003-F948-44FF9AFF702D}"/>
              </a:ext>
            </a:extLst>
          </p:cNvPr>
          <p:cNvSpPr>
            <a:spLocks noGrp="1"/>
          </p:cNvSpPr>
          <p:nvPr>
            <p:ph type="title"/>
          </p:nvPr>
        </p:nvSpPr>
        <p:spPr/>
        <p:txBody>
          <a:bodyPr/>
          <a:lstStyle/>
          <a:p>
            <a:r>
              <a:rPr lang="fr-FR" sz="1800" dirty="0"/>
              <a:t>Introduction aux Bases de Données</a:t>
            </a:r>
            <a:endParaRPr lang="fr-MA" sz="1800" dirty="0"/>
          </a:p>
        </p:txBody>
      </p:sp>
      <p:sp>
        <p:nvSpPr>
          <p:cNvPr id="6" name="Espace réservé du texte 5">
            <a:extLst>
              <a:ext uri="{FF2B5EF4-FFF2-40B4-BE49-F238E27FC236}">
                <a16:creationId xmlns:a16="http://schemas.microsoft.com/office/drawing/2014/main" id="{68C3B518-53F0-0527-F155-DB7456FF33FD}"/>
              </a:ext>
            </a:extLst>
          </p:cNvPr>
          <p:cNvSpPr>
            <a:spLocks noGrp="1"/>
          </p:cNvSpPr>
          <p:nvPr>
            <p:ph type="body" sz="quarter" idx="22"/>
          </p:nvPr>
        </p:nvSpPr>
        <p:spPr>
          <a:xfrm>
            <a:off x="1134317" y="439953"/>
            <a:ext cx="4752486" cy="891540"/>
          </a:xfrm>
        </p:spPr>
        <p:txBody>
          <a:bodyPr/>
          <a:lstStyle/>
          <a:p>
            <a:r>
              <a:rPr lang="fr-FR"/>
              <a:t>Bases de Données et Data Science</a:t>
            </a:r>
            <a:endParaRPr lang="fr-MA"/>
          </a:p>
        </p:txBody>
      </p:sp>
    </p:spTree>
    <p:extLst>
      <p:ext uri="{BB962C8B-B14F-4D97-AF65-F5344CB8AC3E}">
        <p14:creationId xmlns:p14="http://schemas.microsoft.com/office/powerpoint/2010/main" val="1834698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54D8048E-6233-1E54-EE85-A279CCF18744}"/>
              </a:ext>
            </a:extLst>
          </p:cNvPr>
          <p:cNvSpPr>
            <a:spLocks noGrp="1"/>
          </p:cNvSpPr>
          <p:nvPr>
            <p:ph type="body" idx="25"/>
          </p:nvPr>
        </p:nvSpPr>
        <p:spPr/>
        <p:txBody>
          <a:bodyPr/>
          <a:lstStyle/>
          <a:p>
            <a:r>
              <a:rPr lang="fr-FR"/>
              <a:t>Les bases de données relationnelles structurent les données sous forme de tables. Elles permettent d'effectuer des requêtes complexes via SQL. Exemples notables incluent MySQL et PostgreSQL.</a:t>
            </a:r>
            <a:endParaRPr lang="fr-MA"/>
          </a:p>
        </p:txBody>
      </p:sp>
      <p:sp>
        <p:nvSpPr>
          <p:cNvPr id="3" name="Espace réservé du texte 2">
            <a:extLst>
              <a:ext uri="{FF2B5EF4-FFF2-40B4-BE49-F238E27FC236}">
                <a16:creationId xmlns:a16="http://schemas.microsoft.com/office/drawing/2014/main" id="{5EA78487-82A2-FF65-F7CF-8EB90B306A78}"/>
              </a:ext>
            </a:extLst>
          </p:cNvPr>
          <p:cNvSpPr>
            <a:spLocks noGrp="1"/>
          </p:cNvSpPr>
          <p:nvPr>
            <p:ph type="body" idx="24"/>
          </p:nvPr>
        </p:nvSpPr>
        <p:spPr>
          <a:xfrm>
            <a:off x="4652962" y="2093121"/>
            <a:ext cx="4050506" cy="4611600"/>
          </a:xfrm>
        </p:spPr>
        <p:txBody>
          <a:bodyPr/>
          <a:lstStyle/>
          <a:p>
            <a:r>
              <a:rPr lang="fr-MA"/>
              <a:t>Bases Relationnelles</a:t>
            </a:r>
          </a:p>
        </p:txBody>
      </p:sp>
      <p:sp>
        <p:nvSpPr>
          <p:cNvPr id="4" name="Espace réservé du texte 3">
            <a:extLst>
              <a:ext uri="{FF2B5EF4-FFF2-40B4-BE49-F238E27FC236}">
                <a16:creationId xmlns:a16="http://schemas.microsoft.com/office/drawing/2014/main" id="{8829584E-C17D-5929-AC4D-714510267512}"/>
              </a:ext>
            </a:extLst>
          </p:cNvPr>
          <p:cNvSpPr>
            <a:spLocks noGrp="1"/>
          </p:cNvSpPr>
          <p:nvPr>
            <p:ph type="body" idx="26"/>
          </p:nvPr>
        </p:nvSpPr>
        <p:spPr/>
        <p:txBody>
          <a:bodyPr/>
          <a:lstStyle/>
          <a:p>
            <a:r>
              <a:rPr lang="fr-FR"/>
              <a:t>Les bases de données non relationnelles stockent des données diverses telles que des documents ou des paires clé-valeur. Des exemples majeurs sont MongoDB et Cassandra, qui offrent flexibilité et évolutivité.</a:t>
            </a:r>
            <a:endParaRPr lang="fr-MA"/>
          </a:p>
        </p:txBody>
      </p:sp>
      <p:sp>
        <p:nvSpPr>
          <p:cNvPr id="5" name="Espace réservé du texte 4">
            <a:extLst>
              <a:ext uri="{FF2B5EF4-FFF2-40B4-BE49-F238E27FC236}">
                <a16:creationId xmlns:a16="http://schemas.microsoft.com/office/drawing/2014/main" id="{DC28A13E-6672-6B65-A97F-1A3609832F73}"/>
              </a:ext>
            </a:extLst>
          </p:cNvPr>
          <p:cNvSpPr>
            <a:spLocks noGrp="1"/>
          </p:cNvSpPr>
          <p:nvPr>
            <p:ph type="body" idx="27"/>
          </p:nvPr>
        </p:nvSpPr>
        <p:spPr>
          <a:xfrm>
            <a:off x="440532" y="2093288"/>
            <a:ext cx="4050506" cy="4611600"/>
          </a:xfrm>
        </p:spPr>
        <p:txBody>
          <a:bodyPr/>
          <a:lstStyle/>
          <a:p>
            <a:r>
              <a:rPr lang="fr-MA"/>
              <a:t>Bases Non Relationnelles</a:t>
            </a:r>
          </a:p>
        </p:txBody>
      </p:sp>
      <p:sp>
        <p:nvSpPr>
          <p:cNvPr id="6" name="Titre 5">
            <a:extLst>
              <a:ext uri="{FF2B5EF4-FFF2-40B4-BE49-F238E27FC236}">
                <a16:creationId xmlns:a16="http://schemas.microsoft.com/office/drawing/2014/main" id="{9674BF74-3548-EEF7-BB66-4E065E3B27C8}"/>
              </a:ext>
            </a:extLst>
          </p:cNvPr>
          <p:cNvSpPr>
            <a:spLocks noGrp="1"/>
          </p:cNvSpPr>
          <p:nvPr>
            <p:ph type="title"/>
          </p:nvPr>
        </p:nvSpPr>
        <p:spPr/>
        <p:txBody>
          <a:bodyPr/>
          <a:lstStyle/>
          <a:p>
            <a:r>
              <a:rPr lang="fr-FR" dirty="0"/>
              <a:t>Types de Bases de Données</a:t>
            </a:r>
            <a:endParaRPr lang="fr-MA" dirty="0"/>
          </a:p>
        </p:txBody>
      </p:sp>
      <p:sp>
        <p:nvSpPr>
          <p:cNvPr id="7" name="Espace réservé du texte 6">
            <a:extLst>
              <a:ext uri="{FF2B5EF4-FFF2-40B4-BE49-F238E27FC236}">
                <a16:creationId xmlns:a16="http://schemas.microsoft.com/office/drawing/2014/main" id="{1A6ED8B4-B467-C3F0-EF2B-F41E3B9EB3ED}"/>
              </a:ext>
            </a:extLst>
          </p:cNvPr>
          <p:cNvSpPr>
            <a:spLocks noGrp="1"/>
          </p:cNvSpPr>
          <p:nvPr>
            <p:ph type="body" sz="quarter" idx="22"/>
          </p:nvPr>
        </p:nvSpPr>
        <p:spPr>
          <a:xfrm>
            <a:off x="1134317" y="439953"/>
            <a:ext cx="4752486" cy="891540"/>
          </a:xfrm>
        </p:spPr>
        <p:txBody>
          <a:bodyPr/>
          <a:lstStyle/>
          <a:p>
            <a:r>
              <a:rPr lang="fr-FR"/>
              <a:t>Bases de Données et Data Science</a:t>
            </a:r>
            <a:endParaRPr lang="fr-MA"/>
          </a:p>
        </p:txBody>
      </p:sp>
    </p:spTree>
    <p:extLst>
      <p:ext uri="{BB962C8B-B14F-4D97-AF65-F5344CB8AC3E}">
        <p14:creationId xmlns:p14="http://schemas.microsoft.com/office/powerpoint/2010/main" val="1189285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D4D81842-48A4-F768-387A-A05FE8F3FB98}"/>
              </a:ext>
            </a:extLst>
          </p:cNvPr>
          <p:cNvSpPr>
            <a:spLocks noGrp="1"/>
          </p:cNvSpPr>
          <p:nvPr>
            <p:ph type="body" idx="25"/>
          </p:nvPr>
        </p:nvSpPr>
        <p:spPr/>
        <p:txBody>
          <a:bodyPr/>
          <a:lstStyle/>
          <a:p>
            <a:r>
              <a:rPr lang="fr-FR"/>
              <a:t>Rassembler des données pertinentes à partir de divers sources comme des bases de données ou des API.</a:t>
            </a:r>
            <a:endParaRPr lang="fr-MA"/>
          </a:p>
        </p:txBody>
      </p:sp>
      <p:sp>
        <p:nvSpPr>
          <p:cNvPr id="3" name="Espace réservé du texte 2">
            <a:extLst>
              <a:ext uri="{FF2B5EF4-FFF2-40B4-BE49-F238E27FC236}">
                <a16:creationId xmlns:a16="http://schemas.microsoft.com/office/drawing/2014/main" id="{7FEC402E-3B5E-D314-B6CD-EFCE3D9F0B0E}"/>
              </a:ext>
            </a:extLst>
          </p:cNvPr>
          <p:cNvSpPr>
            <a:spLocks noGrp="1"/>
          </p:cNvSpPr>
          <p:nvPr>
            <p:ph type="body" idx="24"/>
          </p:nvPr>
        </p:nvSpPr>
        <p:spPr>
          <a:xfrm>
            <a:off x="440530" y="3834730"/>
            <a:ext cx="2646761" cy="4611600"/>
          </a:xfrm>
        </p:spPr>
        <p:txBody>
          <a:bodyPr/>
          <a:lstStyle/>
          <a:p>
            <a:r>
              <a:rPr lang="fr-MA"/>
              <a:t>Collecte</a:t>
            </a:r>
          </a:p>
        </p:txBody>
      </p:sp>
      <p:sp>
        <p:nvSpPr>
          <p:cNvPr id="4" name="Espace réservé du texte 3">
            <a:extLst>
              <a:ext uri="{FF2B5EF4-FFF2-40B4-BE49-F238E27FC236}">
                <a16:creationId xmlns:a16="http://schemas.microsoft.com/office/drawing/2014/main" id="{23DF1948-ABB6-8A8F-0365-459EBDB2853A}"/>
              </a:ext>
            </a:extLst>
          </p:cNvPr>
          <p:cNvSpPr>
            <a:spLocks noGrp="1"/>
          </p:cNvSpPr>
          <p:nvPr>
            <p:ph type="body" idx="26"/>
          </p:nvPr>
        </p:nvSpPr>
        <p:spPr/>
        <p:txBody>
          <a:bodyPr/>
          <a:lstStyle/>
          <a:p>
            <a:r>
              <a:rPr lang="fr-FR"/>
              <a:t>Préparer les données en éliminant duplications et valeurs manquantes pour garantir leur qualité.</a:t>
            </a:r>
            <a:endParaRPr lang="fr-MA"/>
          </a:p>
        </p:txBody>
      </p:sp>
      <p:sp>
        <p:nvSpPr>
          <p:cNvPr id="5" name="Espace réservé du texte 4">
            <a:extLst>
              <a:ext uri="{FF2B5EF4-FFF2-40B4-BE49-F238E27FC236}">
                <a16:creationId xmlns:a16="http://schemas.microsoft.com/office/drawing/2014/main" id="{6E5D7EEA-A933-BA34-673D-66211A5F1D0F}"/>
              </a:ext>
            </a:extLst>
          </p:cNvPr>
          <p:cNvSpPr>
            <a:spLocks noGrp="1"/>
          </p:cNvSpPr>
          <p:nvPr>
            <p:ph type="body" idx="27"/>
          </p:nvPr>
        </p:nvSpPr>
        <p:spPr>
          <a:xfrm>
            <a:off x="3249291" y="3832927"/>
            <a:ext cx="2646761" cy="4611600"/>
          </a:xfrm>
        </p:spPr>
        <p:txBody>
          <a:bodyPr/>
          <a:lstStyle/>
          <a:p>
            <a:r>
              <a:rPr lang="fr-MA"/>
              <a:t>Nettoyage</a:t>
            </a:r>
          </a:p>
        </p:txBody>
      </p:sp>
      <p:sp>
        <p:nvSpPr>
          <p:cNvPr id="6" name="Espace réservé du texte 5">
            <a:extLst>
              <a:ext uri="{FF2B5EF4-FFF2-40B4-BE49-F238E27FC236}">
                <a16:creationId xmlns:a16="http://schemas.microsoft.com/office/drawing/2014/main" id="{31B010C8-60FF-E637-272C-7BBD63F806B4}"/>
              </a:ext>
            </a:extLst>
          </p:cNvPr>
          <p:cNvSpPr>
            <a:spLocks noGrp="1"/>
          </p:cNvSpPr>
          <p:nvPr>
            <p:ph type="body" idx="28"/>
          </p:nvPr>
        </p:nvSpPr>
        <p:spPr/>
        <p:txBody>
          <a:bodyPr/>
          <a:lstStyle/>
          <a:p>
            <a:r>
              <a:rPr lang="fr-FR"/>
              <a:t>Créer des modèles algorithmiques visant à extraire des informations significatives des données.</a:t>
            </a:r>
            <a:endParaRPr lang="fr-MA"/>
          </a:p>
        </p:txBody>
      </p:sp>
      <p:sp>
        <p:nvSpPr>
          <p:cNvPr id="7" name="Espace réservé du texte 6">
            <a:extLst>
              <a:ext uri="{FF2B5EF4-FFF2-40B4-BE49-F238E27FC236}">
                <a16:creationId xmlns:a16="http://schemas.microsoft.com/office/drawing/2014/main" id="{7D5AE852-946F-4E72-05AD-BBC90429C001}"/>
              </a:ext>
            </a:extLst>
          </p:cNvPr>
          <p:cNvSpPr>
            <a:spLocks noGrp="1"/>
          </p:cNvSpPr>
          <p:nvPr>
            <p:ph type="body" idx="29"/>
          </p:nvPr>
        </p:nvSpPr>
        <p:spPr>
          <a:xfrm>
            <a:off x="6056710" y="3831328"/>
            <a:ext cx="2646761" cy="4611600"/>
          </a:xfrm>
        </p:spPr>
        <p:txBody>
          <a:bodyPr/>
          <a:lstStyle/>
          <a:p>
            <a:r>
              <a:rPr lang="fr-MA"/>
              <a:t>Modélisation</a:t>
            </a:r>
          </a:p>
        </p:txBody>
      </p:sp>
      <p:sp>
        <p:nvSpPr>
          <p:cNvPr id="8" name="Titre 7">
            <a:extLst>
              <a:ext uri="{FF2B5EF4-FFF2-40B4-BE49-F238E27FC236}">
                <a16:creationId xmlns:a16="http://schemas.microsoft.com/office/drawing/2014/main" id="{274B702C-2A48-0DA4-A108-E1930546CED4}"/>
              </a:ext>
            </a:extLst>
          </p:cNvPr>
          <p:cNvSpPr>
            <a:spLocks noGrp="1"/>
          </p:cNvSpPr>
          <p:nvPr>
            <p:ph type="title"/>
          </p:nvPr>
        </p:nvSpPr>
        <p:spPr/>
        <p:txBody>
          <a:bodyPr/>
          <a:lstStyle/>
          <a:p>
            <a:r>
              <a:rPr lang="fr-MA"/>
              <a:t>Processus de Data Science</a:t>
            </a:r>
          </a:p>
        </p:txBody>
      </p:sp>
      <p:sp>
        <p:nvSpPr>
          <p:cNvPr id="9" name="Espace réservé du texte 8">
            <a:extLst>
              <a:ext uri="{FF2B5EF4-FFF2-40B4-BE49-F238E27FC236}">
                <a16:creationId xmlns:a16="http://schemas.microsoft.com/office/drawing/2014/main" id="{980AB4BE-58BD-6B3B-75EF-C2B27192F3A6}"/>
              </a:ext>
            </a:extLst>
          </p:cNvPr>
          <p:cNvSpPr>
            <a:spLocks noGrp="1"/>
          </p:cNvSpPr>
          <p:nvPr>
            <p:ph type="body" sz="quarter" idx="22"/>
          </p:nvPr>
        </p:nvSpPr>
        <p:spPr>
          <a:xfrm>
            <a:off x="1134317" y="439953"/>
            <a:ext cx="4752486" cy="891540"/>
          </a:xfrm>
        </p:spPr>
        <p:txBody>
          <a:bodyPr/>
          <a:lstStyle/>
          <a:p>
            <a:r>
              <a:rPr lang="fr-FR"/>
              <a:t>Bases de Données et Data Science</a:t>
            </a:r>
            <a:endParaRPr lang="fr-MA"/>
          </a:p>
        </p:txBody>
      </p:sp>
    </p:spTree>
    <p:extLst>
      <p:ext uri="{BB962C8B-B14F-4D97-AF65-F5344CB8AC3E}">
        <p14:creationId xmlns:p14="http://schemas.microsoft.com/office/powerpoint/2010/main" val="2557214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 coins arrondis 6">
            <a:extLst>
              <a:ext uri="{FF2B5EF4-FFF2-40B4-BE49-F238E27FC236}">
                <a16:creationId xmlns:a16="http://schemas.microsoft.com/office/drawing/2014/main" id="{CB0FCB50-5BD5-4859-9B49-723F30AD2F72}"/>
              </a:ext>
            </a:extLst>
          </p:cNvPr>
          <p:cNvSpPr/>
          <p:nvPr/>
        </p:nvSpPr>
        <p:spPr>
          <a:xfrm>
            <a:off x="6056710" y="982055"/>
            <a:ext cx="2646758" cy="3723300"/>
          </a:xfrm>
          <a:prstGeom prst="roundRect">
            <a:avLst/>
          </a:prstGeom>
          <a:solidFill>
            <a:srgbClr val="E4E5DF">
              <a:alpha val="10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MA" sz="1350"/>
          </a:p>
        </p:txBody>
      </p:sp>
      <p:graphicFrame>
        <p:nvGraphicFramePr>
          <p:cNvPr id="2" name="Chart 0"/>
          <p:cNvGraphicFramePr/>
          <p:nvPr/>
        </p:nvGraphicFramePr>
        <p:xfrm>
          <a:off x="438912" y="2121408"/>
          <a:ext cx="5449824" cy="2587752"/>
        </p:xfrm>
        <a:graphic>
          <a:graphicData uri="http://schemas.openxmlformats.org/drawingml/2006/chart">
            <c:chart xmlns:c="http://schemas.openxmlformats.org/drawingml/2006/chart" xmlns:r="http://schemas.openxmlformats.org/officeDocument/2006/relationships" r:id="rId3"/>
          </a:graphicData>
        </a:graphic>
      </p:graphicFrame>
      <p:sp>
        <p:nvSpPr>
          <p:cNvPr id="3" name="ZoneTexte 2">
            <a:extLst>
              <a:ext uri="{FF2B5EF4-FFF2-40B4-BE49-F238E27FC236}">
                <a16:creationId xmlns:a16="http://schemas.microsoft.com/office/drawing/2014/main" id="{38360478-A01D-4D1D-A6D8-4E0610B6F18A}"/>
              </a:ext>
            </a:extLst>
          </p:cNvPr>
          <p:cNvSpPr txBox="1"/>
          <p:nvPr/>
        </p:nvSpPr>
        <p:spPr>
          <a:xfrm>
            <a:off x="447906" y="1332920"/>
            <a:ext cx="5446879" cy="646331"/>
          </a:xfrm>
          <a:prstGeom prst="rect">
            <a:avLst/>
          </a:prstGeom>
          <a:noFill/>
        </p:spPr>
        <p:txBody>
          <a:bodyPr vertOverflow="overflow" vert="horz" wrap="square" lIns="0" rtlCol="0" anchor="b" anchorCtr="0">
            <a:spAutoFit/>
          </a:bodyPr>
          <a:lstStyle/>
          <a:p>
            <a:pPr algn="l"/>
            <a:r>
              <a:rPr lang="fr-MA" sz="3600">
                <a:solidFill>
                  <a:srgbClr val="353535"/>
                </a:solidFill>
                <a:latin typeface="Segoe UI Semilight"/>
                <a:cs typeface="Segoe UI Semilight"/>
              </a:rPr>
              <a:t>Techniques et Outils</a:t>
            </a:r>
          </a:p>
        </p:txBody>
      </p:sp>
      <p:sp>
        <p:nvSpPr>
          <p:cNvPr id="4" name="ZoneTexte 3">
            <a:extLst>
              <a:ext uri="{FF2B5EF4-FFF2-40B4-BE49-F238E27FC236}">
                <a16:creationId xmlns:a16="http://schemas.microsoft.com/office/drawing/2014/main" id="{0041232F-A2DD-445F-8BE7-DBA71349226B}"/>
              </a:ext>
            </a:extLst>
          </p:cNvPr>
          <p:cNvSpPr txBox="1"/>
          <p:nvPr/>
        </p:nvSpPr>
        <p:spPr>
          <a:xfrm>
            <a:off x="6056710" y="3603242"/>
            <a:ext cx="2646758" cy="323165"/>
          </a:xfrm>
          <a:prstGeom prst="rect">
            <a:avLst/>
          </a:prstGeom>
          <a:noFill/>
        </p:spPr>
        <p:txBody>
          <a:bodyPr vertOverflow="overflow" vert="horz" wrap="square" rtlCol="0" anchor="t" anchorCtr="0">
            <a:spAutoFit/>
          </a:bodyPr>
          <a:lstStyle/>
          <a:p>
            <a:pPr algn="l"/>
            <a:r>
              <a:rPr lang="fr-MA" sz="1500">
                <a:solidFill>
                  <a:srgbClr val="353535"/>
                </a:solidFill>
                <a:latin typeface="Segoe UI"/>
                <a:cs typeface="Segoe UI"/>
              </a:rPr>
              <a:t>Répartition des outils</a:t>
            </a:r>
          </a:p>
        </p:txBody>
      </p:sp>
      <p:sp>
        <p:nvSpPr>
          <p:cNvPr id="5" name="ZoneTexte 4">
            <a:extLst>
              <a:ext uri="{FF2B5EF4-FFF2-40B4-BE49-F238E27FC236}">
                <a16:creationId xmlns:a16="http://schemas.microsoft.com/office/drawing/2014/main" id="{F9474922-D2F6-416E-8E88-0072C1134094}"/>
              </a:ext>
            </a:extLst>
          </p:cNvPr>
          <p:cNvSpPr txBox="1"/>
          <p:nvPr/>
        </p:nvSpPr>
        <p:spPr>
          <a:xfrm>
            <a:off x="6056710" y="2716285"/>
            <a:ext cx="2646758" cy="871713"/>
          </a:xfrm>
          <a:prstGeom prst="rect">
            <a:avLst/>
          </a:prstGeom>
          <a:noFill/>
        </p:spPr>
        <p:txBody>
          <a:bodyPr vertOverflow="overflow" vert="horz" wrap="square" rtlCol="0" anchor="b" anchorCtr="0">
            <a:spAutoFit/>
          </a:bodyPr>
          <a:lstStyle/>
          <a:p>
            <a:pPr algn="l"/>
            <a:r>
              <a:rPr lang="fr-FR" sz="1013">
                <a:solidFill>
                  <a:srgbClr val="353535"/>
                </a:solidFill>
                <a:latin typeface="Segoe UI"/>
                <a:cs typeface="Segoe UI"/>
              </a:rPr>
              <a:t>Python est le principal outil avec 30 % d'utilisation, suivi de R (20 %) et SQL (20 %). TensorFlow et Scikit-Learn représentent chacun 15 %, facilitant des analyses avancées.</a:t>
            </a:r>
            <a:endParaRPr lang="fr-MA" sz="1013">
              <a:solidFill>
                <a:srgbClr val="353535"/>
              </a:solidFill>
              <a:latin typeface="Segoe UI"/>
              <a:cs typeface="Segoe UI"/>
            </a:endParaRPr>
          </a:p>
        </p:txBody>
      </p:sp>
      <p:sp>
        <p:nvSpPr>
          <p:cNvPr id="6" name="ZoneTexte 5">
            <a:extLst>
              <a:ext uri="{FF2B5EF4-FFF2-40B4-BE49-F238E27FC236}">
                <a16:creationId xmlns:a16="http://schemas.microsoft.com/office/drawing/2014/main" id="{DAB736BE-3C46-4808-B566-A8DE5257267A}"/>
              </a:ext>
            </a:extLst>
          </p:cNvPr>
          <p:cNvSpPr txBox="1"/>
          <p:nvPr/>
        </p:nvSpPr>
        <p:spPr>
          <a:xfrm>
            <a:off x="1134317" y="442839"/>
            <a:ext cx="4752486" cy="150041"/>
          </a:xfrm>
          <a:prstGeom prst="rect">
            <a:avLst/>
          </a:prstGeom>
          <a:noFill/>
        </p:spPr>
        <p:txBody>
          <a:bodyPr vertOverflow="overflow" vert="horz" wrap="square" lIns="0" tIns="0" rIns="0" bIns="0" rtlCol="0" anchor="ctr" anchorCtr="0">
            <a:spAutoFit/>
          </a:bodyPr>
          <a:lstStyle/>
          <a:p>
            <a:pPr algn="l"/>
            <a:r>
              <a:rPr lang="fr-FR" sz="975">
                <a:solidFill>
                  <a:srgbClr val="A5A5A5"/>
                </a:solidFill>
                <a:latin typeface="Segoe UI"/>
                <a:cs typeface="Segoe UI"/>
              </a:rPr>
              <a:t>Bases de Données et Data Science</a:t>
            </a:r>
            <a:endParaRPr lang="fr-MA" sz="975">
              <a:solidFill>
                <a:srgbClr val="A5A5A5"/>
              </a:solidFill>
              <a:latin typeface="Segoe UI"/>
              <a:cs typeface="Segoe UI"/>
            </a:endParaRPr>
          </a:p>
        </p:txBody>
      </p:sp>
      <p:sp>
        <p:nvSpPr>
          <p:cNvPr id="8" name="Ellipse 7">
            <a:extLst>
              <a:ext uri="{FF2B5EF4-FFF2-40B4-BE49-F238E27FC236}">
                <a16:creationId xmlns:a16="http://schemas.microsoft.com/office/drawing/2014/main" id="{C426405E-6A70-4053-A131-755241EB6AC6}"/>
              </a:ext>
            </a:extLst>
          </p:cNvPr>
          <p:cNvSpPr/>
          <p:nvPr/>
        </p:nvSpPr>
        <p:spPr>
          <a:xfrm>
            <a:off x="440531" y="456068"/>
            <a:ext cx="108000" cy="108000"/>
          </a:xfrm>
          <a:prstGeom prst="ellipse">
            <a:avLst/>
          </a:prstGeom>
          <a:solidFill>
            <a:srgbClr val="F92500">
              <a:alpha val="10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MA" sz="1350"/>
          </a:p>
        </p:txBody>
      </p:sp>
      <p:sp>
        <p:nvSpPr>
          <p:cNvPr id="9" name="Ellipse 8">
            <a:extLst>
              <a:ext uri="{FF2B5EF4-FFF2-40B4-BE49-F238E27FC236}">
                <a16:creationId xmlns:a16="http://schemas.microsoft.com/office/drawing/2014/main" id="{0B1F9A37-77F3-4B81-AF4D-46521E18B070}"/>
              </a:ext>
            </a:extLst>
          </p:cNvPr>
          <p:cNvSpPr/>
          <p:nvPr/>
        </p:nvSpPr>
        <p:spPr>
          <a:xfrm>
            <a:off x="671793" y="456068"/>
            <a:ext cx="108000" cy="108000"/>
          </a:xfrm>
          <a:prstGeom prst="ellipse">
            <a:avLst/>
          </a:prstGeom>
          <a:solidFill>
            <a:srgbClr val="353535">
              <a:alpha val="10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MA" sz="1350"/>
          </a:p>
        </p:txBody>
      </p:sp>
      <p:sp>
        <p:nvSpPr>
          <p:cNvPr id="10" name="Ellipse 9">
            <a:extLst>
              <a:ext uri="{FF2B5EF4-FFF2-40B4-BE49-F238E27FC236}">
                <a16:creationId xmlns:a16="http://schemas.microsoft.com/office/drawing/2014/main" id="{1CA0C44D-1F9D-4697-8FD2-7DC8DFA064F4}"/>
              </a:ext>
            </a:extLst>
          </p:cNvPr>
          <p:cNvSpPr/>
          <p:nvPr/>
        </p:nvSpPr>
        <p:spPr>
          <a:xfrm>
            <a:off x="903056" y="456068"/>
            <a:ext cx="108000" cy="108000"/>
          </a:xfrm>
          <a:prstGeom prst="ellipse">
            <a:avLst/>
          </a:prstGeom>
          <a:solidFill>
            <a:srgbClr val="E4E5DF">
              <a:alpha val="10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MA" sz="1350"/>
          </a:p>
        </p:txBody>
      </p:sp>
      <p:sp>
        <p:nvSpPr>
          <p:cNvPr id="11" name="Ellipse 10">
            <a:extLst>
              <a:ext uri="{FF2B5EF4-FFF2-40B4-BE49-F238E27FC236}">
                <a16:creationId xmlns:a16="http://schemas.microsoft.com/office/drawing/2014/main" id="{9F73C535-C56B-48E1-B50F-30AFE84AC198}"/>
              </a:ext>
            </a:extLst>
          </p:cNvPr>
          <p:cNvSpPr/>
          <p:nvPr/>
        </p:nvSpPr>
        <p:spPr>
          <a:xfrm>
            <a:off x="6218633" y="1129493"/>
            <a:ext cx="324000" cy="324000"/>
          </a:xfrm>
          <a:prstGeom prst="ellipse">
            <a:avLst/>
          </a:prstGeom>
          <a:solidFill>
            <a:srgbClr val="F92500">
              <a:alpha val="10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MA" sz="1350"/>
          </a:p>
        </p:txBody>
      </p:sp>
      <p:pic>
        <p:nvPicPr>
          <p:cNvPr id="12" name="Image 11">
            <a:extLst>
              <a:ext uri="{FF2B5EF4-FFF2-40B4-BE49-F238E27FC236}">
                <a16:creationId xmlns:a16="http://schemas.microsoft.com/office/drawing/2014/main" id="{FF63FDFE-BE1E-52BC-BF40-C5A95657B5BE}"/>
              </a:ext>
            </a:extLst>
          </p:cNvPr>
          <p:cNvPicPr>
            <a:picLocks/>
          </p:cNvPicPr>
          <p:nvPr/>
        </p:nvPicPr>
        <p:blipFill>
          <a:blip r:embed="rId4"/>
          <a:stretch>
            <a:fillRect/>
          </a:stretch>
        </p:blipFill>
        <p:spPr>
          <a:xfrm>
            <a:off x="6218634" y="1128831"/>
            <a:ext cx="324000" cy="32399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96F70A-D79F-1714-33CC-77CCAB84B8C9}"/>
              </a:ext>
            </a:extLst>
          </p:cNvPr>
          <p:cNvSpPr>
            <a:spLocks noGrp="1"/>
          </p:cNvSpPr>
          <p:nvPr>
            <p:ph type="title"/>
          </p:nvPr>
        </p:nvSpPr>
        <p:spPr/>
        <p:txBody>
          <a:bodyPr/>
          <a:lstStyle/>
          <a:p>
            <a:r>
              <a:rPr lang="fr-MA"/>
              <a:t>Évolution du Domaine</a:t>
            </a:r>
          </a:p>
        </p:txBody>
      </p:sp>
      <p:sp>
        <p:nvSpPr>
          <p:cNvPr id="3" name="Espace réservé du texte 2">
            <a:extLst>
              <a:ext uri="{FF2B5EF4-FFF2-40B4-BE49-F238E27FC236}">
                <a16:creationId xmlns:a16="http://schemas.microsoft.com/office/drawing/2014/main" id="{02508A32-330B-96BC-D6EE-817886D6058E}"/>
              </a:ext>
            </a:extLst>
          </p:cNvPr>
          <p:cNvSpPr>
            <a:spLocks noGrp="1"/>
          </p:cNvSpPr>
          <p:nvPr>
            <p:ph type="body" idx="35"/>
          </p:nvPr>
        </p:nvSpPr>
        <p:spPr/>
        <p:txBody>
          <a:bodyPr/>
          <a:lstStyle/>
          <a:p>
            <a:r>
              <a:rPr lang="fr-MA"/>
              <a:t>1970</a:t>
            </a:r>
          </a:p>
        </p:txBody>
      </p:sp>
      <p:sp>
        <p:nvSpPr>
          <p:cNvPr id="4" name="Espace réservé du texte 3">
            <a:extLst>
              <a:ext uri="{FF2B5EF4-FFF2-40B4-BE49-F238E27FC236}">
                <a16:creationId xmlns:a16="http://schemas.microsoft.com/office/drawing/2014/main" id="{E7104D5A-874D-B488-4045-221C20FD7490}"/>
              </a:ext>
            </a:extLst>
          </p:cNvPr>
          <p:cNvSpPr>
            <a:spLocks noGrp="1"/>
          </p:cNvSpPr>
          <p:nvPr>
            <p:ph type="body" idx="36"/>
          </p:nvPr>
        </p:nvSpPr>
        <p:spPr/>
        <p:txBody>
          <a:bodyPr/>
          <a:lstStyle/>
          <a:p>
            <a:r>
              <a:rPr lang="fr-FR"/>
              <a:t>Les bases de données relationnelles sont conceptualisées.</a:t>
            </a:r>
            <a:endParaRPr lang="fr-MA"/>
          </a:p>
        </p:txBody>
      </p:sp>
      <p:sp>
        <p:nvSpPr>
          <p:cNvPr id="5" name="Espace réservé du texte 4">
            <a:extLst>
              <a:ext uri="{FF2B5EF4-FFF2-40B4-BE49-F238E27FC236}">
                <a16:creationId xmlns:a16="http://schemas.microsoft.com/office/drawing/2014/main" id="{814B4910-0533-7F52-F7D0-DAA7B641C8CF}"/>
              </a:ext>
            </a:extLst>
          </p:cNvPr>
          <p:cNvSpPr>
            <a:spLocks noGrp="1"/>
          </p:cNvSpPr>
          <p:nvPr>
            <p:ph type="body" idx="37"/>
          </p:nvPr>
        </p:nvSpPr>
        <p:spPr/>
        <p:txBody>
          <a:bodyPr/>
          <a:lstStyle/>
          <a:p>
            <a:r>
              <a:rPr lang="fr-MA"/>
              <a:t>Naissance</a:t>
            </a:r>
          </a:p>
        </p:txBody>
      </p:sp>
      <p:sp>
        <p:nvSpPr>
          <p:cNvPr id="6" name="Espace réservé du texte 5">
            <a:extLst>
              <a:ext uri="{FF2B5EF4-FFF2-40B4-BE49-F238E27FC236}">
                <a16:creationId xmlns:a16="http://schemas.microsoft.com/office/drawing/2014/main" id="{921CEE04-698F-ADC6-E167-9C3F1E9E4D70}"/>
              </a:ext>
            </a:extLst>
          </p:cNvPr>
          <p:cNvSpPr>
            <a:spLocks noGrp="1"/>
          </p:cNvSpPr>
          <p:nvPr>
            <p:ph type="body" idx="39"/>
          </p:nvPr>
        </p:nvSpPr>
        <p:spPr/>
        <p:txBody>
          <a:bodyPr/>
          <a:lstStyle/>
          <a:p>
            <a:r>
              <a:rPr lang="fr-FR"/>
              <a:t>L'émergence de l'Internet transforme la façon dont les données sont partagées.</a:t>
            </a:r>
            <a:endParaRPr lang="fr-MA"/>
          </a:p>
        </p:txBody>
      </p:sp>
      <p:sp>
        <p:nvSpPr>
          <p:cNvPr id="7" name="Espace réservé du texte 6">
            <a:extLst>
              <a:ext uri="{FF2B5EF4-FFF2-40B4-BE49-F238E27FC236}">
                <a16:creationId xmlns:a16="http://schemas.microsoft.com/office/drawing/2014/main" id="{9CC692CC-619F-8D25-7266-96424B0BA215}"/>
              </a:ext>
            </a:extLst>
          </p:cNvPr>
          <p:cNvSpPr>
            <a:spLocks noGrp="1"/>
          </p:cNvSpPr>
          <p:nvPr>
            <p:ph type="body" idx="40"/>
          </p:nvPr>
        </p:nvSpPr>
        <p:spPr/>
        <p:txBody>
          <a:bodyPr/>
          <a:lstStyle/>
          <a:p>
            <a:r>
              <a:rPr lang="fr-MA"/>
              <a:t>Web</a:t>
            </a:r>
          </a:p>
        </p:txBody>
      </p:sp>
      <p:sp>
        <p:nvSpPr>
          <p:cNvPr id="8" name="Espace réservé du texte 7">
            <a:extLst>
              <a:ext uri="{FF2B5EF4-FFF2-40B4-BE49-F238E27FC236}">
                <a16:creationId xmlns:a16="http://schemas.microsoft.com/office/drawing/2014/main" id="{356CD4AD-1B33-2F34-6CD2-D3269A0692BE}"/>
              </a:ext>
            </a:extLst>
          </p:cNvPr>
          <p:cNvSpPr>
            <a:spLocks noGrp="1"/>
          </p:cNvSpPr>
          <p:nvPr>
            <p:ph type="body" idx="42"/>
          </p:nvPr>
        </p:nvSpPr>
        <p:spPr/>
        <p:txBody>
          <a:bodyPr/>
          <a:lstStyle/>
          <a:p>
            <a:r>
              <a:rPr lang="fr-FR"/>
              <a:t>L'augmentation massive des données nécessite de nouveaux outils.</a:t>
            </a:r>
            <a:endParaRPr lang="fr-MA"/>
          </a:p>
        </p:txBody>
      </p:sp>
      <p:sp>
        <p:nvSpPr>
          <p:cNvPr id="9" name="Espace réservé du texte 8">
            <a:extLst>
              <a:ext uri="{FF2B5EF4-FFF2-40B4-BE49-F238E27FC236}">
                <a16:creationId xmlns:a16="http://schemas.microsoft.com/office/drawing/2014/main" id="{6F89F8BB-5E20-65E3-506C-21587B2DD4A1}"/>
              </a:ext>
            </a:extLst>
          </p:cNvPr>
          <p:cNvSpPr>
            <a:spLocks noGrp="1"/>
          </p:cNvSpPr>
          <p:nvPr>
            <p:ph type="body" idx="43"/>
          </p:nvPr>
        </p:nvSpPr>
        <p:spPr/>
        <p:txBody>
          <a:bodyPr/>
          <a:lstStyle/>
          <a:p>
            <a:r>
              <a:rPr lang="fr-MA"/>
              <a:t>Big Data</a:t>
            </a:r>
          </a:p>
        </p:txBody>
      </p:sp>
      <p:sp>
        <p:nvSpPr>
          <p:cNvPr id="10" name="Espace réservé du texte 9">
            <a:extLst>
              <a:ext uri="{FF2B5EF4-FFF2-40B4-BE49-F238E27FC236}">
                <a16:creationId xmlns:a16="http://schemas.microsoft.com/office/drawing/2014/main" id="{D8A482B6-72B6-ED5E-873C-5D3182DAD9EA}"/>
              </a:ext>
            </a:extLst>
          </p:cNvPr>
          <p:cNvSpPr>
            <a:spLocks noGrp="1"/>
          </p:cNvSpPr>
          <p:nvPr>
            <p:ph type="body" idx="44"/>
          </p:nvPr>
        </p:nvSpPr>
        <p:spPr/>
        <p:txBody>
          <a:bodyPr/>
          <a:lstStyle/>
          <a:p>
            <a:r>
              <a:rPr lang="fr-FR"/>
              <a:t>Intégration croissante des algorithmes de ML dans la Data Science.</a:t>
            </a:r>
            <a:endParaRPr lang="fr-MA"/>
          </a:p>
        </p:txBody>
      </p:sp>
      <p:sp>
        <p:nvSpPr>
          <p:cNvPr id="11" name="Espace réservé du texte 10">
            <a:extLst>
              <a:ext uri="{FF2B5EF4-FFF2-40B4-BE49-F238E27FC236}">
                <a16:creationId xmlns:a16="http://schemas.microsoft.com/office/drawing/2014/main" id="{1EA69CEC-93A6-D41C-C87B-20ABC05AC2C9}"/>
              </a:ext>
            </a:extLst>
          </p:cNvPr>
          <p:cNvSpPr>
            <a:spLocks noGrp="1"/>
          </p:cNvSpPr>
          <p:nvPr>
            <p:ph type="body" idx="45"/>
          </p:nvPr>
        </p:nvSpPr>
        <p:spPr/>
        <p:txBody>
          <a:bodyPr/>
          <a:lstStyle/>
          <a:p>
            <a:r>
              <a:rPr lang="fr-MA"/>
              <a:t>Intelligence Artificielle</a:t>
            </a:r>
          </a:p>
        </p:txBody>
      </p:sp>
      <p:sp>
        <p:nvSpPr>
          <p:cNvPr id="12" name="Espace réservé du texte 11">
            <a:extLst>
              <a:ext uri="{FF2B5EF4-FFF2-40B4-BE49-F238E27FC236}">
                <a16:creationId xmlns:a16="http://schemas.microsoft.com/office/drawing/2014/main" id="{073C517C-F668-940D-998A-B9E4F6D6F89E}"/>
              </a:ext>
            </a:extLst>
          </p:cNvPr>
          <p:cNvSpPr>
            <a:spLocks noGrp="1"/>
          </p:cNvSpPr>
          <p:nvPr>
            <p:ph type="body" idx="48"/>
          </p:nvPr>
        </p:nvSpPr>
        <p:spPr/>
        <p:txBody>
          <a:bodyPr/>
          <a:lstStyle/>
          <a:p>
            <a:r>
              <a:rPr lang="fr-MA"/>
              <a:t>1990</a:t>
            </a:r>
          </a:p>
        </p:txBody>
      </p:sp>
      <p:sp>
        <p:nvSpPr>
          <p:cNvPr id="13" name="Espace réservé du texte 12">
            <a:extLst>
              <a:ext uri="{FF2B5EF4-FFF2-40B4-BE49-F238E27FC236}">
                <a16:creationId xmlns:a16="http://schemas.microsoft.com/office/drawing/2014/main" id="{5033C24F-0BB3-121F-8871-FEB4ACF97B5F}"/>
              </a:ext>
            </a:extLst>
          </p:cNvPr>
          <p:cNvSpPr>
            <a:spLocks noGrp="1"/>
          </p:cNvSpPr>
          <p:nvPr>
            <p:ph type="body" idx="49"/>
          </p:nvPr>
        </p:nvSpPr>
        <p:spPr/>
        <p:txBody>
          <a:bodyPr/>
          <a:lstStyle/>
          <a:p>
            <a:r>
              <a:rPr lang="fr-MA"/>
              <a:t>2000</a:t>
            </a:r>
          </a:p>
        </p:txBody>
      </p:sp>
      <p:sp>
        <p:nvSpPr>
          <p:cNvPr id="14" name="Espace réservé du texte 13">
            <a:extLst>
              <a:ext uri="{FF2B5EF4-FFF2-40B4-BE49-F238E27FC236}">
                <a16:creationId xmlns:a16="http://schemas.microsoft.com/office/drawing/2014/main" id="{E712D451-965B-723E-66D9-BF81FB158583}"/>
              </a:ext>
            </a:extLst>
          </p:cNvPr>
          <p:cNvSpPr>
            <a:spLocks noGrp="1"/>
          </p:cNvSpPr>
          <p:nvPr>
            <p:ph type="body" idx="50"/>
          </p:nvPr>
        </p:nvSpPr>
        <p:spPr/>
        <p:txBody>
          <a:bodyPr/>
          <a:lstStyle/>
          <a:p>
            <a:r>
              <a:rPr lang="fr-MA"/>
              <a:t>2010</a:t>
            </a:r>
          </a:p>
        </p:txBody>
      </p:sp>
      <p:sp>
        <p:nvSpPr>
          <p:cNvPr id="15" name="Espace réservé du texte 14">
            <a:extLst>
              <a:ext uri="{FF2B5EF4-FFF2-40B4-BE49-F238E27FC236}">
                <a16:creationId xmlns:a16="http://schemas.microsoft.com/office/drawing/2014/main" id="{FB8315B8-3875-7F80-1B6B-35A5984D395A}"/>
              </a:ext>
            </a:extLst>
          </p:cNvPr>
          <p:cNvSpPr>
            <a:spLocks noGrp="1"/>
          </p:cNvSpPr>
          <p:nvPr>
            <p:ph type="body" idx="51"/>
          </p:nvPr>
        </p:nvSpPr>
        <p:spPr/>
        <p:txBody>
          <a:bodyPr/>
          <a:lstStyle/>
          <a:p>
            <a:r>
              <a:rPr lang="fr-MA"/>
              <a:t>2020</a:t>
            </a:r>
          </a:p>
        </p:txBody>
      </p:sp>
      <p:sp>
        <p:nvSpPr>
          <p:cNvPr id="16" name="Espace réservé du texte 15">
            <a:extLst>
              <a:ext uri="{FF2B5EF4-FFF2-40B4-BE49-F238E27FC236}">
                <a16:creationId xmlns:a16="http://schemas.microsoft.com/office/drawing/2014/main" id="{26C08807-BC73-23EE-3660-4C580C40513D}"/>
              </a:ext>
            </a:extLst>
          </p:cNvPr>
          <p:cNvSpPr>
            <a:spLocks noGrp="1"/>
          </p:cNvSpPr>
          <p:nvPr>
            <p:ph type="body" idx="52"/>
          </p:nvPr>
        </p:nvSpPr>
        <p:spPr/>
        <p:txBody>
          <a:bodyPr/>
          <a:lstStyle/>
          <a:p>
            <a:r>
              <a:rPr lang="fr-FR"/>
              <a:t>Les bases de données migrent vers le cloud pour plus de flexibilité.</a:t>
            </a:r>
            <a:endParaRPr lang="fr-MA"/>
          </a:p>
        </p:txBody>
      </p:sp>
      <p:sp>
        <p:nvSpPr>
          <p:cNvPr id="17" name="Espace réservé du texte 16">
            <a:extLst>
              <a:ext uri="{FF2B5EF4-FFF2-40B4-BE49-F238E27FC236}">
                <a16:creationId xmlns:a16="http://schemas.microsoft.com/office/drawing/2014/main" id="{5B245635-9138-478C-0E7F-6771B4EFC30F}"/>
              </a:ext>
            </a:extLst>
          </p:cNvPr>
          <p:cNvSpPr>
            <a:spLocks noGrp="1"/>
          </p:cNvSpPr>
          <p:nvPr>
            <p:ph type="body" idx="53"/>
          </p:nvPr>
        </p:nvSpPr>
        <p:spPr/>
        <p:txBody>
          <a:bodyPr/>
          <a:lstStyle/>
          <a:p>
            <a:r>
              <a:rPr lang="fr-MA"/>
              <a:t>Cloud</a:t>
            </a:r>
          </a:p>
        </p:txBody>
      </p:sp>
      <p:sp>
        <p:nvSpPr>
          <p:cNvPr id="18" name="Espace réservé du texte 17">
            <a:extLst>
              <a:ext uri="{FF2B5EF4-FFF2-40B4-BE49-F238E27FC236}">
                <a16:creationId xmlns:a16="http://schemas.microsoft.com/office/drawing/2014/main" id="{F3482C0C-445F-66A8-7F4A-049EA7EDE37D}"/>
              </a:ext>
            </a:extLst>
          </p:cNvPr>
          <p:cNvSpPr>
            <a:spLocks noGrp="1"/>
          </p:cNvSpPr>
          <p:nvPr>
            <p:ph type="body" sz="quarter" idx="22"/>
          </p:nvPr>
        </p:nvSpPr>
        <p:spPr>
          <a:xfrm>
            <a:off x="1134317" y="439953"/>
            <a:ext cx="4752486" cy="891540"/>
          </a:xfrm>
        </p:spPr>
        <p:txBody>
          <a:bodyPr/>
          <a:lstStyle/>
          <a:p>
            <a:r>
              <a:rPr lang="fr-FR"/>
              <a:t>Bases de Données et Data Science</a:t>
            </a:r>
            <a:endParaRPr lang="fr-MA"/>
          </a:p>
        </p:txBody>
      </p:sp>
    </p:spTree>
    <p:extLst>
      <p:ext uri="{BB962C8B-B14F-4D97-AF65-F5344CB8AC3E}">
        <p14:creationId xmlns:p14="http://schemas.microsoft.com/office/powerpoint/2010/main" val="1084926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FA34F11D-6ADA-15A4-AD3E-EDED9FF3CE2A}"/>
              </a:ext>
            </a:extLst>
          </p:cNvPr>
          <p:cNvSpPr>
            <a:spLocks noGrp="1"/>
          </p:cNvSpPr>
          <p:nvPr>
            <p:ph type="body" idx="25"/>
          </p:nvPr>
        </p:nvSpPr>
        <p:spPr/>
        <p:txBody>
          <a:bodyPr/>
          <a:lstStyle/>
          <a:p>
            <a:r>
              <a:rPr lang="fr-FR"/>
              <a:t>La Data Science s'applique dans plusieurs secteurs principaux tels que la santé, la finance, et le marketing, où elle aide à optimiser les processus et à prendre des décisions basées sur des données.</a:t>
            </a:r>
            <a:endParaRPr lang="fr-MA"/>
          </a:p>
        </p:txBody>
      </p:sp>
      <p:sp>
        <p:nvSpPr>
          <p:cNvPr id="3" name="Espace réservé du texte 2">
            <a:extLst>
              <a:ext uri="{FF2B5EF4-FFF2-40B4-BE49-F238E27FC236}">
                <a16:creationId xmlns:a16="http://schemas.microsoft.com/office/drawing/2014/main" id="{B51B03AE-8BC7-1223-00FA-740B0022468D}"/>
              </a:ext>
            </a:extLst>
          </p:cNvPr>
          <p:cNvSpPr>
            <a:spLocks noGrp="1"/>
          </p:cNvSpPr>
          <p:nvPr>
            <p:ph type="body" idx="24"/>
          </p:nvPr>
        </p:nvSpPr>
        <p:spPr/>
        <p:txBody>
          <a:bodyPr/>
          <a:lstStyle/>
          <a:p>
            <a:r>
              <a:rPr lang="fr-MA"/>
              <a:t>Domaines d'Application</a:t>
            </a:r>
          </a:p>
        </p:txBody>
      </p:sp>
      <p:sp>
        <p:nvSpPr>
          <p:cNvPr id="4" name="Espace réservé du texte 3">
            <a:extLst>
              <a:ext uri="{FF2B5EF4-FFF2-40B4-BE49-F238E27FC236}">
                <a16:creationId xmlns:a16="http://schemas.microsoft.com/office/drawing/2014/main" id="{AA239EB3-EBDD-224B-E139-3B365F4F2542}"/>
              </a:ext>
            </a:extLst>
          </p:cNvPr>
          <p:cNvSpPr>
            <a:spLocks noGrp="1"/>
          </p:cNvSpPr>
          <p:nvPr>
            <p:ph type="body" idx="26"/>
          </p:nvPr>
        </p:nvSpPr>
        <p:spPr/>
        <p:txBody>
          <a:bodyPr/>
          <a:lstStyle/>
          <a:p>
            <a:r>
              <a:rPr lang="fr-FR"/>
              <a:t>L'évolution de la Data Science sera fortement influencée par les avancées en intelligence artificielle, augmentant son rôle dans l'analyse et la prise de décision stratégique.</a:t>
            </a:r>
            <a:endParaRPr lang="fr-MA"/>
          </a:p>
        </p:txBody>
      </p:sp>
      <p:sp>
        <p:nvSpPr>
          <p:cNvPr id="5" name="Espace réservé du texte 4">
            <a:extLst>
              <a:ext uri="{FF2B5EF4-FFF2-40B4-BE49-F238E27FC236}">
                <a16:creationId xmlns:a16="http://schemas.microsoft.com/office/drawing/2014/main" id="{0D017F36-B92A-2725-EFBD-3186F0114DF6}"/>
              </a:ext>
            </a:extLst>
          </p:cNvPr>
          <p:cNvSpPr>
            <a:spLocks noGrp="1"/>
          </p:cNvSpPr>
          <p:nvPr>
            <p:ph type="body" idx="27"/>
          </p:nvPr>
        </p:nvSpPr>
        <p:spPr/>
        <p:txBody>
          <a:bodyPr/>
          <a:lstStyle/>
          <a:p>
            <a:r>
              <a:rPr lang="fr-MA"/>
              <a:t>Avenir de Data Science</a:t>
            </a:r>
          </a:p>
        </p:txBody>
      </p:sp>
      <p:pic>
        <p:nvPicPr>
          <p:cNvPr id="9" name="Espace réservé pour une image  8">
            <a:extLst>
              <a:ext uri="{FF2B5EF4-FFF2-40B4-BE49-F238E27FC236}">
                <a16:creationId xmlns:a16="http://schemas.microsoft.com/office/drawing/2014/main" id="{B702207D-579E-9CB8-4071-211D915849C9}"/>
              </a:ext>
            </a:extLst>
          </p:cNvPr>
          <p:cNvPicPr>
            <a:picLocks noGrp="1" noChangeAspect="1"/>
          </p:cNvPicPr>
          <p:nvPr>
            <p:ph type="pic" sz="quarter" idx="12"/>
          </p:nvPr>
        </p:nvPicPr>
        <p:blipFill>
          <a:blip r:embed="rId2"/>
          <a:srcRect t="6475" b="6475"/>
          <a:stretch>
            <a:fillRect/>
          </a:stretch>
        </p:blipFill>
        <p:spPr/>
      </p:pic>
      <p:sp>
        <p:nvSpPr>
          <p:cNvPr id="7" name="Titre 6">
            <a:extLst>
              <a:ext uri="{FF2B5EF4-FFF2-40B4-BE49-F238E27FC236}">
                <a16:creationId xmlns:a16="http://schemas.microsoft.com/office/drawing/2014/main" id="{99C36D36-F2C3-86E2-C13A-8EB883478D60}"/>
              </a:ext>
            </a:extLst>
          </p:cNvPr>
          <p:cNvSpPr>
            <a:spLocks noGrp="1"/>
          </p:cNvSpPr>
          <p:nvPr>
            <p:ph type="title"/>
          </p:nvPr>
        </p:nvSpPr>
        <p:spPr/>
        <p:txBody>
          <a:bodyPr/>
          <a:lstStyle/>
          <a:p>
            <a:pPr algn="ctr"/>
            <a:r>
              <a:rPr lang="fr-MA" dirty="0">
                <a:solidFill>
                  <a:schemeClr val="tx1"/>
                </a:solidFill>
              </a:rPr>
              <a:t>Applications et Perspectives</a:t>
            </a:r>
          </a:p>
        </p:txBody>
      </p:sp>
      <p:sp>
        <p:nvSpPr>
          <p:cNvPr id="8" name="Espace réservé du texte 7">
            <a:extLst>
              <a:ext uri="{FF2B5EF4-FFF2-40B4-BE49-F238E27FC236}">
                <a16:creationId xmlns:a16="http://schemas.microsoft.com/office/drawing/2014/main" id="{75A805C0-C63E-3E98-D1E4-9FD20D7EC8D9}"/>
              </a:ext>
            </a:extLst>
          </p:cNvPr>
          <p:cNvSpPr>
            <a:spLocks noGrp="1"/>
          </p:cNvSpPr>
          <p:nvPr>
            <p:ph type="body" sz="quarter" idx="22"/>
          </p:nvPr>
        </p:nvSpPr>
        <p:spPr>
          <a:xfrm>
            <a:off x="1134317" y="439953"/>
            <a:ext cx="4752486" cy="891540"/>
          </a:xfrm>
        </p:spPr>
        <p:txBody>
          <a:bodyPr/>
          <a:lstStyle/>
          <a:p>
            <a:r>
              <a:rPr lang="fr-FR"/>
              <a:t>Bases de Données et Data Science</a:t>
            </a:r>
            <a:endParaRPr lang="fr-MA"/>
          </a:p>
        </p:txBody>
      </p:sp>
    </p:spTree>
    <p:extLst>
      <p:ext uri="{BB962C8B-B14F-4D97-AF65-F5344CB8AC3E}">
        <p14:creationId xmlns:p14="http://schemas.microsoft.com/office/powerpoint/2010/main" val="16080380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
    <p:bg>
      <p:bgPr>
        <a:solidFill>
          <a:srgbClr val="2E75B6"/>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1/40</a:t>
            </a:r>
            <a:endParaRPr lang="en-US" sz="1000" dirty="0"/>
          </a:p>
        </p:txBody>
      </p:sp>
      <p:sp>
        <p:nvSpPr>
          <p:cNvPr id="5" name="Text 3"/>
          <p:cNvSpPr/>
          <p:nvPr/>
        </p:nvSpPr>
        <p:spPr>
          <a:xfrm>
            <a:off x="914400" y="1371600"/>
            <a:ext cx="7315200" cy="731520"/>
          </a:xfrm>
          <a:prstGeom prst="rect">
            <a:avLst/>
          </a:prstGeom>
          <a:noFill/>
          <a:ln/>
        </p:spPr>
        <p:txBody>
          <a:bodyPr wrap="square" rtlCol="0" anchor="ctr"/>
          <a:lstStyle/>
          <a:p>
            <a:pPr marL="0" indent="0" algn="ctr">
              <a:buNone/>
            </a:pPr>
            <a:r>
              <a:rPr lang="en-US" sz="5400" b="1" dirty="0">
                <a:solidFill>
                  <a:srgbClr val="FFFFFF"/>
                </a:solidFill>
              </a:rPr>
              <a:t>Gestion des bases de données</a:t>
            </a:r>
            <a:endParaRPr lang="en-US" sz="5400" dirty="0"/>
          </a:p>
        </p:txBody>
      </p:sp>
      <p:sp>
        <p:nvSpPr>
          <p:cNvPr id="6" name="Text 4"/>
          <p:cNvSpPr/>
          <p:nvPr/>
        </p:nvSpPr>
        <p:spPr>
          <a:xfrm>
            <a:off x="914400" y="2194560"/>
            <a:ext cx="7315200" cy="365760"/>
          </a:xfrm>
          <a:prstGeom prst="rect">
            <a:avLst/>
          </a:prstGeom>
          <a:noFill/>
          <a:ln/>
        </p:spPr>
        <p:txBody>
          <a:bodyPr wrap="square" rtlCol="0" anchor="ctr"/>
          <a:lstStyle/>
          <a:p>
            <a:pPr marL="0" indent="0" algn="ctr">
              <a:buNone/>
            </a:pPr>
            <a:r>
              <a:rPr lang="en-US" sz="2000" dirty="0">
                <a:solidFill>
                  <a:srgbClr val="E7E6E6"/>
                </a:solidFill>
              </a:rPr>
              <a:t>Concepts fondamentaux, modèle relationnel, sécurité et SQL</a:t>
            </a:r>
            <a:endParaRPr lang="en-US" sz="2000" dirty="0"/>
          </a:p>
        </p:txBody>
      </p:sp>
      <p:sp>
        <p:nvSpPr>
          <p:cNvPr id="7" name="Shape 5"/>
          <p:cNvSpPr/>
          <p:nvPr/>
        </p:nvSpPr>
        <p:spPr>
          <a:xfrm>
            <a:off x="1828800" y="3017520"/>
            <a:ext cx="1097280" cy="457200"/>
          </a:xfrm>
          <a:prstGeom prst="rect">
            <a:avLst/>
          </a:prstGeom>
          <a:solidFill>
            <a:srgbClr val="F79646"/>
          </a:solidFill>
          <a:ln/>
        </p:spPr>
        <p:txBody>
          <a:bodyPr/>
          <a:lstStyle/>
          <a:p>
            <a:endParaRPr lang="fr-FR"/>
          </a:p>
        </p:txBody>
      </p:sp>
      <p:sp>
        <p:nvSpPr>
          <p:cNvPr id="8" name="Text 6"/>
          <p:cNvSpPr/>
          <p:nvPr/>
        </p:nvSpPr>
        <p:spPr>
          <a:xfrm>
            <a:off x="1828800" y="3017520"/>
            <a:ext cx="1097280" cy="457200"/>
          </a:xfrm>
          <a:prstGeom prst="rect">
            <a:avLst/>
          </a:prstGeom>
          <a:noFill/>
          <a:ln/>
        </p:spPr>
        <p:txBody>
          <a:bodyPr wrap="square" rtlCol="0" anchor="ctr"/>
          <a:lstStyle/>
          <a:p>
            <a:pPr marL="0" indent="0" algn="ctr">
              <a:buNone/>
            </a:pPr>
            <a:r>
              <a:rPr lang="en-US" sz="1100" b="1" dirty="0">
                <a:solidFill>
                  <a:srgbClr val="FFFFFF"/>
                </a:solidFill>
              </a:rPr>
              <a:t>Applications</a:t>
            </a:r>
            <a:endParaRPr lang="en-US" sz="1100" dirty="0"/>
          </a:p>
        </p:txBody>
      </p:sp>
      <p:sp>
        <p:nvSpPr>
          <p:cNvPr id="9" name="Shape 7"/>
          <p:cNvSpPr/>
          <p:nvPr/>
        </p:nvSpPr>
        <p:spPr>
          <a:xfrm>
            <a:off x="3474720" y="3017520"/>
            <a:ext cx="1097280" cy="457200"/>
          </a:xfrm>
          <a:prstGeom prst="rect">
            <a:avLst/>
          </a:prstGeom>
          <a:solidFill>
            <a:srgbClr val="1F4E78"/>
          </a:solidFill>
          <a:ln/>
        </p:spPr>
        <p:txBody>
          <a:bodyPr/>
          <a:lstStyle/>
          <a:p>
            <a:endParaRPr lang="fr-FR"/>
          </a:p>
        </p:txBody>
      </p:sp>
      <p:sp>
        <p:nvSpPr>
          <p:cNvPr id="10" name="Text 8"/>
          <p:cNvSpPr/>
          <p:nvPr/>
        </p:nvSpPr>
        <p:spPr>
          <a:xfrm>
            <a:off x="3474720" y="3017520"/>
            <a:ext cx="1097280" cy="457200"/>
          </a:xfrm>
          <a:prstGeom prst="rect">
            <a:avLst/>
          </a:prstGeom>
          <a:noFill/>
          <a:ln/>
        </p:spPr>
        <p:txBody>
          <a:bodyPr wrap="square" rtlCol="0" anchor="ctr"/>
          <a:lstStyle/>
          <a:p>
            <a:pPr marL="0" indent="0" algn="ctr">
              <a:buNone/>
            </a:pPr>
            <a:r>
              <a:rPr lang="en-US" sz="1100" b="1" dirty="0">
                <a:solidFill>
                  <a:srgbClr val="FFFFFF"/>
                </a:solidFill>
              </a:rPr>
              <a:t>SGBD</a:t>
            </a:r>
            <a:endParaRPr lang="en-US" sz="1100" dirty="0"/>
          </a:p>
        </p:txBody>
      </p:sp>
      <p:sp>
        <p:nvSpPr>
          <p:cNvPr id="11" name="Shape 9"/>
          <p:cNvSpPr/>
          <p:nvPr/>
        </p:nvSpPr>
        <p:spPr>
          <a:xfrm>
            <a:off x="5120640" y="3017520"/>
            <a:ext cx="1097280" cy="457200"/>
          </a:xfrm>
          <a:prstGeom prst="rect">
            <a:avLst/>
          </a:prstGeom>
          <a:solidFill>
            <a:srgbClr val="F79646"/>
          </a:solidFill>
          <a:ln/>
        </p:spPr>
        <p:txBody>
          <a:bodyPr/>
          <a:lstStyle/>
          <a:p>
            <a:endParaRPr lang="fr-FR"/>
          </a:p>
        </p:txBody>
      </p:sp>
      <p:sp>
        <p:nvSpPr>
          <p:cNvPr id="12" name="Text 10"/>
          <p:cNvSpPr/>
          <p:nvPr/>
        </p:nvSpPr>
        <p:spPr>
          <a:xfrm>
            <a:off x="5120640" y="3017520"/>
            <a:ext cx="1097280" cy="457200"/>
          </a:xfrm>
          <a:prstGeom prst="rect">
            <a:avLst/>
          </a:prstGeom>
          <a:noFill/>
          <a:ln/>
        </p:spPr>
        <p:txBody>
          <a:bodyPr wrap="square" rtlCol="0" anchor="ctr"/>
          <a:lstStyle/>
          <a:p>
            <a:pPr marL="0" indent="0" algn="ctr">
              <a:buNone/>
            </a:pPr>
            <a:r>
              <a:rPr lang="en-US" sz="1100" b="1" dirty="0">
                <a:solidFill>
                  <a:srgbClr val="FFFFFF"/>
                </a:solidFill>
              </a:rPr>
              <a:t>Base de données</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Objectifs du cours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2/40</a:t>
            </a:r>
            <a:endParaRPr lang="en-US" sz="1000" dirty="0"/>
          </a:p>
        </p:txBody>
      </p:sp>
      <p:sp>
        <p:nvSpPr>
          <p:cNvPr id="5" name="Shape 3"/>
          <p:cNvSpPr/>
          <p:nvPr/>
        </p:nvSpPr>
        <p:spPr>
          <a:xfrm>
            <a:off x="365760" y="960120"/>
            <a:ext cx="274320" cy="274320"/>
          </a:xfrm>
          <a:prstGeom prst="ellipse">
            <a:avLst/>
          </a:prstGeom>
          <a:solidFill>
            <a:srgbClr val="F79646"/>
          </a:solidFill>
          <a:ln/>
        </p:spPr>
        <p:txBody>
          <a:bodyPr/>
          <a:lstStyle/>
          <a:p>
            <a:endParaRPr lang="fr-FR"/>
          </a:p>
        </p:txBody>
      </p:sp>
      <p:sp>
        <p:nvSpPr>
          <p:cNvPr id="6" name="Text 4"/>
          <p:cNvSpPr/>
          <p:nvPr/>
        </p:nvSpPr>
        <p:spPr>
          <a:xfrm>
            <a:off x="365760" y="960120"/>
            <a:ext cx="274320" cy="274320"/>
          </a:xfrm>
          <a:prstGeom prst="rect">
            <a:avLst/>
          </a:prstGeom>
          <a:noFill/>
          <a:ln/>
        </p:spPr>
        <p:txBody>
          <a:bodyPr wrap="square" rtlCol="0" anchor="ctr"/>
          <a:lstStyle/>
          <a:p>
            <a:pPr marL="0" indent="0" algn="ctr">
              <a:buNone/>
            </a:pPr>
            <a:r>
              <a:rPr lang="en-US" sz="1400" b="1" dirty="0">
                <a:solidFill>
                  <a:srgbClr val="FFFFFF"/>
                </a:solidFill>
              </a:rPr>
              <a:t>1</a:t>
            </a:r>
            <a:endParaRPr lang="en-US" sz="1400" dirty="0"/>
          </a:p>
        </p:txBody>
      </p:sp>
      <p:sp>
        <p:nvSpPr>
          <p:cNvPr id="7" name="Text 5"/>
          <p:cNvSpPr/>
          <p:nvPr/>
        </p:nvSpPr>
        <p:spPr>
          <a:xfrm>
            <a:off x="822960" y="914400"/>
            <a:ext cx="7772400" cy="365760"/>
          </a:xfrm>
          <a:prstGeom prst="rect">
            <a:avLst/>
          </a:prstGeom>
          <a:noFill/>
          <a:ln/>
        </p:spPr>
        <p:txBody>
          <a:bodyPr wrap="square" rtlCol="0" anchor="ctr"/>
          <a:lstStyle/>
          <a:p>
            <a:pPr marL="0" indent="0" algn="l">
              <a:buNone/>
            </a:pPr>
            <a:r>
              <a:rPr lang="en-US" sz="1400" dirty="0">
                <a:solidFill>
                  <a:srgbClr val="1F1F1F"/>
                </a:solidFill>
              </a:rPr>
              <a:t>Comprendre les fondamentaux</a:t>
            </a:r>
            <a:endParaRPr lang="en-US" sz="1400" dirty="0"/>
          </a:p>
        </p:txBody>
      </p:sp>
      <p:sp>
        <p:nvSpPr>
          <p:cNvPr id="8" name="Shape 6"/>
          <p:cNvSpPr/>
          <p:nvPr/>
        </p:nvSpPr>
        <p:spPr>
          <a:xfrm>
            <a:off x="365760" y="1508760"/>
            <a:ext cx="274320" cy="274320"/>
          </a:xfrm>
          <a:prstGeom prst="ellipse">
            <a:avLst/>
          </a:prstGeom>
          <a:solidFill>
            <a:srgbClr val="1F4E78"/>
          </a:solidFill>
          <a:ln/>
        </p:spPr>
        <p:txBody>
          <a:bodyPr/>
          <a:lstStyle/>
          <a:p>
            <a:endParaRPr lang="fr-FR"/>
          </a:p>
        </p:txBody>
      </p:sp>
      <p:sp>
        <p:nvSpPr>
          <p:cNvPr id="9" name="Text 7"/>
          <p:cNvSpPr/>
          <p:nvPr/>
        </p:nvSpPr>
        <p:spPr>
          <a:xfrm>
            <a:off x="365760" y="1508760"/>
            <a:ext cx="274320" cy="274320"/>
          </a:xfrm>
          <a:prstGeom prst="rect">
            <a:avLst/>
          </a:prstGeom>
          <a:noFill/>
          <a:ln/>
        </p:spPr>
        <p:txBody>
          <a:bodyPr wrap="square" rtlCol="0" anchor="ctr"/>
          <a:lstStyle/>
          <a:p>
            <a:pPr marL="0" indent="0" algn="ctr">
              <a:buNone/>
            </a:pPr>
            <a:r>
              <a:rPr lang="en-US" sz="1400" b="1" dirty="0">
                <a:solidFill>
                  <a:srgbClr val="FFFFFF"/>
                </a:solidFill>
              </a:rPr>
              <a:t>2</a:t>
            </a:r>
            <a:endParaRPr lang="en-US" sz="1400" dirty="0"/>
          </a:p>
        </p:txBody>
      </p:sp>
      <p:sp>
        <p:nvSpPr>
          <p:cNvPr id="10" name="Text 8"/>
          <p:cNvSpPr/>
          <p:nvPr/>
        </p:nvSpPr>
        <p:spPr>
          <a:xfrm>
            <a:off x="822960" y="1463040"/>
            <a:ext cx="7772400" cy="365760"/>
          </a:xfrm>
          <a:prstGeom prst="rect">
            <a:avLst/>
          </a:prstGeom>
          <a:noFill/>
          <a:ln/>
        </p:spPr>
        <p:txBody>
          <a:bodyPr wrap="square" rtlCol="0" anchor="ctr"/>
          <a:lstStyle/>
          <a:p>
            <a:pPr marL="0" indent="0" algn="l">
              <a:buNone/>
            </a:pPr>
            <a:r>
              <a:rPr lang="en-US" sz="1400" dirty="0">
                <a:solidFill>
                  <a:srgbClr val="1F1F1F"/>
                </a:solidFill>
              </a:rPr>
              <a:t>Modéliser une base de données</a:t>
            </a:r>
            <a:endParaRPr lang="en-US" sz="1400" dirty="0"/>
          </a:p>
        </p:txBody>
      </p:sp>
      <p:sp>
        <p:nvSpPr>
          <p:cNvPr id="11" name="Shape 9"/>
          <p:cNvSpPr/>
          <p:nvPr/>
        </p:nvSpPr>
        <p:spPr>
          <a:xfrm>
            <a:off x="365760" y="2057400"/>
            <a:ext cx="274320" cy="274320"/>
          </a:xfrm>
          <a:prstGeom prst="ellipse">
            <a:avLst/>
          </a:prstGeom>
          <a:solidFill>
            <a:srgbClr val="F79646"/>
          </a:solidFill>
          <a:ln/>
        </p:spPr>
        <p:txBody>
          <a:bodyPr/>
          <a:lstStyle/>
          <a:p>
            <a:endParaRPr lang="fr-FR"/>
          </a:p>
        </p:txBody>
      </p:sp>
      <p:sp>
        <p:nvSpPr>
          <p:cNvPr id="12" name="Text 10"/>
          <p:cNvSpPr/>
          <p:nvPr/>
        </p:nvSpPr>
        <p:spPr>
          <a:xfrm>
            <a:off x="365760" y="2057400"/>
            <a:ext cx="274320" cy="274320"/>
          </a:xfrm>
          <a:prstGeom prst="rect">
            <a:avLst/>
          </a:prstGeom>
          <a:noFill/>
          <a:ln/>
        </p:spPr>
        <p:txBody>
          <a:bodyPr wrap="square" rtlCol="0" anchor="ctr"/>
          <a:lstStyle/>
          <a:p>
            <a:pPr marL="0" indent="0" algn="ctr">
              <a:buNone/>
            </a:pPr>
            <a:r>
              <a:rPr lang="en-US" sz="1400" b="1" dirty="0">
                <a:solidFill>
                  <a:srgbClr val="FFFFFF"/>
                </a:solidFill>
              </a:rPr>
              <a:t>3</a:t>
            </a:r>
            <a:endParaRPr lang="en-US" sz="1400" dirty="0"/>
          </a:p>
        </p:txBody>
      </p:sp>
      <p:sp>
        <p:nvSpPr>
          <p:cNvPr id="13" name="Text 11"/>
          <p:cNvSpPr/>
          <p:nvPr/>
        </p:nvSpPr>
        <p:spPr>
          <a:xfrm>
            <a:off x="822960" y="2011680"/>
            <a:ext cx="7772400" cy="365760"/>
          </a:xfrm>
          <a:prstGeom prst="rect">
            <a:avLst/>
          </a:prstGeom>
          <a:noFill/>
          <a:ln/>
        </p:spPr>
        <p:txBody>
          <a:bodyPr wrap="square" rtlCol="0" anchor="ctr"/>
          <a:lstStyle/>
          <a:p>
            <a:pPr marL="0" indent="0" algn="l">
              <a:buNone/>
            </a:pPr>
            <a:r>
              <a:rPr lang="en-US" sz="1400" dirty="0">
                <a:solidFill>
                  <a:srgbClr val="1F1F1F"/>
                </a:solidFill>
              </a:rPr>
              <a:t>Gérer une base de données</a:t>
            </a:r>
            <a:endParaRPr lang="en-US" sz="1400" dirty="0"/>
          </a:p>
        </p:txBody>
      </p:sp>
      <p:sp>
        <p:nvSpPr>
          <p:cNvPr id="14" name="Shape 12"/>
          <p:cNvSpPr/>
          <p:nvPr/>
        </p:nvSpPr>
        <p:spPr>
          <a:xfrm>
            <a:off x="365760" y="2606040"/>
            <a:ext cx="274320" cy="274320"/>
          </a:xfrm>
          <a:prstGeom prst="ellipse">
            <a:avLst/>
          </a:prstGeom>
          <a:solidFill>
            <a:srgbClr val="1F4E78"/>
          </a:solidFill>
          <a:ln/>
        </p:spPr>
        <p:txBody>
          <a:bodyPr/>
          <a:lstStyle/>
          <a:p>
            <a:endParaRPr lang="fr-FR"/>
          </a:p>
        </p:txBody>
      </p:sp>
      <p:sp>
        <p:nvSpPr>
          <p:cNvPr id="15" name="Text 13"/>
          <p:cNvSpPr/>
          <p:nvPr/>
        </p:nvSpPr>
        <p:spPr>
          <a:xfrm>
            <a:off x="365760" y="2606040"/>
            <a:ext cx="274320" cy="274320"/>
          </a:xfrm>
          <a:prstGeom prst="rect">
            <a:avLst/>
          </a:prstGeom>
          <a:noFill/>
          <a:ln/>
        </p:spPr>
        <p:txBody>
          <a:bodyPr wrap="square" rtlCol="0" anchor="ctr"/>
          <a:lstStyle/>
          <a:p>
            <a:pPr marL="0" indent="0" algn="ctr">
              <a:buNone/>
            </a:pPr>
            <a:r>
              <a:rPr lang="en-US" sz="1400" b="1" dirty="0">
                <a:solidFill>
                  <a:srgbClr val="FFFFFF"/>
                </a:solidFill>
              </a:rPr>
              <a:t>4</a:t>
            </a:r>
            <a:endParaRPr lang="en-US" sz="1400" dirty="0"/>
          </a:p>
        </p:txBody>
      </p:sp>
      <p:sp>
        <p:nvSpPr>
          <p:cNvPr id="16" name="Text 14"/>
          <p:cNvSpPr/>
          <p:nvPr/>
        </p:nvSpPr>
        <p:spPr>
          <a:xfrm>
            <a:off x="822960" y="2560320"/>
            <a:ext cx="7772400" cy="365760"/>
          </a:xfrm>
          <a:prstGeom prst="rect">
            <a:avLst/>
          </a:prstGeom>
          <a:noFill/>
          <a:ln/>
        </p:spPr>
        <p:txBody>
          <a:bodyPr wrap="square" rtlCol="0" anchor="ctr"/>
          <a:lstStyle/>
          <a:p>
            <a:pPr marL="0" indent="0" algn="l">
              <a:buNone/>
            </a:pPr>
            <a:r>
              <a:rPr lang="en-US" sz="1400" dirty="0">
                <a:solidFill>
                  <a:srgbClr val="1F1F1F"/>
                </a:solidFill>
              </a:rPr>
              <a:t>Sécuriser les données</a:t>
            </a:r>
            <a:endParaRPr lang="en-US" sz="1400" dirty="0"/>
          </a:p>
        </p:txBody>
      </p:sp>
      <p:sp>
        <p:nvSpPr>
          <p:cNvPr id="17" name="Shape 15"/>
          <p:cNvSpPr/>
          <p:nvPr/>
        </p:nvSpPr>
        <p:spPr>
          <a:xfrm>
            <a:off x="365760" y="3154680"/>
            <a:ext cx="274320" cy="274320"/>
          </a:xfrm>
          <a:prstGeom prst="ellipse">
            <a:avLst/>
          </a:prstGeom>
          <a:solidFill>
            <a:srgbClr val="F79646"/>
          </a:solidFill>
          <a:ln/>
        </p:spPr>
        <p:txBody>
          <a:bodyPr/>
          <a:lstStyle/>
          <a:p>
            <a:endParaRPr lang="fr-FR"/>
          </a:p>
        </p:txBody>
      </p:sp>
      <p:sp>
        <p:nvSpPr>
          <p:cNvPr id="18" name="Text 16"/>
          <p:cNvSpPr/>
          <p:nvPr/>
        </p:nvSpPr>
        <p:spPr>
          <a:xfrm>
            <a:off x="365760" y="3154680"/>
            <a:ext cx="274320" cy="274320"/>
          </a:xfrm>
          <a:prstGeom prst="rect">
            <a:avLst/>
          </a:prstGeom>
          <a:noFill/>
          <a:ln/>
        </p:spPr>
        <p:txBody>
          <a:bodyPr wrap="square" rtlCol="0" anchor="ctr"/>
          <a:lstStyle/>
          <a:p>
            <a:pPr marL="0" indent="0" algn="ctr">
              <a:buNone/>
            </a:pPr>
            <a:r>
              <a:rPr lang="en-US" sz="1400" b="1" dirty="0">
                <a:solidFill>
                  <a:srgbClr val="FFFFFF"/>
                </a:solidFill>
              </a:rPr>
              <a:t>5</a:t>
            </a:r>
            <a:endParaRPr lang="en-US" sz="1400" dirty="0"/>
          </a:p>
        </p:txBody>
      </p:sp>
      <p:sp>
        <p:nvSpPr>
          <p:cNvPr id="19" name="Text 17"/>
          <p:cNvSpPr/>
          <p:nvPr/>
        </p:nvSpPr>
        <p:spPr>
          <a:xfrm>
            <a:off x="822960" y="3108960"/>
            <a:ext cx="7772400" cy="365760"/>
          </a:xfrm>
          <a:prstGeom prst="rect">
            <a:avLst/>
          </a:prstGeom>
          <a:noFill/>
          <a:ln/>
        </p:spPr>
        <p:txBody>
          <a:bodyPr wrap="square" rtlCol="0" anchor="ctr"/>
          <a:lstStyle/>
          <a:p>
            <a:pPr marL="0" indent="0" algn="l">
              <a:buNone/>
            </a:pPr>
            <a:r>
              <a:rPr lang="en-US" sz="1400" dirty="0">
                <a:solidFill>
                  <a:srgbClr val="1F1F1F"/>
                </a:solidFill>
              </a:rPr>
              <a:t>Interroger avec SQL</a:t>
            </a:r>
            <a:endParaRPr lang="en-US" sz="1400" dirty="0"/>
          </a:p>
        </p:txBody>
      </p:sp>
      <p:sp>
        <p:nvSpPr>
          <p:cNvPr id="20" name="Shape 18"/>
          <p:cNvSpPr/>
          <p:nvPr/>
        </p:nvSpPr>
        <p:spPr>
          <a:xfrm>
            <a:off x="365760" y="3703320"/>
            <a:ext cx="274320" cy="274320"/>
          </a:xfrm>
          <a:prstGeom prst="ellipse">
            <a:avLst/>
          </a:prstGeom>
          <a:solidFill>
            <a:srgbClr val="1F4E78"/>
          </a:solidFill>
          <a:ln/>
        </p:spPr>
        <p:txBody>
          <a:bodyPr/>
          <a:lstStyle/>
          <a:p>
            <a:endParaRPr lang="fr-FR"/>
          </a:p>
        </p:txBody>
      </p:sp>
      <p:sp>
        <p:nvSpPr>
          <p:cNvPr id="21" name="Text 19"/>
          <p:cNvSpPr/>
          <p:nvPr/>
        </p:nvSpPr>
        <p:spPr>
          <a:xfrm>
            <a:off x="365760" y="3703320"/>
            <a:ext cx="274320" cy="274320"/>
          </a:xfrm>
          <a:prstGeom prst="rect">
            <a:avLst/>
          </a:prstGeom>
          <a:noFill/>
          <a:ln/>
        </p:spPr>
        <p:txBody>
          <a:bodyPr wrap="square" rtlCol="0" anchor="ctr"/>
          <a:lstStyle/>
          <a:p>
            <a:pPr marL="0" indent="0" algn="ctr">
              <a:buNone/>
            </a:pPr>
            <a:r>
              <a:rPr lang="en-US" sz="1400" b="1" dirty="0">
                <a:solidFill>
                  <a:srgbClr val="FFFFFF"/>
                </a:solidFill>
              </a:rPr>
              <a:t>6</a:t>
            </a:r>
            <a:endParaRPr lang="en-US" sz="1400" dirty="0"/>
          </a:p>
        </p:txBody>
      </p:sp>
      <p:sp>
        <p:nvSpPr>
          <p:cNvPr id="22" name="Text 20"/>
          <p:cNvSpPr/>
          <p:nvPr/>
        </p:nvSpPr>
        <p:spPr>
          <a:xfrm>
            <a:off x="822960" y="3657600"/>
            <a:ext cx="7772400" cy="365760"/>
          </a:xfrm>
          <a:prstGeom prst="rect">
            <a:avLst/>
          </a:prstGeom>
          <a:noFill/>
          <a:ln/>
        </p:spPr>
        <p:txBody>
          <a:bodyPr wrap="square" rtlCol="0" anchor="ctr"/>
          <a:lstStyle/>
          <a:p>
            <a:pPr marL="0" indent="0" algn="l">
              <a:buNone/>
            </a:pPr>
            <a:r>
              <a:rPr lang="en-US" sz="1400" dirty="0">
                <a:solidFill>
                  <a:srgbClr val="1F1F1F"/>
                </a:solidFill>
              </a:rPr>
              <a:t>Exploiter les données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Pourquoi une base de données ?</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3/40</a:t>
            </a:r>
            <a:endParaRPr lang="en-US" sz="1000" dirty="0"/>
          </a:p>
        </p:txBody>
      </p:sp>
      <p:sp>
        <p:nvSpPr>
          <p:cNvPr id="5" name="Text 3"/>
          <p:cNvSpPr/>
          <p:nvPr/>
        </p:nvSpPr>
        <p:spPr>
          <a:xfrm>
            <a:off x="457200" y="731520"/>
            <a:ext cx="8229600" cy="274320"/>
          </a:xfrm>
          <a:prstGeom prst="rect">
            <a:avLst/>
          </a:prstGeom>
          <a:noFill/>
          <a:ln/>
        </p:spPr>
        <p:txBody>
          <a:bodyPr wrap="square" rtlCol="0" anchor="ctr"/>
          <a:lstStyle/>
          <a:p>
            <a:pPr marL="0" indent="0">
              <a:buNone/>
            </a:pPr>
            <a:r>
              <a:rPr lang="en-US" sz="1600" b="1" dirty="0">
                <a:solidFill>
                  <a:srgbClr val="1F4E78"/>
                </a:solidFill>
              </a:rPr>
              <a:t>Scenario : Gestion universitaire</a:t>
            </a:r>
            <a:endParaRPr lang="en-US" sz="1600" dirty="0"/>
          </a:p>
        </p:txBody>
      </p:sp>
      <p:sp>
        <p:nvSpPr>
          <p:cNvPr id="6" name="Text 4"/>
          <p:cNvSpPr/>
          <p:nvPr/>
        </p:nvSpPr>
        <p:spPr>
          <a:xfrm>
            <a:off x="914400" y="1188720"/>
            <a:ext cx="7315200" cy="274320"/>
          </a:xfrm>
          <a:prstGeom prst="rect">
            <a:avLst/>
          </a:prstGeom>
          <a:noFill/>
          <a:ln/>
        </p:spPr>
        <p:txBody>
          <a:bodyPr wrap="square" rtlCol="0" anchor="ctr"/>
          <a:lstStyle/>
          <a:p>
            <a:pPr marL="0" indent="0">
              <a:buNone/>
            </a:pPr>
            <a:r>
              <a:rPr lang="en-US" sz="1300" dirty="0">
                <a:solidFill>
                  <a:srgbClr val="1F1F1F"/>
                </a:solidFill>
              </a:rPr>
              <a:t>• 10 000+ étudiants</a:t>
            </a:r>
            <a:endParaRPr lang="en-US" sz="1300" dirty="0"/>
          </a:p>
        </p:txBody>
      </p:sp>
      <p:sp>
        <p:nvSpPr>
          <p:cNvPr id="7" name="Text 5"/>
          <p:cNvSpPr/>
          <p:nvPr/>
        </p:nvSpPr>
        <p:spPr>
          <a:xfrm>
            <a:off x="914400" y="1508760"/>
            <a:ext cx="7315200" cy="274320"/>
          </a:xfrm>
          <a:prstGeom prst="rect">
            <a:avLst/>
          </a:prstGeom>
          <a:noFill/>
          <a:ln/>
        </p:spPr>
        <p:txBody>
          <a:bodyPr wrap="square" rtlCol="0" anchor="ctr"/>
          <a:lstStyle/>
          <a:p>
            <a:pPr marL="0" indent="0">
              <a:buNone/>
            </a:pPr>
            <a:r>
              <a:rPr lang="en-US" sz="1300" dirty="0">
                <a:solidFill>
                  <a:srgbClr val="1F1F1F"/>
                </a:solidFill>
              </a:rPr>
              <a:t>• 500+ enseignants</a:t>
            </a:r>
            <a:endParaRPr lang="en-US" sz="1300" dirty="0"/>
          </a:p>
        </p:txBody>
      </p:sp>
      <p:sp>
        <p:nvSpPr>
          <p:cNvPr id="8" name="Text 6"/>
          <p:cNvSpPr/>
          <p:nvPr/>
        </p:nvSpPr>
        <p:spPr>
          <a:xfrm>
            <a:off x="914400" y="1828800"/>
            <a:ext cx="7315200" cy="274320"/>
          </a:xfrm>
          <a:prstGeom prst="rect">
            <a:avLst/>
          </a:prstGeom>
          <a:noFill/>
          <a:ln/>
        </p:spPr>
        <p:txBody>
          <a:bodyPr wrap="square" rtlCol="0" anchor="ctr"/>
          <a:lstStyle/>
          <a:p>
            <a:pPr marL="0" indent="0">
              <a:buNone/>
            </a:pPr>
            <a:r>
              <a:rPr lang="en-US" sz="1300" dirty="0">
                <a:solidFill>
                  <a:srgbClr val="1F1F1F"/>
                </a:solidFill>
              </a:rPr>
              <a:t>• 1000+ cours</a:t>
            </a:r>
            <a:endParaRPr lang="en-US" sz="1300" dirty="0"/>
          </a:p>
        </p:txBody>
      </p:sp>
      <p:sp>
        <p:nvSpPr>
          <p:cNvPr id="9" name="Text 7"/>
          <p:cNvSpPr/>
          <p:nvPr/>
        </p:nvSpPr>
        <p:spPr>
          <a:xfrm>
            <a:off x="914400" y="2148840"/>
            <a:ext cx="7315200" cy="274320"/>
          </a:xfrm>
          <a:prstGeom prst="rect">
            <a:avLst/>
          </a:prstGeom>
          <a:noFill/>
          <a:ln/>
        </p:spPr>
        <p:txBody>
          <a:bodyPr wrap="square" rtlCol="0" anchor="ctr"/>
          <a:lstStyle/>
          <a:p>
            <a:pPr marL="0" indent="0">
              <a:buNone/>
            </a:pPr>
            <a:r>
              <a:rPr lang="en-US" sz="1300" dirty="0">
                <a:solidFill>
                  <a:srgbClr val="1F1F1F"/>
                </a:solidFill>
              </a:rPr>
              <a:t>• 50 000+ inscriptions</a:t>
            </a:r>
            <a:endParaRPr lang="en-US" sz="1300" dirty="0"/>
          </a:p>
        </p:txBody>
      </p:sp>
      <p:sp>
        <p:nvSpPr>
          <p:cNvPr id="10" name="Text 8"/>
          <p:cNvSpPr/>
          <p:nvPr/>
        </p:nvSpPr>
        <p:spPr>
          <a:xfrm>
            <a:off x="914400" y="2468880"/>
            <a:ext cx="7315200" cy="274320"/>
          </a:xfrm>
          <a:prstGeom prst="rect">
            <a:avLst/>
          </a:prstGeom>
          <a:noFill/>
          <a:ln/>
        </p:spPr>
        <p:txBody>
          <a:bodyPr wrap="square" rtlCol="0" anchor="ctr"/>
          <a:lstStyle/>
          <a:p>
            <a:pPr marL="0" indent="0">
              <a:buNone/>
            </a:pPr>
            <a:r>
              <a:rPr lang="en-US" sz="1300" dirty="0">
                <a:solidFill>
                  <a:srgbClr val="1F1F1F"/>
                </a:solidFill>
              </a:rPr>
              <a:t>• 300 000+ notes</a:t>
            </a:r>
            <a:endParaRPr lang="en-US" sz="1300" dirty="0"/>
          </a:p>
        </p:txBody>
      </p:sp>
      <p:sp>
        <p:nvSpPr>
          <p:cNvPr id="11" name="Shape 9"/>
          <p:cNvSpPr/>
          <p:nvPr/>
        </p:nvSpPr>
        <p:spPr>
          <a:xfrm>
            <a:off x="457200" y="3474720"/>
            <a:ext cx="8229600" cy="1188720"/>
          </a:xfrm>
          <a:prstGeom prst="rect">
            <a:avLst/>
          </a:prstGeom>
          <a:solidFill>
            <a:srgbClr val="E7E6E6"/>
          </a:solidFill>
          <a:ln w="25400">
            <a:solidFill>
              <a:srgbClr val="F79646"/>
            </a:solidFill>
            <a:prstDash val="solid"/>
          </a:ln>
        </p:spPr>
        <p:txBody>
          <a:bodyPr/>
          <a:lstStyle/>
          <a:p>
            <a:endParaRPr lang="fr-FR"/>
          </a:p>
        </p:txBody>
      </p:sp>
      <p:sp>
        <p:nvSpPr>
          <p:cNvPr id="12" name="Text 10"/>
          <p:cNvSpPr/>
          <p:nvPr/>
        </p:nvSpPr>
        <p:spPr>
          <a:xfrm>
            <a:off x="640080" y="3566160"/>
            <a:ext cx="7863840" cy="1005840"/>
          </a:xfrm>
          <a:prstGeom prst="rect">
            <a:avLst/>
          </a:prstGeom>
          <a:noFill/>
          <a:ln/>
        </p:spPr>
        <p:txBody>
          <a:bodyPr wrap="square" rtlCol="0" anchor="t"/>
          <a:lstStyle/>
          <a:p>
            <a:pPr marL="0" indent="0" algn="l">
              <a:buNone/>
            </a:pPr>
            <a:r>
              <a:rPr lang="en-US" sz="1400" b="1" dirty="0">
                <a:solidFill>
                  <a:srgbClr val="1F1F1F"/>
                </a:solidFill>
              </a:rPr>
              <a:t>Question : Peut-on gérer ces informations avec plusieurs fichiers Excel indépendants ?</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Donnée → Information</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4/40</a:t>
            </a:r>
            <a:endParaRPr lang="en-US" sz="1000" dirty="0"/>
          </a:p>
        </p:txBody>
      </p:sp>
      <p:sp>
        <p:nvSpPr>
          <p:cNvPr id="5" name="Shape 3"/>
          <p:cNvSpPr/>
          <p:nvPr/>
        </p:nvSpPr>
        <p:spPr>
          <a:xfrm>
            <a:off x="914400" y="1371600"/>
            <a:ext cx="1280160" cy="731520"/>
          </a:xfrm>
          <a:prstGeom prst="rect">
            <a:avLst/>
          </a:prstGeom>
          <a:solidFill>
            <a:srgbClr val="F79646"/>
          </a:solidFill>
          <a:ln/>
        </p:spPr>
        <p:txBody>
          <a:bodyPr/>
          <a:lstStyle/>
          <a:p>
            <a:endParaRPr lang="fr-FR"/>
          </a:p>
        </p:txBody>
      </p:sp>
      <p:sp>
        <p:nvSpPr>
          <p:cNvPr id="6" name="Text 4"/>
          <p:cNvSpPr/>
          <p:nvPr/>
        </p:nvSpPr>
        <p:spPr>
          <a:xfrm>
            <a:off x="914400" y="1371600"/>
            <a:ext cx="1280160" cy="731520"/>
          </a:xfrm>
          <a:prstGeom prst="rect">
            <a:avLst/>
          </a:prstGeom>
          <a:noFill/>
          <a:ln/>
        </p:spPr>
        <p:txBody>
          <a:bodyPr wrap="square" rtlCol="0" anchor="ctr"/>
          <a:lstStyle/>
          <a:p>
            <a:pPr marL="0" indent="0" algn="ctr">
              <a:buNone/>
            </a:pPr>
            <a:r>
              <a:rPr lang="en-US" sz="1200" b="1" dirty="0">
                <a:solidFill>
                  <a:srgbClr val="FFFFFF"/>
                </a:solidFill>
              </a:rPr>
              <a:t>Donnée</a:t>
            </a:r>
            <a:endParaRPr lang="en-US" sz="1200" dirty="0"/>
          </a:p>
          <a:p>
            <a:pPr marL="0" indent="0" algn="ctr">
              <a:buNone/>
            </a:pPr>
            <a:r>
              <a:rPr lang="en-US" sz="1200" b="1" dirty="0">
                <a:solidFill>
                  <a:srgbClr val="FFFFFF"/>
                </a:solidFill>
              </a:rPr>
              <a:t>"2025"</a:t>
            </a:r>
            <a:endParaRPr lang="en-US" sz="1200" dirty="0"/>
          </a:p>
        </p:txBody>
      </p:sp>
      <p:sp>
        <p:nvSpPr>
          <p:cNvPr id="7" name="Shape 5"/>
          <p:cNvSpPr/>
          <p:nvPr/>
        </p:nvSpPr>
        <p:spPr>
          <a:xfrm>
            <a:off x="2743200" y="1371600"/>
            <a:ext cx="1280160" cy="731520"/>
          </a:xfrm>
          <a:prstGeom prst="rect">
            <a:avLst/>
          </a:prstGeom>
          <a:solidFill>
            <a:srgbClr val="1F4E78"/>
          </a:solidFill>
          <a:ln/>
        </p:spPr>
        <p:txBody>
          <a:bodyPr/>
          <a:lstStyle/>
          <a:p>
            <a:endParaRPr lang="fr-FR"/>
          </a:p>
        </p:txBody>
      </p:sp>
      <p:sp>
        <p:nvSpPr>
          <p:cNvPr id="8" name="Text 6"/>
          <p:cNvSpPr/>
          <p:nvPr/>
        </p:nvSpPr>
        <p:spPr>
          <a:xfrm>
            <a:off x="2743200" y="1371600"/>
            <a:ext cx="1280160" cy="731520"/>
          </a:xfrm>
          <a:prstGeom prst="rect">
            <a:avLst/>
          </a:prstGeom>
          <a:noFill/>
          <a:ln/>
        </p:spPr>
        <p:txBody>
          <a:bodyPr wrap="square" rtlCol="0" anchor="ctr"/>
          <a:lstStyle/>
          <a:p>
            <a:pPr marL="0" indent="0" algn="ctr">
              <a:buNone/>
            </a:pPr>
            <a:r>
              <a:rPr lang="en-US" sz="1200" b="1" dirty="0">
                <a:solidFill>
                  <a:srgbClr val="FFFFFF"/>
                </a:solidFill>
              </a:rPr>
              <a:t>Traitement</a:t>
            </a:r>
            <a:endParaRPr lang="en-US" sz="1200" dirty="0"/>
          </a:p>
        </p:txBody>
      </p:sp>
      <p:sp>
        <p:nvSpPr>
          <p:cNvPr id="9" name="Shape 7"/>
          <p:cNvSpPr/>
          <p:nvPr/>
        </p:nvSpPr>
        <p:spPr>
          <a:xfrm>
            <a:off x="4572000" y="1371600"/>
            <a:ext cx="1280160" cy="731520"/>
          </a:xfrm>
          <a:prstGeom prst="rect">
            <a:avLst/>
          </a:prstGeom>
          <a:solidFill>
            <a:srgbClr val="F79646"/>
          </a:solidFill>
          <a:ln/>
        </p:spPr>
        <p:txBody>
          <a:bodyPr/>
          <a:lstStyle/>
          <a:p>
            <a:endParaRPr lang="fr-FR"/>
          </a:p>
        </p:txBody>
      </p:sp>
      <p:sp>
        <p:nvSpPr>
          <p:cNvPr id="10" name="Text 8"/>
          <p:cNvSpPr/>
          <p:nvPr/>
        </p:nvSpPr>
        <p:spPr>
          <a:xfrm>
            <a:off x="4572000" y="1371600"/>
            <a:ext cx="1280160" cy="731520"/>
          </a:xfrm>
          <a:prstGeom prst="rect">
            <a:avLst/>
          </a:prstGeom>
          <a:noFill/>
          <a:ln/>
        </p:spPr>
        <p:txBody>
          <a:bodyPr wrap="square" rtlCol="0" anchor="ctr"/>
          <a:lstStyle/>
          <a:p>
            <a:pPr marL="0" indent="0" algn="ctr">
              <a:buNone/>
            </a:pPr>
            <a:r>
              <a:rPr lang="en-US" sz="1200" b="1" dirty="0">
                <a:solidFill>
                  <a:srgbClr val="FFFFFF"/>
                </a:solidFill>
              </a:rPr>
              <a:t>Information</a:t>
            </a:r>
            <a:endParaRPr lang="en-US" sz="1200" dirty="0"/>
          </a:p>
          <a:p>
            <a:pPr marL="0" indent="0" algn="ctr">
              <a:buNone/>
            </a:pPr>
            <a:r>
              <a:rPr lang="en-US" sz="1200" b="1" dirty="0">
                <a:solidFill>
                  <a:srgbClr val="FFFFFF"/>
                </a:solidFill>
              </a:rPr>
              <a:t>"année courante"</a:t>
            </a:r>
            <a:endParaRPr lang="en-US" sz="1200" dirty="0"/>
          </a:p>
        </p:txBody>
      </p:sp>
      <p:sp>
        <p:nvSpPr>
          <p:cNvPr id="11" name="Shape 9"/>
          <p:cNvSpPr/>
          <p:nvPr/>
        </p:nvSpPr>
        <p:spPr>
          <a:xfrm>
            <a:off x="2286000" y="1737360"/>
            <a:ext cx="365760" cy="0"/>
          </a:xfrm>
          <a:prstGeom prst="line">
            <a:avLst/>
          </a:prstGeom>
          <a:noFill/>
          <a:ln w="25400">
            <a:solidFill>
              <a:srgbClr val="1F1F1F"/>
            </a:solidFill>
            <a:prstDash val="solid"/>
          </a:ln>
        </p:spPr>
        <p:txBody>
          <a:bodyPr/>
          <a:lstStyle/>
          <a:p>
            <a:endParaRPr lang="fr-FR"/>
          </a:p>
        </p:txBody>
      </p:sp>
      <p:sp>
        <p:nvSpPr>
          <p:cNvPr id="12" name="Shape 10"/>
          <p:cNvSpPr/>
          <p:nvPr/>
        </p:nvSpPr>
        <p:spPr>
          <a:xfrm>
            <a:off x="4114800" y="1737360"/>
            <a:ext cx="365760" cy="0"/>
          </a:xfrm>
          <a:prstGeom prst="line">
            <a:avLst/>
          </a:prstGeom>
          <a:noFill/>
          <a:ln w="25400">
            <a:solidFill>
              <a:srgbClr val="1F1F1F"/>
            </a:solidFill>
            <a:prstDash val="solid"/>
          </a:ln>
        </p:spPr>
        <p:txBody>
          <a:bodyPr/>
          <a:lstStyle/>
          <a:p>
            <a:endParaRPr lang="fr-FR"/>
          </a:p>
        </p:txBody>
      </p:sp>
      <p:sp>
        <p:nvSpPr>
          <p:cNvPr id="13" name="Text 11"/>
          <p:cNvSpPr/>
          <p:nvPr/>
        </p:nvSpPr>
        <p:spPr>
          <a:xfrm>
            <a:off x="457200" y="2743200"/>
            <a:ext cx="8229600" cy="457200"/>
          </a:xfrm>
          <a:prstGeom prst="rect">
            <a:avLst/>
          </a:prstGeom>
          <a:noFill/>
          <a:ln/>
        </p:spPr>
        <p:txBody>
          <a:bodyPr wrap="square" rtlCol="0" anchor="ctr"/>
          <a:lstStyle/>
          <a:p>
            <a:pPr marL="0" indent="0" algn="l">
              <a:buNone/>
            </a:pPr>
            <a:r>
              <a:rPr lang="en-US" sz="1300" b="1" dirty="0">
                <a:solidFill>
                  <a:srgbClr val="1F1F1F"/>
                </a:solidFill>
              </a:rPr>
              <a:t>Exemple : "ALI" (donnée brute) → analyse → "nom d'étudiant" (information)</a:t>
            </a:r>
            <a:endParaRPr lang="en-US" sz="1300" dirty="0"/>
          </a:p>
        </p:txBody>
      </p:sp>
      <p:sp>
        <p:nvSpPr>
          <p:cNvPr id="14" name="Text 12"/>
          <p:cNvSpPr/>
          <p:nvPr/>
        </p:nvSpPr>
        <p:spPr>
          <a:xfrm>
            <a:off x="457200" y="3291840"/>
            <a:ext cx="8229600" cy="731520"/>
          </a:xfrm>
          <a:prstGeom prst="rect">
            <a:avLst/>
          </a:prstGeom>
          <a:noFill/>
          <a:ln/>
        </p:spPr>
        <p:txBody>
          <a:bodyPr wrap="square" rtlCol="0" anchor="ctr"/>
          <a:lstStyle/>
          <a:p>
            <a:pPr marL="0" indent="0" algn="l">
              <a:buNone/>
            </a:pPr>
            <a:r>
              <a:rPr lang="en-US" sz="1300" dirty="0">
                <a:solidFill>
                  <a:srgbClr val="1F1F1F"/>
                </a:solidFill>
              </a:rPr>
              <a:t>Une base de données organise et structure les données pour en extraire de l'information pertinente.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Définition d'une base de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5/40</a:t>
            </a:r>
            <a:endParaRPr lang="en-US" sz="1000" dirty="0"/>
          </a:p>
        </p:txBody>
      </p:sp>
      <p:sp>
        <p:nvSpPr>
          <p:cNvPr id="5" name="Text 3"/>
          <p:cNvSpPr/>
          <p:nvPr/>
        </p:nvSpPr>
        <p:spPr>
          <a:xfrm>
            <a:off x="457200" y="822960"/>
            <a:ext cx="8229600" cy="731520"/>
          </a:xfrm>
          <a:prstGeom prst="rect">
            <a:avLst/>
          </a:prstGeom>
          <a:noFill/>
          <a:ln/>
        </p:spPr>
        <p:txBody>
          <a:bodyPr wrap="square" rtlCol="0" anchor="ctr"/>
          <a:lstStyle/>
          <a:p>
            <a:pPr marL="0" indent="0" algn="l">
              <a:buNone/>
            </a:pPr>
            <a:r>
              <a:rPr lang="en-US" sz="1400" b="1" dirty="0">
                <a:solidFill>
                  <a:srgbClr val="1F4E78"/>
                </a:solidFill>
              </a:rPr>
              <a:t>Ensemble structuré de données, organisé pour permettre un accès, une mise à jour et une interrogation efficace.</a:t>
            </a:r>
            <a:endParaRPr lang="en-US" sz="1400" dirty="0"/>
          </a:p>
        </p:txBody>
      </p:sp>
      <p:sp>
        <p:nvSpPr>
          <p:cNvPr id="6" name="Shape 4"/>
          <p:cNvSpPr/>
          <p:nvPr/>
        </p:nvSpPr>
        <p:spPr>
          <a:xfrm>
            <a:off x="457200" y="1828800"/>
            <a:ext cx="8229600" cy="411480"/>
          </a:xfrm>
          <a:prstGeom prst="rect">
            <a:avLst/>
          </a:prstGeom>
          <a:solidFill>
            <a:srgbClr val="E7E6E6"/>
          </a:solidFill>
          <a:ln w="12700">
            <a:solidFill>
              <a:srgbClr val="E7E6E6"/>
            </a:solidFill>
            <a:prstDash val="solid"/>
          </a:ln>
        </p:spPr>
        <p:txBody>
          <a:bodyPr/>
          <a:lstStyle/>
          <a:p>
            <a:endParaRPr lang="fr-FR"/>
          </a:p>
        </p:txBody>
      </p:sp>
      <p:sp>
        <p:nvSpPr>
          <p:cNvPr id="7" name="Text 5"/>
          <p:cNvSpPr/>
          <p:nvPr/>
        </p:nvSpPr>
        <p:spPr>
          <a:xfrm>
            <a:off x="640080" y="1874520"/>
            <a:ext cx="7863840" cy="320040"/>
          </a:xfrm>
          <a:prstGeom prst="rect">
            <a:avLst/>
          </a:prstGeom>
          <a:noFill/>
          <a:ln/>
        </p:spPr>
        <p:txBody>
          <a:bodyPr wrap="square" rtlCol="0" anchor="ctr"/>
          <a:lstStyle/>
          <a:p>
            <a:pPr marL="0" indent="0" algn="l">
              <a:buNone/>
            </a:pPr>
            <a:r>
              <a:rPr lang="en-US" sz="1200" dirty="0">
                <a:solidFill>
                  <a:srgbClr val="1F1F1F"/>
                </a:solidFill>
              </a:rPr>
              <a:t>1.  Structurée : organisée selon un schéma défini</a:t>
            </a:r>
            <a:endParaRPr lang="en-US" sz="1200" dirty="0"/>
          </a:p>
        </p:txBody>
      </p:sp>
      <p:sp>
        <p:nvSpPr>
          <p:cNvPr id="8" name="Shape 6"/>
          <p:cNvSpPr/>
          <p:nvPr/>
        </p:nvSpPr>
        <p:spPr>
          <a:xfrm>
            <a:off x="457200" y="2286000"/>
            <a:ext cx="8229600" cy="411480"/>
          </a:xfrm>
          <a:prstGeom prst="rect">
            <a:avLst/>
          </a:prstGeom>
          <a:solidFill>
            <a:srgbClr val="FFFFFF"/>
          </a:solidFill>
          <a:ln w="12700">
            <a:solidFill>
              <a:srgbClr val="E7E6E6"/>
            </a:solidFill>
            <a:prstDash val="solid"/>
          </a:ln>
        </p:spPr>
        <p:txBody>
          <a:bodyPr/>
          <a:lstStyle/>
          <a:p>
            <a:endParaRPr lang="fr-FR"/>
          </a:p>
        </p:txBody>
      </p:sp>
      <p:sp>
        <p:nvSpPr>
          <p:cNvPr id="9" name="Text 7"/>
          <p:cNvSpPr/>
          <p:nvPr/>
        </p:nvSpPr>
        <p:spPr>
          <a:xfrm>
            <a:off x="640080" y="2331720"/>
            <a:ext cx="7863840" cy="320040"/>
          </a:xfrm>
          <a:prstGeom prst="rect">
            <a:avLst/>
          </a:prstGeom>
          <a:noFill/>
          <a:ln/>
        </p:spPr>
        <p:txBody>
          <a:bodyPr wrap="square" rtlCol="0" anchor="ctr"/>
          <a:lstStyle/>
          <a:p>
            <a:pPr marL="0" indent="0" algn="l">
              <a:buNone/>
            </a:pPr>
            <a:r>
              <a:rPr lang="en-US" sz="1200" dirty="0">
                <a:solidFill>
                  <a:srgbClr val="1F1F1F"/>
                </a:solidFill>
              </a:rPr>
              <a:t>2.  Persistante : les données survivent à l'arrêt de l'application</a:t>
            </a:r>
            <a:endParaRPr lang="en-US" sz="1200" dirty="0"/>
          </a:p>
        </p:txBody>
      </p:sp>
      <p:sp>
        <p:nvSpPr>
          <p:cNvPr id="10" name="Shape 8"/>
          <p:cNvSpPr/>
          <p:nvPr/>
        </p:nvSpPr>
        <p:spPr>
          <a:xfrm>
            <a:off x="457200" y="2743200"/>
            <a:ext cx="8229600" cy="411480"/>
          </a:xfrm>
          <a:prstGeom prst="rect">
            <a:avLst/>
          </a:prstGeom>
          <a:solidFill>
            <a:srgbClr val="E7E6E6"/>
          </a:solidFill>
          <a:ln w="12700">
            <a:solidFill>
              <a:srgbClr val="E7E6E6"/>
            </a:solidFill>
            <a:prstDash val="solid"/>
          </a:ln>
        </p:spPr>
        <p:txBody>
          <a:bodyPr/>
          <a:lstStyle/>
          <a:p>
            <a:endParaRPr lang="fr-FR"/>
          </a:p>
        </p:txBody>
      </p:sp>
      <p:sp>
        <p:nvSpPr>
          <p:cNvPr id="11" name="Text 9"/>
          <p:cNvSpPr/>
          <p:nvPr/>
        </p:nvSpPr>
        <p:spPr>
          <a:xfrm>
            <a:off x="640080" y="2788920"/>
            <a:ext cx="7863840" cy="320040"/>
          </a:xfrm>
          <a:prstGeom prst="rect">
            <a:avLst/>
          </a:prstGeom>
          <a:noFill/>
          <a:ln/>
        </p:spPr>
        <p:txBody>
          <a:bodyPr wrap="square" rtlCol="0" anchor="ctr"/>
          <a:lstStyle/>
          <a:p>
            <a:pPr marL="0" indent="0" algn="l">
              <a:buNone/>
            </a:pPr>
            <a:r>
              <a:rPr lang="en-US" sz="1200" dirty="0">
                <a:solidFill>
                  <a:srgbClr val="1F1F1F"/>
                </a:solidFill>
              </a:rPr>
              <a:t>3.  Cohérente : respecte des règles d'intégrité</a:t>
            </a:r>
            <a:endParaRPr lang="en-US" sz="1200" dirty="0"/>
          </a:p>
        </p:txBody>
      </p:sp>
      <p:sp>
        <p:nvSpPr>
          <p:cNvPr id="12" name="Shape 10"/>
          <p:cNvSpPr/>
          <p:nvPr/>
        </p:nvSpPr>
        <p:spPr>
          <a:xfrm>
            <a:off x="457200" y="3200400"/>
            <a:ext cx="8229600" cy="411480"/>
          </a:xfrm>
          <a:prstGeom prst="rect">
            <a:avLst/>
          </a:prstGeom>
          <a:solidFill>
            <a:srgbClr val="FFFFFF"/>
          </a:solidFill>
          <a:ln w="12700">
            <a:solidFill>
              <a:srgbClr val="E7E6E6"/>
            </a:solidFill>
            <a:prstDash val="solid"/>
          </a:ln>
        </p:spPr>
        <p:txBody>
          <a:bodyPr/>
          <a:lstStyle/>
          <a:p>
            <a:endParaRPr lang="fr-FR"/>
          </a:p>
        </p:txBody>
      </p:sp>
      <p:sp>
        <p:nvSpPr>
          <p:cNvPr id="13" name="Text 11"/>
          <p:cNvSpPr/>
          <p:nvPr/>
        </p:nvSpPr>
        <p:spPr>
          <a:xfrm>
            <a:off x="640080" y="3246120"/>
            <a:ext cx="7863840" cy="320040"/>
          </a:xfrm>
          <a:prstGeom prst="rect">
            <a:avLst/>
          </a:prstGeom>
          <a:noFill/>
          <a:ln/>
        </p:spPr>
        <p:txBody>
          <a:bodyPr wrap="square" rtlCol="0" anchor="ctr"/>
          <a:lstStyle/>
          <a:p>
            <a:pPr marL="0" indent="0" algn="l">
              <a:buNone/>
            </a:pPr>
            <a:r>
              <a:rPr lang="en-US" sz="1200" dirty="0">
                <a:solidFill>
                  <a:srgbClr val="1F1F1F"/>
                </a:solidFill>
              </a:rPr>
              <a:t>4.  Partagée : accessible par plusieurs utilisateurs</a:t>
            </a:r>
            <a:endParaRPr lang="en-US" sz="1200" dirty="0"/>
          </a:p>
        </p:txBody>
      </p:sp>
      <p:sp>
        <p:nvSpPr>
          <p:cNvPr id="14" name="Shape 12"/>
          <p:cNvSpPr/>
          <p:nvPr/>
        </p:nvSpPr>
        <p:spPr>
          <a:xfrm>
            <a:off x="457200" y="3657600"/>
            <a:ext cx="8229600" cy="411480"/>
          </a:xfrm>
          <a:prstGeom prst="rect">
            <a:avLst/>
          </a:prstGeom>
          <a:solidFill>
            <a:srgbClr val="E7E6E6"/>
          </a:solidFill>
          <a:ln w="12700">
            <a:solidFill>
              <a:srgbClr val="E7E6E6"/>
            </a:solidFill>
            <a:prstDash val="solid"/>
          </a:ln>
        </p:spPr>
        <p:txBody>
          <a:bodyPr/>
          <a:lstStyle/>
          <a:p>
            <a:endParaRPr lang="fr-FR"/>
          </a:p>
        </p:txBody>
      </p:sp>
      <p:sp>
        <p:nvSpPr>
          <p:cNvPr id="15" name="Text 13"/>
          <p:cNvSpPr/>
          <p:nvPr/>
        </p:nvSpPr>
        <p:spPr>
          <a:xfrm>
            <a:off x="640080" y="3703320"/>
            <a:ext cx="7863840" cy="320040"/>
          </a:xfrm>
          <a:prstGeom prst="rect">
            <a:avLst/>
          </a:prstGeom>
          <a:noFill/>
          <a:ln/>
        </p:spPr>
        <p:txBody>
          <a:bodyPr wrap="square" rtlCol="0" anchor="ctr"/>
          <a:lstStyle/>
          <a:p>
            <a:pPr marL="0" indent="0" algn="l">
              <a:buNone/>
            </a:pPr>
            <a:r>
              <a:rPr lang="en-US" sz="1200" dirty="0">
                <a:solidFill>
                  <a:srgbClr val="1F1F1F"/>
                </a:solidFill>
              </a:rPr>
              <a:t>5.  Interrogeable : requêtes complexes possibles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Fichiers classiques vs Base de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6/40</a:t>
            </a:r>
            <a:endParaRPr lang="en-US" sz="1000" dirty="0"/>
          </a:p>
        </p:txBody>
      </p:sp>
      <p:sp>
        <p:nvSpPr>
          <p:cNvPr id="5" name="Shape 3"/>
          <p:cNvSpPr/>
          <p:nvPr/>
        </p:nvSpPr>
        <p:spPr>
          <a:xfrm>
            <a:off x="182880" y="822960"/>
            <a:ext cx="2011680" cy="411480"/>
          </a:xfrm>
          <a:prstGeom prst="rect">
            <a:avLst/>
          </a:prstGeom>
          <a:solidFill>
            <a:srgbClr val="2E75B6"/>
          </a:solidFill>
          <a:ln w="12700">
            <a:solidFill>
              <a:srgbClr val="E7E6E6"/>
            </a:solidFill>
            <a:prstDash val="solid"/>
          </a:ln>
        </p:spPr>
        <p:txBody>
          <a:bodyPr/>
          <a:lstStyle/>
          <a:p>
            <a:endParaRPr lang="fr-FR"/>
          </a:p>
        </p:txBody>
      </p:sp>
      <p:sp>
        <p:nvSpPr>
          <p:cNvPr id="6" name="Text 4"/>
          <p:cNvSpPr/>
          <p:nvPr/>
        </p:nvSpPr>
        <p:spPr>
          <a:xfrm>
            <a:off x="274320" y="822960"/>
            <a:ext cx="1828800" cy="411480"/>
          </a:xfrm>
          <a:prstGeom prst="rect">
            <a:avLst/>
          </a:prstGeom>
          <a:noFill/>
          <a:ln/>
        </p:spPr>
        <p:txBody>
          <a:bodyPr wrap="square" rtlCol="0" anchor="ctr"/>
          <a:lstStyle/>
          <a:p>
            <a:pPr marL="0" indent="0" algn="l">
              <a:buNone/>
            </a:pPr>
            <a:r>
              <a:rPr lang="en-US" sz="1000" b="1" dirty="0">
                <a:solidFill>
                  <a:srgbClr val="FFFFFF"/>
                </a:solidFill>
              </a:rPr>
              <a:t>Critère</a:t>
            </a:r>
            <a:endParaRPr lang="en-US" sz="1000" dirty="0"/>
          </a:p>
        </p:txBody>
      </p:sp>
      <p:sp>
        <p:nvSpPr>
          <p:cNvPr id="7" name="Shape 5"/>
          <p:cNvSpPr/>
          <p:nvPr/>
        </p:nvSpPr>
        <p:spPr>
          <a:xfrm>
            <a:off x="2194560" y="822960"/>
            <a:ext cx="3200400" cy="411480"/>
          </a:xfrm>
          <a:prstGeom prst="rect">
            <a:avLst/>
          </a:prstGeom>
          <a:solidFill>
            <a:srgbClr val="2E75B6"/>
          </a:solidFill>
          <a:ln w="12700">
            <a:solidFill>
              <a:srgbClr val="E7E6E6"/>
            </a:solidFill>
            <a:prstDash val="solid"/>
          </a:ln>
        </p:spPr>
        <p:txBody>
          <a:bodyPr/>
          <a:lstStyle/>
          <a:p>
            <a:endParaRPr lang="fr-FR"/>
          </a:p>
        </p:txBody>
      </p:sp>
      <p:sp>
        <p:nvSpPr>
          <p:cNvPr id="8" name="Text 6"/>
          <p:cNvSpPr/>
          <p:nvPr/>
        </p:nvSpPr>
        <p:spPr>
          <a:xfrm>
            <a:off x="2286000" y="822960"/>
            <a:ext cx="3017520" cy="411480"/>
          </a:xfrm>
          <a:prstGeom prst="rect">
            <a:avLst/>
          </a:prstGeom>
          <a:noFill/>
          <a:ln/>
        </p:spPr>
        <p:txBody>
          <a:bodyPr wrap="square" rtlCol="0" anchor="ctr"/>
          <a:lstStyle/>
          <a:p>
            <a:pPr marL="0" indent="0" algn="l">
              <a:buNone/>
            </a:pPr>
            <a:r>
              <a:rPr lang="en-US" sz="900" b="1" dirty="0">
                <a:solidFill>
                  <a:srgbClr val="FFFFFF"/>
                </a:solidFill>
              </a:rPr>
              <a:t>Fichiers indépendants</a:t>
            </a:r>
            <a:endParaRPr lang="en-US" sz="900" dirty="0"/>
          </a:p>
        </p:txBody>
      </p:sp>
      <p:sp>
        <p:nvSpPr>
          <p:cNvPr id="9" name="Shape 7"/>
          <p:cNvSpPr/>
          <p:nvPr/>
        </p:nvSpPr>
        <p:spPr>
          <a:xfrm>
            <a:off x="5394960" y="822960"/>
            <a:ext cx="3200400" cy="411480"/>
          </a:xfrm>
          <a:prstGeom prst="rect">
            <a:avLst/>
          </a:prstGeom>
          <a:solidFill>
            <a:srgbClr val="2E75B6"/>
          </a:solidFill>
          <a:ln w="12700">
            <a:solidFill>
              <a:srgbClr val="E7E6E6"/>
            </a:solidFill>
            <a:prstDash val="solid"/>
          </a:ln>
        </p:spPr>
        <p:txBody>
          <a:bodyPr/>
          <a:lstStyle/>
          <a:p>
            <a:endParaRPr lang="fr-FR"/>
          </a:p>
        </p:txBody>
      </p:sp>
      <p:sp>
        <p:nvSpPr>
          <p:cNvPr id="10" name="Text 8"/>
          <p:cNvSpPr/>
          <p:nvPr/>
        </p:nvSpPr>
        <p:spPr>
          <a:xfrm>
            <a:off x="5486400" y="822960"/>
            <a:ext cx="3017520" cy="411480"/>
          </a:xfrm>
          <a:prstGeom prst="rect">
            <a:avLst/>
          </a:prstGeom>
          <a:noFill/>
          <a:ln/>
        </p:spPr>
        <p:txBody>
          <a:bodyPr wrap="square" rtlCol="0" anchor="ctr"/>
          <a:lstStyle/>
          <a:p>
            <a:pPr marL="0" indent="0" algn="l">
              <a:buNone/>
            </a:pPr>
            <a:r>
              <a:rPr lang="en-US" sz="900" b="1" dirty="0">
                <a:solidFill>
                  <a:srgbClr val="FFFFFF"/>
                </a:solidFill>
              </a:rPr>
              <a:t>Base de données</a:t>
            </a:r>
            <a:endParaRPr lang="en-US" sz="900" dirty="0"/>
          </a:p>
        </p:txBody>
      </p:sp>
      <p:sp>
        <p:nvSpPr>
          <p:cNvPr id="11" name="Shape 9"/>
          <p:cNvSpPr/>
          <p:nvPr/>
        </p:nvSpPr>
        <p:spPr>
          <a:xfrm>
            <a:off x="182880" y="1234440"/>
            <a:ext cx="2011680" cy="411480"/>
          </a:xfrm>
          <a:prstGeom prst="rect">
            <a:avLst/>
          </a:prstGeom>
          <a:solidFill>
            <a:srgbClr val="FFFFFF"/>
          </a:solidFill>
          <a:ln w="12700">
            <a:solidFill>
              <a:srgbClr val="E7E6E6"/>
            </a:solidFill>
            <a:prstDash val="solid"/>
          </a:ln>
        </p:spPr>
        <p:txBody>
          <a:bodyPr/>
          <a:lstStyle/>
          <a:p>
            <a:endParaRPr lang="fr-FR"/>
          </a:p>
        </p:txBody>
      </p:sp>
      <p:sp>
        <p:nvSpPr>
          <p:cNvPr id="12" name="Text 10"/>
          <p:cNvSpPr/>
          <p:nvPr/>
        </p:nvSpPr>
        <p:spPr>
          <a:xfrm>
            <a:off x="274320" y="1234440"/>
            <a:ext cx="1828800" cy="411480"/>
          </a:xfrm>
          <a:prstGeom prst="rect">
            <a:avLst/>
          </a:prstGeom>
          <a:noFill/>
          <a:ln/>
        </p:spPr>
        <p:txBody>
          <a:bodyPr wrap="square" rtlCol="0" anchor="ctr"/>
          <a:lstStyle/>
          <a:p>
            <a:pPr marL="0" indent="0" algn="l">
              <a:buNone/>
            </a:pPr>
            <a:r>
              <a:rPr lang="en-US" sz="1000" dirty="0">
                <a:solidFill>
                  <a:srgbClr val="1F1F1F"/>
                </a:solidFill>
              </a:rPr>
              <a:t>Redondance</a:t>
            </a:r>
            <a:endParaRPr lang="en-US" sz="1000" dirty="0"/>
          </a:p>
        </p:txBody>
      </p:sp>
      <p:sp>
        <p:nvSpPr>
          <p:cNvPr id="13" name="Shape 11"/>
          <p:cNvSpPr/>
          <p:nvPr/>
        </p:nvSpPr>
        <p:spPr>
          <a:xfrm>
            <a:off x="2194560" y="1234440"/>
            <a:ext cx="3200400" cy="411480"/>
          </a:xfrm>
          <a:prstGeom prst="rect">
            <a:avLst/>
          </a:prstGeom>
          <a:solidFill>
            <a:srgbClr val="FFFFFF"/>
          </a:solidFill>
          <a:ln w="12700">
            <a:solidFill>
              <a:srgbClr val="E7E6E6"/>
            </a:solidFill>
            <a:prstDash val="solid"/>
          </a:ln>
        </p:spPr>
        <p:txBody>
          <a:bodyPr/>
          <a:lstStyle/>
          <a:p>
            <a:endParaRPr lang="fr-FR"/>
          </a:p>
        </p:txBody>
      </p:sp>
      <p:sp>
        <p:nvSpPr>
          <p:cNvPr id="14" name="Text 12"/>
          <p:cNvSpPr/>
          <p:nvPr/>
        </p:nvSpPr>
        <p:spPr>
          <a:xfrm>
            <a:off x="2286000" y="1234440"/>
            <a:ext cx="3017520" cy="411480"/>
          </a:xfrm>
          <a:prstGeom prst="rect">
            <a:avLst/>
          </a:prstGeom>
          <a:noFill/>
          <a:ln/>
        </p:spPr>
        <p:txBody>
          <a:bodyPr wrap="square" rtlCol="0" anchor="ctr"/>
          <a:lstStyle/>
          <a:p>
            <a:pPr marL="0" indent="0" algn="l">
              <a:buNone/>
            </a:pPr>
            <a:r>
              <a:rPr lang="en-US" sz="900" dirty="0">
                <a:solidFill>
                  <a:srgbClr val="1F1F1F"/>
                </a:solidFill>
              </a:rPr>
              <a:t>Élevée (risque d'incohérence)</a:t>
            </a:r>
            <a:endParaRPr lang="en-US" sz="900" dirty="0"/>
          </a:p>
        </p:txBody>
      </p:sp>
      <p:sp>
        <p:nvSpPr>
          <p:cNvPr id="15" name="Shape 13"/>
          <p:cNvSpPr/>
          <p:nvPr/>
        </p:nvSpPr>
        <p:spPr>
          <a:xfrm>
            <a:off x="5394960" y="1234440"/>
            <a:ext cx="3200400" cy="411480"/>
          </a:xfrm>
          <a:prstGeom prst="rect">
            <a:avLst/>
          </a:prstGeom>
          <a:solidFill>
            <a:srgbClr val="FFFFFF"/>
          </a:solidFill>
          <a:ln w="12700">
            <a:solidFill>
              <a:srgbClr val="E7E6E6"/>
            </a:solidFill>
            <a:prstDash val="solid"/>
          </a:ln>
        </p:spPr>
        <p:txBody>
          <a:bodyPr/>
          <a:lstStyle/>
          <a:p>
            <a:endParaRPr lang="fr-FR"/>
          </a:p>
        </p:txBody>
      </p:sp>
      <p:sp>
        <p:nvSpPr>
          <p:cNvPr id="16" name="Text 14"/>
          <p:cNvSpPr/>
          <p:nvPr/>
        </p:nvSpPr>
        <p:spPr>
          <a:xfrm>
            <a:off x="5486400" y="1234440"/>
            <a:ext cx="3017520" cy="411480"/>
          </a:xfrm>
          <a:prstGeom prst="rect">
            <a:avLst/>
          </a:prstGeom>
          <a:noFill/>
          <a:ln/>
        </p:spPr>
        <p:txBody>
          <a:bodyPr wrap="square" rtlCol="0" anchor="ctr"/>
          <a:lstStyle/>
          <a:p>
            <a:pPr marL="0" indent="0" algn="l">
              <a:buNone/>
            </a:pPr>
            <a:r>
              <a:rPr lang="en-US" sz="900" dirty="0">
                <a:solidFill>
                  <a:srgbClr val="1F1F1F"/>
                </a:solidFill>
              </a:rPr>
              <a:t>Minimale (contrôlée)</a:t>
            </a:r>
            <a:endParaRPr lang="en-US" sz="900" dirty="0"/>
          </a:p>
        </p:txBody>
      </p:sp>
      <p:sp>
        <p:nvSpPr>
          <p:cNvPr id="17" name="Shape 15"/>
          <p:cNvSpPr/>
          <p:nvPr/>
        </p:nvSpPr>
        <p:spPr>
          <a:xfrm>
            <a:off x="182880" y="1645920"/>
            <a:ext cx="2011680" cy="411480"/>
          </a:xfrm>
          <a:prstGeom prst="rect">
            <a:avLst/>
          </a:prstGeom>
          <a:solidFill>
            <a:srgbClr val="E7E6E6"/>
          </a:solidFill>
          <a:ln w="12700">
            <a:solidFill>
              <a:srgbClr val="E7E6E6"/>
            </a:solidFill>
            <a:prstDash val="solid"/>
          </a:ln>
        </p:spPr>
        <p:txBody>
          <a:bodyPr/>
          <a:lstStyle/>
          <a:p>
            <a:endParaRPr lang="fr-FR"/>
          </a:p>
        </p:txBody>
      </p:sp>
      <p:sp>
        <p:nvSpPr>
          <p:cNvPr id="18" name="Text 16"/>
          <p:cNvSpPr/>
          <p:nvPr/>
        </p:nvSpPr>
        <p:spPr>
          <a:xfrm>
            <a:off x="274320" y="1645920"/>
            <a:ext cx="1828800" cy="411480"/>
          </a:xfrm>
          <a:prstGeom prst="rect">
            <a:avLst/>
          </a:prstGeom>
          <a:noFill/>
          <a:ln/>
        </p:spPr>
        <p:txBody>
          <a:bodyPr wrap="square" rtlCol="0" anchor="ctr"/>
          <a:lstStyle/>
          <a:p>
            <a:pPr marL="0" indent="0" algn="l">
              <a:buNone/>
            </a:pPr>
            <a:r>
              <a:rPr lang="en-US" sz="1000" dirty="0">
                <a:solidFill>
                  <a:srgbClr val="1F1F1F"/>
                </a:solidFill>
              </a:rPr>
              <a:t>Cohérence</a:t>
            </a:r>
            <a:endParaRPr lang="en-US" sz="1000" dirty="0"/>
          </a:p>
        </p:txBody>
      </p:sp>
      <p:sp>
        <p:nvSpPr>
          <p:cNvPr id="19" name="Shape 17"/>
          <p:cNvSpPr/>
          <p:nvPr/>
        </p:nvSpPr>
        <p:spPr>
          <a:xfrm>
            <a:off x="2194560" y="1645920"/>
            <a:ext cx="3200400" cy="411480"/>
          </a:xfrm>
          <a:prstGeom prst="rect">
            <a:avLst/>
          </a:prstGeom>
          <a:solidFill>
            <a:srgbClr val="E7E6E6"/>
          </a:solidFill>
          <a:ln w="12700">
            <a:solidFill>
              <a:srgbClr val="E7E6E6"/>
            </a:solidFill>
            <a:prstDash val="solid"/>
          </a:ln>
        </p:spPr>
        <p:txBody>
          <a:bodyPr/>
          <a:lstStyle/>
          <a:p>
            <a:endParaRPr lang="fr-FR"/>
          </a:p>
        </p:txBody>
      </p:sp>
      <p:sp>
        <p:nvSpPr>
          <p:cNvPr id="20" name="Text 18"/>
          <p:cNvSpPr/>
          <p:nvPr/>
        </p:nvSpPr>
        <p:spPr>
          <a:xfrm>
            <a:off x="2286000" y="1645920"/>
            <a:ext cx="3017520" cy="411480"/>
          </a:xfrm>
          <a:prstGeom prst="rect">
            <a:avLst/>
          </a:prstGeom>
          <a:noFill/>
          <a:ln/>
        </p:spPr>
        <p:txBody>
          <a:bodyPr wrap="square" rtlCol="0" anchor="ctr"/>
          <a:lstStyle/>
          <a:p>
            <a:pPr marL="0" indent="0" algn="l">
              <a:buNone/>
            </a:pPr>
            <a:r>
              <a:rPr lang="en-US" sz="900" dirty="0">
                <a:solidFill>
                  <a:srgbClr val="1F1F1F"/>
                </a:solidFill>
              </a:rPr>
              <a:t>Difficile à assurer</a:t>
            </a:r>
            <a:endParaRPr lang="en-US" sz="900" dirty="0"/>
          </a:p>
        </p:txBody>
      </p:sp>
      <p:sp>
        <p:nvSpPr>
          <p:cNvPr id="21" name="Shape 19"/>
          <p:cNvSpPr/>
          <p:nvPr/>
        </p:nvSpPr>
        <p:spPr>
          <a:xfrm>
            <a:off x="5394960" y="1645920"/>
            <a:ext cx="3200400" cy="411480"/>
          </a:xfrm>
          <a:prstGeom prst="rect">
            <a:avLst/>
          </a:prstGeom>
          <a:solidFill>
            <a:srgbClr val="E7E6E6"/>
          </a:solidFill>
          <a:ln w="12700">
            <a:solidFill>
              <a:srgbClr val="E7E6E6"/>
            </a:solidFill>
            <a:prstDash val="solid"/>
          </a:ln>
        </p:spPr>
        <p:txBody>
          <a:bodyPr/>
          <a:lstStyle/>
          <a:p>
            <a:endParaRPr lang="fr-FR"/>
          </a:p>
        </p:txBody>
      </p:sp>
      <p:sp>
        <p:nvSpPr>
          <p:cNvPr id="22" name="Text 20"/>
          <p:cNvSpPr/>
          <p:nvPr/>
        </p:nvSpPr>
        <p:spPr>
          <a:xfrm>
            <a:off x="5486400" y="1645920"/>
            <a:ext cx="3017520" cy="411480"/>
          </a:xfrm>
          <a:prstGeom prst="rect">
            <a:avLst/>
          </a:prstGeom>
          <a:noFill/>
          <a:ln/>
        </p:spPr>
        <p:txBody>
          <a:bodyPr wrap="square" rtlCol="0" anchor="ctr"/>
          <a:lstStyle/>
          <a:p>
            <a:pPr marL="0" indent="0" algn="l">
              <a:buNone/>
            </a:pPr>
            <a:r>
              <a:rPr lang="en-US" sz="900" dirty="0">
                <a:solidFill>
                  <a:srgbClr val="1F1F1F"/>
                </a:solidFill>
              </a:rPr>
              <a:t>Garantie par SGBD</a:t>
            </a:r>
            <a:endParaRPr lang="en-US" sz="900" dirty="0"/>
          </a:p>
        </p:txBody>
      </p:sp>
      <p:sp>
        <p:nvSpPr>
          <p:cNvPr id="23" name="Shape 21"/>
          <p:cNvSpPr/>
          <p:nvPr/>
        </p:nvSpPr>
        <p:spPr>
          <a:xfrm>
            <a:off x="182880" y="2057400"/>
            <a:ext cx="2011680" cy="411480"/>
          </a:xfrm>
          <a:prstGeom prst="rect">
            <a:avLst/>
          </a:prstGeom>
          <a:solidFill>
            <a:srgbClr val="FFFFFF"/>
          </a:solidFill>
          <a:ln w="12700">
            <a:solidFill>
              <a:srgbClr val="E7E6E6"/>
            </a:solidFill>
            <a:prstDash val="solid"/>
          </a:ln>
        </p:spPr>
        <p:txBody>
          <a:bodyPr/>
          <a:lstStyle/>
          <a:p>
            <a:endParaRPr lang="fr-FR"/>
          </a:p>
        </p:txBody>
      </p:sp>
      <p:sp>
        <p:nvSpPr>
          <p:cNvPr id="24" name="Text 22"/>
          <p:cNvSpPr/>
          <p:nvPr/>
        </p:nvSpPr>
        <p:spPr>
          <a:xfrm>
            <a:off x="274320" y="2057400"/>
            <a:ext cx="1828800" cy="411480"/>
          </a:xfrm>
          <a:prstGeom prst="rect">
            <a:avLst/>
          </a:prstGeom>
          <a:noFill/>
          <a:ln/>
        </p:spPr>
        <p:txBody>
          <a:bodyPr wrap="square" rtlCol="0" anchor="ctr"/>
          <a:lstStyle/>
          <a:p>
            <a:pPr marL="0" indent="0" algn="l">
              <a:buNone/>
            </a:pPr>
            <a:r>
              <a:rPr lang="en-US" sz="1000" dirty="0">
                <a:solidFill>
                  <a:srgbClr val="1F1F1F"/>
                </a:solidFill>
              </a:rPr>
              <a:t>Recherche</a:t>
            </a:r>
            <a:endParaRPr lang="en-US" sz="1000" dirty="0"/>
          </a:p>
        </p:txBody>
      </p:sp>
      <p:sp>
        <p:nvSpPr>
          <p:cNvPr id="25" name="Shape 23"/>
          <p:cNvSpPr/>
          <p:nvPr/>
        </p:nvSpPr>
        <p:spPr>
          <a:xfrm>
            <a:off x="2194560" y="2057400"/>
            <a:ext cx="3200400" cy="411480"/>
          </a:xfrm>
          <a:prstGeom prst="rect">
            <a:avLst/>
          </a:prstGeom>
          <a:solidFill>
            <a:srgbClr val="FFFFFF"/>
          </a:solidFill>
          <a:ln w="12700">
            <a:solidFill>
              <a:srgbClr val="E7E6E6"/>
            </a:solidFill>
            <a:prstDash val="solid"/>
          </a:ln>
        </p:spPr>
        <p:txBody>
          <a:bodyPr/>
          <a:lstStyle/>
          <a:p>
            <a:endParaRPr lang="fr-FR"/>
          </a:p>
        </p:txBody>
      </p:sp>
      <p:sp>
        <p:nvSpPr>
          <p:cNvPr id="26" name="Text 24"/>
          <p:cNvSpPr/>
          <p:nvPr/>
        </p:nvSpPr>
        <p:spPr>
          <a:xfrm>
            <a:off x="2286000" y="2057400"/>
            <a:ext cx="3017520" cy="411480"/>
          </a:xfrm>
          <a:prstGeom prst="rect">
            <a:avLst/>
          </a:prstGeom>
          <a:noFill/>
          <a:ln/>
        </p:spPr>
        <p:txBody>
          <a:bodyPr wrap="square" rtlCol="0" anchor="ctr"/>
          <a:lstStyle/>
          <a:p>
            <a:pPr marL="0" indent="0" algn="l">
              <a:buNone/>
            </a:pPr>
            <a:r>
              <a:rPr lang="en-US" sz="900" dirty="0">
                <a:solidFill>
                  <a:srgbClr val="1F1F1F"/>
                </a:solidFill>
              </a:rPr>
              <a:t>Lente, coûteuse</a:t>
            </a:r>
            <a:endParaRPr lang="en-US" sz="900" dirty="0"/>
          </a:p>
        </p:txBody>
      </p:sp>
      <p:sp>
        <p:nvSpPr>
          <p:cNvPr id="27" name="Shape 25"/>
          <p:cNvSpPr/>
          <p:nvPr/>
        </p:nvSpPr>
        <p:spPr>
          <a:xfrm>
            <a:off x="5394960" y="2057400"/>
            <a:ext cx="3200400" cy="411480"/>
          </a:xfrm>
          <a:prstGeom prst="rect">
            <a:avLst/>
          </a:prstGeom>
          <a:solidFill>
            <a:srgbClr val="FFFFFF"/>
          </a:solidFill>
          <a:ln w="12700">
            <a:solidFill>
              <a:srgbClr val="E7E6E6"/>
            </a:solidFill>
            <a:prstDash val="solid"/>
          </a:ln>
        </p:spPr>
        <p:txBody>
          <a:bodyPr/>
          <a:lstStyle/>
          <a:p>
            <a:endParaRPr lang="fr-FR"/>
          </a:p>
        </p:txBody>
      </p:sp>
      <p:sp>
        <p:nvSpPr>
          <p:cNvPr id="28" name="Text 26"/>
          <p:cNvSpPr/>
          <p:nvPr/>
        </p:nvSpPr>
        <p:spPr>
          <a:xfrm>
            <a:off x="5486400" y="2057400"/>
            <a:ext cx="3017520" cy="411480"/>
          </a:xfrm>
          <a:prstGeom prst="rect">
            <a:avLst/>
          </a:prstGeom>
          <a:noFill/>
          <a:ln/>
        </p:spPr>
        <p:txBody>
          <a:bodyPr wrap="square" rtlCol="0" anchor="ctr"/>
          <a:lstStyle/>
          <a:p>
            <a:pPr marL="0" indent="0" algn="l">
              <a:buNone/>
            </a:pPr>
            <a:r>
              <a:rPr lang="en-US" sz="900" dirty="0">
                <a:solidFill>
                  <a:srgbClr val="1F1F1F"/>
                </a:solidFill>
              </a:rPr>
              <a:t>Rapide, optimisée</a:t>
            </a:r>
            <a:endParaRPr lang="en-US" sz="900" dirty="0"/>
          </a:p>
        </p:txBody>
      </p:sp>
      <p:sp>
        <p:nvSpPr>
          <p:cNvPr id="29" name="Shape 27"/>
          <p:cNvSpPr/>
          <p:nvPr/>
        </p:nvSpPr>
        <p:spPr>
          <a:xfrm>
            <a:off x="182880" y="2468880"/>
            <a:ext cx="2011680" cy="411480"/>
          </a:xfrm>
          <a:prstGeom prst="rect">
            <a:avLst/>
          </a:prstGeom>
          <a:solidFill>
            <a:srgbClr val="E7E6E6"/>
          </a:solidFill>
          <a:ln w="12700">
            <a:solidFill>
              <a:srgbClr val="E7E6E6"/>
            </a:solidFill>
            <a:prstDash val="solid"/>
          </a:ln>
        </p:spPr>
        <p:txBody>
          <a:bodyPr/>
          <a:lstStyle/>
          <a:p>
            <a:endParaRPr lang="fr-FR"/>
          </a:p>
        </p:txBody>
      </p:sp>
      <p:sp>
        <p:nvSpPr>
          <p:cNvPr id="30" name="Text 28"/>
          <p:cNvSpPr/>
          <p:nvPr/>
        </p:nvSpPr>
        <p:spPr>
          <a:xfrm>
            <a:off x="274320" y="2468880"/>
            <a:ext cx="1828800" cy="411480"/>
          </a:xfrm>
          <a:prstGeom prst="rect">
            <a:avLst/>
          </a:prstGeom>
          <a:noFill/>
          <a:ln/>
        </p:spPr>
        <p:txBody>
          <a:bodyPr wrap="square" rtlCol="0" anchor="ctr"/>
          <a:lstStyle/>
          <a:p>
            <a:pPr marL="0" indent="0" algn="l">
              <a:buNone/>
            </a:pPr>
            <a:r>
              <a:rPr lang="en-US" sz="1000" dirty="0">
                <a:solidFill>
                  <a:srgbClr val="1F1F1F"/>
                </a:solidFill>
              </a:rPr>
              <a:t>Sécurité</a:t>
            </a:r>
            <a:endParaRPr lang="en-US" sz="1000" dirty="0"/>
          </a:p>
        </p:txBody>
      </p:sp>
      <p:sp>
        <p:nvSpPr>
          <p:cNvPr id="31" name="Shape 29"/>
          <p:cNvSpPr/>
          <p:nvPr/>
        </p:nvSpPr>
        <p:spPr>
          <a:xfrm>
            <a:off x="2194560" y="2468880"/>
            <a:ext cx="3200400" cy="411480"/>
          </a:xfrm>
          <a:prstGeom prst="rect">
            <a:avLst/>
          </a:prstGeom>
          <a:solidFill>
            <a:srgbClr val="E7E6E6"/>
          </a:solidFill>
          <a:ln w="12700">
            <a:solidFill>
              <a:srgbClr val="E7E6E6"/>
            </a:solidFill>
            <a:prstDash val="solid"/>
          </a:ln>
        </p:spPr>
        <p:txBody>
          <a:bodyPr/>
          <a:lstStyle/>
          <a:p>
            <a:endParaRPr lang="fr-FR"/>
          </a:p>
        </p:txBody>
      </p:sp>
      <p:sp>
        <p:nvSpPr>
          <p:cNvPr id="32" name="Text 30"/>
          <p:cNvSpPr/>
          <p:nvPr/>
        </p:nvSpPr>
        <p:spPr>
          <a:xfrm>
            <a:off x="2286000" y="2468880"/>
            <a:ext cx="3017520" cy="411480"/>
          </a:xfrm>
          <a:prstGeom prst="rect">
            <a:avLst/>
          </a:prstGeom>
          <a:noFill/>
          <a:ln/>
        </p:spPr>
        <p:txBody>
          <a:bodyPr wrap="square" rtlCol="0" anchor="ctr"/>
          <a:lstStyle/>
          <a:p>
            <a:pPr marL="0" indent="0" algn="l">
              <a:buNone/>
            </a:pPr>
            <a:r>
              <a:rPr lang="en-US" sz="900" dirty="0">
                <a:solidFill>
                  <a:srgbClr val="1F1F1F"/>
                </a:solidFill>
              </a:rPr>
              <a:t>Limitée</a:t>
            </a:r>
            <a:endParaRPr lang="en-US" sz="900" dirty="0"/>
          </a:p>
        </p:txBody>
      </p:sp>
      <p:sp>
        <p:nvSpPr>
          <p:cNvPr id="33" name="Shape 31"/>
          <p:cNvSpPr/>
          <p:nvPr/>
        </p:nvSpPr>
        <p:spPr>
          <a:xfrm>
            <a:off x="5394960" y="2468880"/>
            <a:ext cx="3200400" cy="411480"/>
          </a:xfrm>
          <a:prstGeom prst="rect">
            <a:avLst/>
          </a:prstGeom>
          <a:solidFill>
            <a:srgbClr val="E7E6E6"/>
          </a:solidFill>
          <a:ln w="12700">
            <a:solidFill>
              <a:srgbClr val="E7E6E6"/>
            </a:solidFill>
            <a:prstDash val="solid"/>
          </a:ln>
        </p:spPr>
        <p:txBody>
          <a:bodyPr/>
          <a:lstStyle/>
          <a:p>
            <a:endParaRPr lang="fr-FR"/>
          </a:p>
        </p:txBody>
      </p:sp>
      <p:sp>
        <p:nvSpPr>
          <p:cNvPr id="34" name="Text 32"/>
          <p:cNvSpPr/>
          <p:nvPr/>
        </p:nvSpPr>
        <p:spPr>
          <a:xfrm>
            <a:off x="5486400" y="2468880"/>
            <a:ext cx="3017520" cy="411480"/>
          </a:xfrm>
          <a:prstGeom prst="rect">
            <a:avLst/>
          </a:prstGeom>
          <a:noFill/>
          <a:ln/>
        </p:spPr>
        <p:txBody>
          <a:bodyPr wrap="square" rtlCol="0" anchor="ctr"/>
          <a:lstStyle/>
          <a:p>
            <a:pPr marL="0" indent="0" algn="l">
              <a:buNone/>
            </a:pPr>
            <a:r>
              <a:rPr lang="en-US" sz="900" dirty="0">
                <a:solidFill>
                  <a:srgbClr val="1F1F1F"/>
                </a:solidFill>
              </a:rPr>
              <a:t>Complète (authentif., chiffrement)</a:t>
            </a:r>
            <a:endParaRPr lang="en-US" sz="900" dirty="0"/>
          </a:p>
        </p:txBody>
      </p:sp>
      <p:sp>
        <p:nvSpPr>
          <p:cNvPr id="35" name="Shape 33"/>
          <p:cNvSpPr/>
          <p:nvPr/>
        </p:nvSpPr>
        <p:spPr>
          <a:xfrm>
            <a:off x="182880" y="2880360"/>
            <a:ext cx="2011680" cy="411480"/>
          </a:xfrm>
          <a:prstGeom prst="rect">
            <a:avLst/>
          </a:prstGeom>
          <a:solidFill>
            <a:srgbClr val="FFFFFF"/>
          </a:solidFill>
          <a:ln w="12700">
            <a:solidFill>
              <a:srgbClr val="E7E6E6"/>
            </a:solidFill>
            <a:prstDash val="solid"/>
          </a:ln>
        </p:spPr>
        <p:txBody>
          <a:bodyPr/>
          <a:lstStyle/>
          <a:p>
            <a:endParaRPr lang="fr-FR"/>
          </a:p>
        </p:txBody>
      </p:sp>
      <p:sp>
        <p:nvSpPr>
          <p:cNvPr id="36" name="Text 34"/>
          <p:cNvSpPr/>
          <p:nvPr/>
        </p:nvSpPr>
        <p:spPr>
          <a:xfrm>
            <a:off x="274320" y="2880360"/>
            <a:ext cx="1828800" cy="411480"/>
          </a:xfrm>
          <a:prstGeom prst="rect">
            <a:avLst/>
          </a:prstGeom>
          <a:noFill/>
          <a:ln/>
        </p:spPr>
        <p:txBody>
          <a:bodyPr wrap="square" rtlCol="0" anchor="ctr"/>
          <a:lstStyle/>
          <a:p>
            <a:pPr marL="0" indent="0" algn="l">
              <a:buNone/>
            </a:pPr>
            <a:r>
              <a:rPr lang="en-US" sz="1000" dirty="0">
                <a:solidFill>
                  <a:srgbClr val="1F1F1F"/>
                </a:solidFill>
              </a:rPr>
              <a:t>Accès simultané</a:t>
            </a:r>
            <a:endParaRPr lang="en-US" sz="1000" dirty="0"/>
          </a:p>
        </p:txBody>
      </p:sp>
      <p:sp>
        <p:nvSpPr>
          <p:cNvPr id="37" name="Shape 35"/>
          <p:cNvSpPr/>
          <p:nvPr/>
        </p:nvSpPr>
        <p:spPr>
          <a:xfrm>
            <a:off x="2194560" y="2880360"/>
            <a:ext cx="3200400" cy="411480"/>
          </a:xfrm>
          <a:prstGeom prst="rect">
            <a:avLst/>
          </a:prstGeom>
          <a:solidFill>
            <a:srgbClr val="FFFFFF"/>
          </a:solidFill>
          <a:ln w="12700">
            <a:solidFill>
              <a:srgbClr val="E7E6E6"/>
            </a:solidFill>
            <a:prstDash val="solid"/>
          </a:ln>
        </p:spPr>
        <p:txBody>
          <a:bodyPr/>
          <a:lstStyle/>
          <a:p>
            <a:endParaRPr lang="fr-FR"/>
          </a:p>
        </p:txBody>
      </p:sp>
      <p:sp>
        <p:nvSpPr>
          <p:cNvPr id="38" name="Text 36"/>
          <p:cNvSpPr/>
          <p:nvPr/>
        </p:nvSpPr>
        <p:spPr>
          <a:xfrm>
            <a:off x="2286000" y="2880360"/>
            <a:ext cx="3017520" cy="411480"/>
          </a:xfrm>
          <a:prstGeom prst="rect">
            <a:avLst/>
          </a:prstGeom>
          <a:noFill/>
          <a:ln/>
        </p:spPr>
        <p:txBody>
          <a:bodyPr wrap="square" rtlCol="0" anchor="ctr"/>
          <a:lstStyle/>
          <a:p>
            <a:pPr marL="0" indent="0" algn="l">
              <a:buNone/>
            </a:pPr>
            <a:r>
              <a:rPr lang="en-US" sz="900" dirty="0">
                <a:solidFill>
                  <a:srgbClr val="1F1F1F"/>
                </a:solidFill>
              </a:rPr>
              <a:t>Problématique</a:t>
            </a:r>
            <a:endParaRPr lang="en-US" sz="900" dirty="0"/>
          </a:p>
        </p:txBody>
      </p:sp>
      <p:sp>
        <p:nvSpPr>
          <p:cNvPr id="39" name="Shape 37"/>
          <p:cNvSpPr/>
          <p:nvPr/>
        </p:nvSpPr>
        <p:spPr>
          <a:xfrm>
            <a:off x="5394960" y="2880360"/>
            <a:ext cx="3200400" cy="411480"/>
          </a:xfrm>
          <a:prstGeom prst="rect">
            <a:avLst/>
          </a:prstGeom>
          <a:solidFill>
            <a:srgbClr val="FFFFFF"/>
          </a:solidFill>
          <a:ln w="12700">
            <a:solidFill>
              <a:srgbClr val="E7E6E6"/>
            </a:solidFill>
            <a:prstDash val="solid"/>
          </a:ln>
        </p:spPr>
        <p:txBody>
          <a:bodyPr/>
          <a:lstStyle/>
          <a:p>
            <a:endParaRPr lang="fr-FR"/>
          </a:p>
        </p:txBody>
      </p:sp>
      <p:sp>
        <p:nvSpPr>
          <p:cNvPr id="40" name="Text 38"/>
          <p:cNvSpPr/>
          <p:nvPr/>
        </p:nvSpPr>
        <p:spPr>
          <a:xfrm>
            <a:off x="5486400" y="2880360"/>
            <a:ext cx="3017520" cy="411480"/>
          </a:xfrm>
          <a:prstGeom prst="rect">
            <a:avLst/>
          </a:prstGeom>
          <a:noFill/>
          <a:ln/>
        </p:spPr>
        <p:txBody>
          <a:bodyPr wrap="square" rtlCol="0" anchor="ctr"/>
          <a:lstStyle/>
          <a:p>
            <a:pPr marL="0" indent="0" algn="l">
              <a:buNone/>
            </a:pPr>
            <a:r>
              <a:rPr lang="en-US" sz="900" dirty="0">
                <a:solidFill>
                  <a:srgbClr val="1F1F1F"/>
                </a:solidFill>
              </a:rPr>
              <a:t>Géré par SGBD</a:t>
            </a:r>
            <a:endParaRPr lang="en-US" sz="900" dirty="0"/>
          </a:p>
        </p:txBody>
      </p:sp>
      <p:sp>
        <p:nvSpPr>
          <p:cNvPr id="41" name="Shape 39"/>
          <p:cNvSpPr/>
          <p:nvPr/>
        </p:nvSpPr>
        <p:spPr>
          <a:xfrm>
            <a:off x="182880" y="3291840"/>
            <a:ext cx="2011680" cy="411480"/>
          </a:xfrm>
          <a:prstGeom prst="rect">
            <a:avLst/>
          </a:prstGeom>
          <a:solidFill>
            <a:srgbClr val="E7E6E6"/>
          </a:solidFill>
          <a:ln w="12700">
            <a:solidFill>
              <a:srgbClr val="E7E6E6"/>
            </a:solidFill>
            <a:prstDash val="solid"/>
          </a:ln>
        </p:spPr>
        <p:txBody>
          <a:bodyPr/>
          <a:lstStyle/>
          <a:p>
            <a:endParaRPr lang="fr-FR"/>
          </a:p>
        </p:txBody>
      </p:sp>
      <p:sp>
        <p:nvSpPr>
          <p:cNvPr id="42" name="Text 40"/>
          <p:cNvSpPr/>
          <p:nvPr/>
        </p:nvSpPr>
        <p:spPr>
          <a:xfrm>
            <a:off x="274320" y="3291840"/>
            <a:ext cx="1828800" cy="411480"/>
          </a:xfrm>
          <a:prstGeom prst="rect">
            <a:avLst/>
          </a:prstGeom>
          <a:noFill/>
          <a:ln/>
        </p:spPr>
        <p:txBody>
          <a:bodyPr wrap="square" rtlCol="0" anchor="ctr"/>
          <a:lstStyle/>
          <a:p>
            <a:pPr marL="0" indent="0" algn="l">
              <a:buNone/>
            </a:pPr>
            <a:r>
              <a:rPr lang="en-US" sz="1000" dirty="0">
                <a:solidFill>
                  <a:srgbClr val="1F1F1F"/>
                </a:solidFill>
              </a:rPr>
              <a:t>Maintenance</a:t>
            </a:r>
            <a:endParaRPr lang="en-US" sz="1000" dirty="0"/>
          </a:p>
        </p:txBody>
      </p:sp>
      <p:sp>
        <p:nvSpPr>
          <p:cNvPr id="43" name="Shape 41"/>
          <p:cNvSpPr/>
          <p:nvPr/>
        </p:nvSpPr>
        <p:spPr>
          <a:xfrm>
            <a:off x="2194560" y="3291840"/>
            <a:ext cx="3200400" cy="411480"/>
          </a:xfrm>
          <a:prstGeom prst="rect">
            <a:avLst/>
          </a:prstGeom>
          <a:solidFill>
            <a:srgbClr val="E7E6E6"/>
          </a:solidFill>
          <a:ln w="12700">
            <a:solidFill>
              <a:srgbClr val="E7E6E6"/>
            </a:solidFill>
            <a:prstDash val="solid"/>
          </a:ln>
        </p:spPr>
        <p:txBody>
          <a:bodyPr/>
          <a:lstStyle/>
          <a:p>
            <a:endParaRPr lang="fr-FR"/>
          </a:p>
        </p:txBody>
      </p:sp>
      <p:sp>
        <p:nvSpPr>
          <p:cNvPr id="44" name="Text 42"/>
          <p:cNvSpPr/>
          <p:nvPr/>
        </p:nvSpPr>
        <p:spPr>
          <a:xfrm>
            <a:off x="2286000" y="3291840"/>
            <a:ext cx="3017520" cy="411480"/>
          </a:xfrm>
          <a:prstGeom prst="rect">
            <a:avLst/>
          </a:prstGeom>
          <a:noFill/>
          <a:ln/>
        </p:spPr>
        <p:txBody>
          <a:bodyPr wrap="square" rtlCol="0" anchor="ctr"/>
          <a:lstStyle/>
          <a:p>
            <a:pPr marL="0" indent="0" algn="l">
              <a:buNone/>
            </a:pPr>
            <a:r>
              <a:rPr lang="en-US" sz="900" dirty="0">
                <a:solidFill>
                  <a:srgbClr val="1F1F1F"/>
                </a:solidFill>
              </a:rPr>
              <a:t>Complexe</a:t>
            </a:r>
            <a:endParaRPr lang="en-US" sz="900" dirty="0"/>
          </a:p>
        </p:txBody>
      </p:sp>
      <p:sp>
        <p:nvSpPr>
          <p:cNvPr id="45" name="Shape 43"/>
          <p:cNvSpPr/>
          <p:nvPr/>
        </p:nvSpPr>
        <p:spPr>
          <a:xfrm>
            <a:off x="5394960" y="3291840"/>
            <a:ext cx="3200400" cy="411480"/>
          </a:xfrm>
          <a:prstGeom prst="rect">
            <a:avLst/>
          </a:prstGeom>
          <a:solidFill>
            <a:srgbClr val="E7E6E6"/>
          </a:solidFill>
          <a:ln w="12700">
            <a:solidFill>
              <a:srgbClr val="E7E6E6"/>
            </a:solidFill>
            <a:prstDash val="solid"/>
          </a:ln>
        </p:spPr>
        <p:txBody>
          <a:bodyPr/>
          <a:lstStyle/>
          <a:p>
            <a:endParaRPr lang="fr-FR"/>
          </a:p>
        </p:txBody>
      </p:sp>
      <p:sp>
        <p:nvSpPr>
          <p:cNvPr id="46" name="Text 44"/>
          <p:cNvSpPr/>
          <p:nvPr/>
        </p:nvSpPr>
        <p:spPr>
          <a:xfrm>
            <a:off x="5486400" y="3291840"/>
            <a:ext cx="3017520" cy="411480"/>
          </a:xfrm>
          <a:prstGeom prst="rect">
            <a:avLst/>
          </a:prstGeom>
          <a:noFill/>
          <a:ln/>
        </p:spPr>
        <p:txBody>
          <a:bodyPr wrap="square" rtlCol="0" anchor="ctr"/>
          <a:lstStyle/>
          <a:p>
            <a:pPr marL="0" indent="0" algn="l">
              <a:buNone/>
            </a:pPr>
            <a:r>
              <a:rPr lang="en-US" sz="900" dirty="0">
                <a:solidFill>
                  <a:srgbClr val="1F1F1F"/>
                </a:solidFill>
              </a:rPr>
              <a:t>Centralisée</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Qu'est-ce qu'un SGBD ?</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7/40</a:t>
            </a:r>
            <a:endParaRPr lang="en-US" sz="1000" dirty="0"/>
          </a:p>
        </p:txBody>
      </p:sp>
      <p:sp>
        <p:nvSpPr>
          <p:cNvPr id="5" name="Text 3"/>
          <p:cNvSpPr/>
          <p:nvPr/>
        </p:nvSpPr>
        <p:spPr>
          <a:xfrm>
            <a:off x="457200" y="822960"/>
            <a:ext cx="8229600" cy="274320"/>
          </a:xfrm>
          <a:prstGeom prst="rect">
            <a:avLst/>
          </a:prstGeom>
          <a:noFill/>
          <a:ln/>
        </p:spPr>
        <p:txBody>
          <a:bodyPr wrap="square" rtlCol="0" anchor="ctr"/>
          <a:lstStyle/>
          <a:p>
            <a:pPr marL="0" indent="0">
              <a:buNone/>
            </a:pPr>
            <a:r>
              <a:rPr lang="en-US" sz="1600" b="1" dirty="0">
                <a:solidFill>
                  <a:srgbClr val="1F4E78"/>
                </a:solidFill>
              </a:rPr>
              <a:t>Système de Gestion de Base de Données (SGBD)</a:t>
            </a:r>
            <a:endParaRPr lang="en-US" sz="1600" dirty="0"/>
          </a:p>
        </p:txBody>
      </p:sp>
      <p:sp>
        <p:nvSpPr>
          <p:cNvPr id="6" name="Text 4"/>
          <p:cNvSpPr/>
          <p:nvPr/>
        </p:nvSpPr>
        <p:spPr>
          <a:xfrm>
            <a:off x="457200" y="1188720"/>
            <a:ext cx="8229600" cy="365760"/>
          </a:xfrm>
          <a:prstGeom prst="rect">
            <a:avLst/>
          </a:prstGeom>
          <a:noFill/>
          <a:ln/>
        </p:spPr>
        <p:txBody>
          <a:bodyPr wrap="square" rtlCol="0" anchor="ctr"/>
          <a:lstStyle/>
          <a:p>
            <a:pPr marL="0" indent="0">
              <a:buNone/>
            </a:pPr>
            <a:r>
              <a:rPr lang="en-US" sz="1300" i="1" dirty="0">
                <a:solidFill>
                  <a:srgbClr val="1F1F1F"/>
                </a:solidFill>
              </a:rPr>
              <a:t>Logiciel qui gère l'accès, la modification, la sécurité et l'intégrité d'une base de données.</a:t>
            </a:r>
            <a:endParaRPr lang="en-US" sz="1300" dirty="0"/>
          </a:p>
        </p:txBody>
      </p:sp>
      <p:sp>
        <p:nvSpPr>
          <p:cNvPr id="7" name="Shape 5"/>
          <p:cNvSpPr/>
          <p:nvPr/>
        </p:nvSpPr>
        <p:spPr>
          <a:xfrm>
            <a:off x="3200400" y="1828800"/>
            <a:ext cx="2743200" cy="457200"/>
          </a:xfrm>
          <a:prstGeom prst="rect">
            <a:avLst/>
          </a:prstGeom>
          <a:solidFill>
            <a:srgbClr val="F79646"/>
          </a:solidFill>
          <a:ln/>
        </p:spPr>
        <p:txBody>
          <a:bodyPr/>
          <a:lstStyle/>
          <a:p>
            <a:endParaRPr lang="fr-FR"/>
          </a:p>
        </p:txBody>
      </p:sp>
      <p:sp>
        <p:nvSpPr>
          <p:cNvPr id="8" name="Text 6"/>
          <p:cNvSpPr/>
          <p:nvPr/>
        </p:nvSpPr>
        <p:spPr>
          <a:xfrm>
            <a:off x="3200400" y="1828800"/>
            <a:ext cx="2743200" cy="457200"/>
          </a:xfrm>
          <a:prstGeom prst="rect">
            <a:avLst/>
          </a:prstGeom>
          <a:noFill/>
          <a:ln/>
        </p:spPr>
        <p:txBody>
          <a:bodyPr wrap="square" rtlCol="0" anchor="ctr"/>
          <a:lstStyle/>
          <a:p>
            <a:pPr marL="0" indent="0" algn="ctr">
              <a:buNone/>
            </a:pPr>
            <a:r>
              <a:rPr lang="en-US" sz="1300" b="1" dirty="0">
                <a:solidFill>
                  <a:srgbClr val="FFFFFF"/>
                </a:solidFill>
              </a:rPr>
              <a:t>Utilisateurs</a:t>
            </a:r>
            <a:endParaRPr lang="en-US" sz="1300" dirty="0"/>
          </a:p>
        </p:txBody>
      </p:sp>
      <p:sp>
        <p:nvSpPr>
          <p:cNvPr id="9" name="Shape 7"/>
          <p:cNvSpPr/>
          <p:nvPr/>
        </p:nvSpPr>
        <p:spPr>
          <a:xfrm>
            <a:off x="4572000" y="2286000"/>
            <a:ext cx="0" cy="137160"/>
          </a:xfrm>
          <a:prstGeom prst="line">
            <a:avLst/>
          </a:prstGeom>
          <a:noFill/>
          <a:ln w="25400">
            <a:solidFill>
              <a:srgbClr val="1F1F1F"/>
            </a:solidFill>
            <a:prstDash val="solid"/>
          </a:ln>
        </p:spPr>
        <p:txBody>
          <a:bodyPr/>
          <a:lstStyle/>
          <a:p>
            <a:endParaRPr lang="fr-FR"/>
          </a:p>
        </p:txBody>
      </p:sp>
      <p:sp>
        <p:nvSpPr>
          <p:cNvPr id="10" name="Shape 8"/>
          <p:cNvSpPr/>
          <p:nvPr/>
        </p:nvSpPr>
        <p:spPr>
          <a:xfrm>
            <a:off x="3200400" y="2468880"/>
            <a:ext cx="2743200" cy="457200"/>
          </a:xfrm>
          <a:prstGeom prst="rect">
            <a:avLst/>
          </a:prstGeom>
          <a:solidFill>
            <a:srgbClr val="F79646"/>
          </a:solidFill>
          <a:ln/>
        </p:spPr>
        <p:txBody>
          <a:bodyPr/>
          <a:lstStyle/>
          <a:p>
            <a:endParaRPr lang="fr-FR"/>
          </a:p>
        </p:txBody>
      </p:sp>
      <p:sp>
        <p:nvSpPr>
          <p:cNvPr id="11" name="Text 9"/>
          <p:cNvSpPr/>
          <p:nvPr/>
        </p:nvSpPr>
        <p:spPr>
          <a:xfrm>
            <a:off x="3200400" y="2468880"/>
            <a:ext cx="2743200" cy="457200"/>
          </a:xfrm>
          <a:prstGeom prst="rect">
            <a:avLst/>
          </a:prstGeom>
          <a:noFill/>
          <a:ln/>
        </p:spPr>
        <p:txBody>
          <a:bodyPr wrap="square" rtlCol="0" anchor="ctr"/>
          <a:lstStyle/>
          <a:p>
            <a:pPr marL="0" indent="0" algn="ctr">
              <a:buNone/>
            </a:pPr>
            <a:r>
              <a:rPr lang="en-US" sz="1300" b="1" dirty="0">
                <a:solidFill>
                  <a:srgbClr val="FFFFFF"/>
                </a:solidFill>
              </a:rPr>
              <a:t>Applications</a:t>
            </a:r>
            <a:endParaRPr lang="en-US" sz="1300" dirty="0"/>
          </a:p>
        </p:txBody>
      </p:sp>
      <p:sp>
        <p:nvSpPr>
          <p:cNvPr id="12" name="Shape 10"/>
          <p:cNvSpPr/>
          <p:nvPr/>
        </p:nvSpPr>
        <p:spPr>
          <a:xfrm>
            <a:off x="4572000" y="2926080"/>
            <a:ext cx="0" cy="137160"/>
          </a:xfrm>
          <a:prstGeom prst="line">
            <a:avLst/>
          </a:prstGeom>
          <a:noFill/>
          <a:ln w="25400">
            <a:solidFill>
              <a:srgbClr val="1F1F1F"/>
            </a:solidFill>
            <a:prstDash val="solid"/>
          </a:ln>
        </p:spPr>
        <p:txBody>
          <a:bodyPr/>
          <a:lstStyle/>
          <a:p>
            <a:endParaRPr lang="fr-FR"/>
          </a:p>
        </p:txBody>
      </p:sp>
      <p:sp>
        <p:nvSpPr>
          <p:cNvPr id="13" name="Shape 11"/>
          <p:cNvSpPr/>
          <p:nvPr/>
        </p:nvSpPr>
        <p:spPr>
          <a:xfrm>
            <a:off x="3200400" y="3108960"/>
            <a:ext cx="2743200" cy="457200"/>
          </a:xfrm>
          <a:prstGeom prst="rect">
            <a:avLst/>
          </a:prstGeom>
          <a:solidFill>
            <a:srgbClr val="1F4E78"/>
          </a:solidFill>
          <a:ln/>
        </p:spPr>
        <p:txBody>
          <a:bodyPr/>
          <a:lstStyle/>
          <a:p>
            <a:endParaRPr lang="fr-FR"/>
          </a:p>
        </p:txBody>
      </p:sp>
      <p:sp>
        <p:nvSpPr>
          <p:cNvPr id="14" name="Text 12"/>
          <p:cNvSpPr/>
          <p:nvPr/>
        </p:nvSpPr>
        <p:spPr>
          <a:xfrm>
            <a:off x="3200400" y="3108960"/>
            <a:ext cx="2743200" cy="457200"/>
          </a:xfrm>
          <a:prstGeom prst="rect">
            <a:avLst/>
          </a:prstGeom>
          <a:noFill/>
          <a:ln/>
        </p:spPr>
        <p:txBody>
          <a:bodyPr wrap="square" rtlCol="0" anchor="ctr"/>
          <a:lstStyle/>
          <a:p>
            <a:pPr marL="0" indent="0" algn="ctr">
              <a:buNone/>
            </a:pPr>
            <a:r>
              <a:rPr lang="en-US" sz="1300" b="1" dirty="0">
                <a:solidFill>
                  <a:srgbClr val="FFFFFF"/>
                </a:solidFill>
              </a:rPr>
              <a:t>SGBD</a:t>
            </a:r>
            <a:endParaRPr lang="en-US" sz="1300" dirty="0"/>
          </a:p>
        </p:txBody>
      </p:sp>
      <p:sp>
        <p:nvSpPr>
          <p:cNvPr id="15" name="Shape 13"/>
          <p:cNvSpPr/>
          <p:nvPr/>
        </p:nvSpPr>
        <p:spPr>
          <a:xfrm>
            <a:off x="4572000" y="3566160"/>
            <a:ext cx="0" cy="137160"/>
          </a:xfrm>
          <a:prstGeom prst="line">
            <a:avLst/>
          </a:prstGeom>
          <a:noFill/>
          <a:ln w="25400">
            <a:solidFill>
              <a:srgbClr val="1F1F1F"/>
            </a:solidFill>
            <a:prstDash val="solid"/>
          </a:ln>
        </p:spPr>
        <p:txBody>
          <a:bodyPr/>
          <a:lstStyle/>
          <a:p>
            <a:endParaRPr lang="fr-FR"/>
          </a:p>
        </p:txBody>
      </p:sp>
      <p:sp>
        <p:nvSpPr>
          <p:cNvPr id="16" name="Shape 14"/>
          <p:cNvSpPr/>
          <p:nvPr/>
        </p:nvSpPr>
        <p:spPr>
          <a:xfrm>
            <a:off x="3200400" y="3749040"/>
            <a:ext cx="2743200" cy="457200"/>
          </a:xfrm>
          <a:prstGeom prst="rect">
            <a:avLst/>
          </a:prstGeom>
          <a:solidFill>
            <a:srgbClr val="F79646"/>
          </a:solidFill>
          <a:ln/>
        </p:spPr>
        <p:txBody>
          <a:bodyPr/>
          <a:lstStyle/>
          <a:p>
            <a:endParaRPr lang="fr-FR"/>
          </a:p>
        </p:txBody>
      </p:sp>
      <p:sp>
        <p:nvSpPr>
          <p:cNvPr id="17" name="Text 15"/>
          <p:cNvSpPr/>
          <p:nvPr/>
        </p:nvSpPr>
        <p:spPr>
          <a:xfrm>
            <a:off x="3200400" y="3749040"/>
            <a:ext cx="2743200" cy="457200"/>
          </a:xfrm>
          <a:prstGeom prst="rect">
            <a:avLst/>
          </a:prstGeom>
          <a:noFill/>
          <a:ln/>
        </p:spPr>
        <p:txBody>
          <a:bodyPr wrap="square" rtlCol="0" anchor="ctr"/>
          <a:lstStyle/>
          <a:p>
            <a:pPr marL="0" indent="0" algn="ctr">
              <a:buNone/>
            </a:pPr>
            <a:r>
              <a:rPr lang="en-US" sz="1300" b="1" dirty="0">
                <a:solidFill>
                  <a:srgbClr val="FFFFFF"/>
                </a:solidFill>
              </a:rPr>
              <a:t>Base de données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Fonctions principales d'un SGBD</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8/40</a:t>
            </a:r>
            <a:endParaRPr lang="en-US" sz="1000" dirty="0"/>
          </a:p>
        </p:txBody>
      </p:sp>
      <p:sp>
        <p:nvSpPr>
          <p:cNvPr id="5" name="Shape 3"/>
          <p:cNvSpPr/>
          <p:nvPr/>
        </p:nvSpPr>
        <p:spPr>
          <a:xfrm>
            <a:off x="274320" y="822960"/>
            <a:ext cx="8595360" cy="365760"/>
          </a:xfrm>
          <a:prstGeom prst="rect">
            <a:avLst/>
          </a:prstGeom>
          <a:solidFill>
            <a:srgbClr val="E7E6E6"/>
          </a:solidFill>
          <a:ln w="12700">
            <a:solidFill>
              <a:srgbClr val="E7E6E6"/>
            </a:solidFill>
            <a:prstDash val="solid"/>
          </a:ln>
        </p:spPr>
        <p:txBody>
          <a:bodyPr/>
          <a:lstStyle/>
          <a:p>
            <a:endParaRPr lang="fr-FR"/>
          </a:p>
        </p:txBody>
      </p:sp>
      <p:sp>
        <p:nvSpPr>
          <p:cNvPr id="6" name="Text 4"/>
          <p:cNvSpPr/>
          <p:nvPr/>
        </p:nvSpPr>
        <p:spPr>
          <a:xfrm>
            <a:off x="457200" y="822960"/>
            <a:ext cx="1828800" cy="365760"/>
          </a:xfrm>
          <a:prstGeom prst="rect">
            <a:avLst/>
          </a:prstGeom>
          <a:noFill/>
          <a:ln/>
        </p:spPr>
        <p:txBody>
          <a:bodyPr wrap="square" rtlCol="0" anchor="ctr"/>
          <a:lstStyle/>
          <a:p>
            <a:pPr marL="0" indent="0" algn="l">
              <a:buNone/>
            </a:pPr>
            <a:r>
              <a:rPr lang="en-US" sz="1100" b="1" dirty="0">
                <a:solidFill>
                  <a:srgbClr val="1F4E78"/>
                </a:solidFill>
              </a:rPr>
              <a:t>Stockage</a:t>
            </a:r>
            <a:endParaRPr lang="en-US" sz="1100" dirty="0"/>
          </a:p>
        </p:txBody>
      </p:sp>
      <p:sp>
        <p:nvSpPr>
          <p:cNvPr id="7" name="Text 5"/>
          <p:cNvSpPr/>
          <p:nvPr/>
        </p:nvSpPr>
        <p:spPr>
          <a:xfrm>
            <a:off x="2468880" y="822960"/>
            <a:ext cx="6400800" cy="365760"/>
          </a:xfrm>
          <a:prstGeom prst="rect">
            <a:avLst/>
          </a:prstGeom>
          <a:noFill/>
          <a:ln/>
        </p:spPr>
        <p:txBody>
          <a:bodyPr wrap="square" rtlCol="0" anchor="ctr"/>
          <a:lstStyle/>
          <a:p>
            <a:pPr marL="0" indent="0" algn="l">
              <a:buNone/>
            </a:pPr>
            <a:r>
              <a:rPr lang="en-US" sz="1100" dirty="0">
                <a:solidFill>
                  <a:srgbClr val="1F1F1F"/>
                </a:solidFill>
              </a:rPr>
              <a:t>Gère le stockage physique des données</a:t>
            </a:r>
            <a:endParaRPr lang="en-US" sz="1100" dirty="0"/>
          </a:p>
        </p:txBody>
      </p:sp>
      <p:sp>
        <p:nvSpPr>
          <p:cNvPr id="8" name="Shape 6"/>
          <p:cNvSpPr/>
          <p:nvPr/>
        </p:nvSpPr>
        <p:spPr>
          <a:xfrm>
            <a:off x="274320" y="1225296"/>
            <a:ext cx="8595360" cy="365760"/>
          </a:xfrm>
          <a:prstGeom prst="rect">
            <a:avLst/>
          </a:prstGeom>
          <a:solidFill>
            <a:srgbClr val="FFFFFF"/>
          </a:solidFill>
          <a:ln w="12700">
            <a:solidFill>
              <a:srgbClr val="E7E6E6"/>
            </a:solidFill>
            <a:prstDash val="solid"/>
          </a:ln>
        </p:spPr>
        <p:txBody>
          <a:bodyPr/>
          <a:lstStyle/>
          <a:p>
            <a:endParaRPr lang="fr-FR"/>
          </a:p>
        </p:txBody>
      </p:sp>
      <p:sp>
        <p:nvSpPr>
          <p:cNvPr id="9" name="Text 7"/>
          <p:cNvSpPr/>
          <p:nvPr/>
        </p:nvSpPr>
        <p:spPr>
          <a:xfrm>
            <a:off x="457200" y="1225296"/>
            <a:ext cx="1828800" cy="365760"/>
          </a:xfrm>
          <a:prstGeom prst="rect">
            <a:avLst/>
          </a:prstGeom>
          <a:noFill/>
          <a:ln/>
        </p:spPr>
        <p:txBody>
          <a:bodyPr wrap="square" rtlCol="0" anchor="ctr"/>
          <a:lstStyle/>
          <a:p>
            <a:pPr marL="0" indent="0" algn="l">
              <a:buNone/>
            </a:pPr>
            <a:r>
              <a:rPr lang="en-US" sz="1100" b="1" dirty="0">
                <a:solidFill>
                  <a:srgbClr val="1F4E78"/>
                </a:solidFill>
              </a:rPr>
              <a:t>Interrogation</a:t>
            </a:r>
            <a:endParaRPr lang="en-US" sz="1100" dirty="0"/>
          </a:p>
        </p:txBody>
      </p:sp>
      <p:sp>
        <p:nvSpPr>
          <p:cNvPr id="10" name="Text 8"/>
          <p:cNvSpPr/>
          <p:nvPr/>
        </p:nvSpPr>
        <p:spPr>
          <a:xfrm>
            <a:off x="2468880" y="1225296"/>
            <a:ext cx="6400800" cy="365760"/>
          </a:xfrm>
          <a:prstGeom prst="rect">
            <a:avLst/>
          </a:prstGeom>
          <a:noFill/>
          <a:ln/>
        </p:spPr>
        <p:txBody>
          <a:bodyPr wrap="square" rtlCol="0" anchor="ctr"/>
          <a:lstStyle/>
          <a:p>
            <a:pPr marL="0" indent="0" algn="l">
              <a:buNone/>
            </a:pPr>
            <a:r>
              <a:rPr lang="en-US" sz="1100" dirty="0">
                <a:solidFill>
                  <a:srgbClr val="1F1F1F"/>
                </a:solidFill>
              </a:rPr>
              <a:t>Permet des requêtes complexes (SQL)</a:t>
            </a:r>
            <a:endParaRPr lang="en-US" sz="1100" dirty="0"/>
          </a:p>
        </p:txBody>
      </p:sp>
      <p:sp>
        <p:nvSpPr>
          <p:cNvPr id="11" name="Shape 9"/>
          <p:cNvSpPr/>
          <p:nvPr/>
        </p:nvSpPr>
        <p:spPr>
          <a:xfrm>
            <a:off x="274320" y="1627632"/>
            <a:ext cx="8595360" cy="365760"/>
          </a:xfrm>
          <a:prstGeom prst="rect">
            <a:avLst/>
          </a:prstGeom>
          <a:solidFill>
            <a:srgbClr val="E7E6E6"/>
          </a:solidFill>
          <a:ln w="12700">
            <a:solidFill>
              <a:srgbClr val="E7E6E6"/>
            </a:solidFill>
            <a:prstDash val="solid"/>
          </a:ln>
        </p:spPr>
        <p:txBody>
          <a:bodyPr/>
          <a:lstStyle/>
          <a:p>
            <a:endParaRPr lang="fr-FR"/>
          </a:p>
        </p:txBody>
      </p:sp>
      <p:sp>
        <p:nvSpPr>
          <p:cNvPr id="12" name="Text 10"/>
          <p:cNvSpPr/>
          <p:nvPr/>
        </p:nvSpPr>
        <p:spPr>
          <a:xfrm>
            <a:off x="457200" y="1627632"/>
            <a:ext cx="1828800" cy="365760"/>
          </a:xfrm>
          <a:prstGeom prst="rect">
            <a:avLst/>
          </a:prstGeom>
          <a:noFill/>
          <a:ln/>
        </p:spPr>
        <p:txBody>
          <a:bodyPr wrap="square" rtlCol="0" anchor="ctr"/>
          <a:lstStyle/>
          <a:p>
            <a:pPr marL="0" indent="0" algn="l">
              <a:buNone/>
            </a:pPr>
            <a:r>
              <a:rPr lang="en-US" sz="1100" b="1" dirty="0">
                <a:solidFill>
                  <a:srgbClr val="1F4E78"/>
                </a:solidFill>
              </a:rPr>
              <a:t>Modification</a:t>
            </a:r>
            <a:endParaRPr lang="en-US" sz="1100" dirty="0"/>
          </a:p>
        </p:txBody>
      </p:sp>
      <p:sp>
        <p:nvSpPr>
          <p:cNvPr id="13" name="Text 11"/>
          <p:cNvSpPr/>
          <p:nvPr/>
        </p:nvSpPr>
        <p:spPr>
          <a:xfrm>
            <a:off x="2468880" y="1627632"/>
            <a:ext cx="6400800" cy="365760"/>
          </a:xfrm>
          <a:prstGeom prst="rect">
            <a:avLst/>
          </a:prstGeom>
          <a:noFill/>
          <a:ln/>
        </p:spPr>
        <p:txBody>
          <a:bodyPr wrap="square" rtlCol="0" anchor="ctr"/>
          <a:lstStyle/>
          <a:p>
            <a:pPr marL="0" indent="0" algn="l">
              <a:buNone/>
            </a:pPr>
            <a:r>
              <a:rPr lang="en-US" sz="1100" dirty="0">
                <a:solidFill>
                  <a:srgbClr val="1F1F1F"/>
                </a:solidFill>
              </a:rPr>
              <a:t>INSERT, UPDATE, DELETE contrôlés</a:t>
            </a:r>
            <a:endParaRPr lang="en-US" sz="1100" dirty="0"/>
          </a:p>
        </p:txBody>
      </p:sp>
      <p:sp>
        <p:nvSpPr>
          <p:cNvPr id="14" name="Shape 12"/>
          <p:cNvSpPr/>
          <p:nvPr/>
        </p:nvSpPr>
        <p:spPr>
          <a:xfrm>
            <a:off x="274320" y="2029968"/>
            <a:ext cx="8595360" cy="365760"/>
          </a:xfrm>
          <a:prstGeom prst="rect">
            <a:avLst/>
          </a:prstGeom>
          <a:solidFill>
            <a:srgbClr val="FFFFFF"/>
          </a:solidFill>
          <a:ln w="12700">
            <a:solidFill>
              <a:srgbClr val="E7E6E6"/>
            </a:solidFill>
            <a:prstDash val="solid"/>
          </a:ln>
        </p:spPr>
        <p:txBody>
          <a:bodyPr/>
          <a:lstStyle/>
          <a:p>
            <a:endParaRPr lang="fr-FR"/>
          </a:p>
        </p:txBody>
      </p:sp>
      <p:sp>
        <p:nvSpPr>
          <p:cNvPr id="15" name="Text 13"/>
          <p:cNvSpPr/>
          <p:nvPr/>
        </p:nvSpPr>
        <p:spPr>
          <a:xfrm>
            <a:off x="457200" y="2029968"/>
            <a:ext cx="1828800" cy="365760"/>
          </a:xfrm>
          <a:prstGeom prst="rect">
            <a:avLst/>
          </a:prstGeom>
          <a:noFill/>
          <a:ln/>
        </p:spPr>
        <p:txBody>
          <a:bodyPr wrap="square" rtlCol="0" anchor="ctr"/>
          <a:lstStyle/>
          <a:p>
            <a:pPr marL="0" indent="0" algn="l">
              <a:buNone/>
            </a:pPr>
            <a:r>
              <a:rPr lang="en-US" sz="1100" b="1" dirty="0">
                <a:solidFill>
                  <a:srgbClr val="1F4E78"/>
                </a:solidFill>
              </a:rPr>
              <a:t>Intégrité</a:t>
            </a:r>
            <a:endParaRPr lang="en-US" sz="1100" dirty="0"/>
          </a:p>
        </p:txBody>
      </p:sp>
      <p:sp>
        <p:nvSpPr>
          <p:cNvPr id="16" name="Text 14"/>
          <p:cNvSpPr/>
          <p:nvPr/>
        </p:nvSpPr>
        <p:spPr>
          <a:xfrm>
            <a:off x="2468880" y="2029968"/>
            <a:ext cx="6400800" cy="365760"/>
          </a:xfrm>
          <a:prstGeom prst="rect">
            <a:avLst/>
          </a:prstGeom>
          <a:noFill/>
          <a:ln/>
        </p:spPr>
        <p:txBody>
          <a:bodyPr wrap="square" rtlCol="0" anchor="ctr"/>
          <a:lstStyle/>
          <a:p>
            <a:pPr marL="0" indent="0" algn="l">
              <a:buNone/>
            </a:pPr>
            <a:r>
              <a:rPr lang="en-US" sz="1100" dirty="0">
                <a:solidFill>
                  <a:srgbClr val="1F1F1F"/>
                </a:solidFill>
              </a:rPr>
              <a:t>Vérifie les contraintes (clés, domaines)</a:t>
            </a:r>
            <a:endParaRPr lang="en-US" sz="1100" dirty="0"/>
          </a:p>
        </p:txBody>
      </p:sp>
      <p:sp>
        <p:nvSpPr>
          <p:cNvPr id="17" name="Shape 15"/>
          <p:cNvSpPr/>
          <p:nvPr/>
        </p:nvSpPr>
        <p:spPr>
          <a:xfrm>
            <a:off x="274320" y="2432304"/>
            <a:ext cx="8595360" cy="365760"/>
          </a:xfrm>
          <a:prstGeom prst="rect">
            <a:avLst/>
          </a:prstGeom>
          <a:solidFill>
            <a:srgbClr val="E7E6E6"/>
          </a:solidFill>
          <a:ln w="12700">
            <a:solidFill>
              <a:srgbClr val="E7E6E6"/>
            </a:solidFill>
            <a:prstDash val="solid"/>
          </a:ln>
        </p:spPr>
        <p:txBody>
          <a:bodyPr/>
          <a:lstStyle/>
          <a:p>
            <a:endParaRPr lang="fr-FR"/>
          </a:p>
        </p:txBody>
      </p:sp>
      <p:sp>
        <p:nvSpPr>
          <p:cNvPr id="18" name="Text 16"/>
          <p:cNvSpPr/>
          <p:nvPr/>
        </p:nvSpPr>
        <p:spPr>
          <a:xfrm>
            <a:off x="457200" y="2432304"/>
            <a:ext cx="1828800" cy="365760"/>
          </a:xfrm>
          <a:prstGeom prst="rect">
            <a:avLst/>
          </a:prstGeom>
          <a:noFill/>
          <a:ln/>
        </p:spPr>
        <p:txBody>
          <a:bodyPr wrap="square" rtlCol="0" anchor="ctr"/>
          <a:lstStyle/>
          <a:p>
            <a:pPr marL="0" indent="0" algn="l">
              <a:buNone/>
            </a:pPr>
            <a:r>
              <a:rPr lang="en-US" sz="1100" b="1" dirty="0">
                <a:solidFill>
                  <a:srgbClr val="1F4E78"/>
                </a:solidFill>
              </a:rPr>
              <a:t>Sécurité</a:t>
            </a:r>
            <a:endParaRPr lang="en-US" sz="1100" dirty="0"/>
          </a:p>
        </p:txBody>
      </p:sp>
      <p:sp>
        <p:nvSpPr>
          <p:cNvPr id="19" name="Text 17"/>
          <p:cNvSpPr/>
          <p:nvPr/>
        </p:nvSpPr>
        <p:spPr>
          <a:xfrm>
            <a:off x="2468880" y="2432304"/>
            <a:ext cx="6400800" cy="365760"/>
          </a:xfrm>
          <a:prstGeom prst="rect">
            <a:avLst/>
          </a:prstGeom>
          <a:noFill/>
          <a:ln/>
        </p:spPr>
        <p:txBody>
          <a:bodyPr wrap="square" rtlCol="0" anchor="ctr"/>
          <a:lstStyle/>
          <a:p>
            <a:pPr marL="0" indent="0" algn="l">
              <a:buNone/>
            </a:pPr>
            <a:r>
              <a:rPr lang="en-US" sz="1100" dirty="0">
                <a:solidFill>
                  <a:srgbClr val="1F1F1F"/>
                </a:solidFill>
              </a:rPr>
              <a:t>Authentification et contrôle d'accès</a:t>
            </a:r>
            <a:endParaRPr lang="en-US" sz="1100" dirty="0"/>
          </a:p>
        </p:txBody>
      </p:sp>
      <p:sp>
        <p:nvSpPr>
          <p:cNvPr id="20" name="Shape 18"/>
          <p:cNvSpPr/>
          <p:nvPr/>
        </p:nvSpPr>
        <p:spPr>
          <a:xfrm>
            <a:off x="274320" y="2834640"/>
            <a:ext cx="8595360" cy="365760"/>
          </a:xfrm>
          <a:prstGeom prst="rect">
            <a:avLst/>
          </a:prstGeom>
          <a:solidFill>
            <a:srgbClr val="FFFFFF"/>
          </a:solidFill>
          <a:ln w="12700">
            <a:solidFill>
              <a:srgbClr val="E7E6E6"/>
            </a:solidFill>
            <a:prstDash val="solid"/>
          </a:ln>
        </p:spPr>
        <p:txBody>
          <a:bodyPr/>
          <a:lstStyle/>
          <a:p>
            <a:endParaRPr lang="fr-FR"/>
          </a:p>
        </p:txBody>
      </p:sp>
      <p:sp>
        <p:nvSpPr>
          <p:cNvPr id="21" name="Text 19"/>
          <p:cNvSpPr/>
          <p:nvPr/>
        </p:nvSpPr>
        <p:spPr>
          <a:xfrm>
            <a:off x="457200" y="2834640"/>
            <a:ext cx="1828800" cy="365760"/>
          </a:xfrm>
          <a:prstGeom prst="rect">
            <a:avLst/>
          </a:prstGeom>
          <a:noFill/>
          <a:ln/>
        </p:spPr>
        <p:txBody>
          <a:bodyPr wrap="square" rtlCol="0" anchor="ctr"/>
          <a:lstStyle/>
          <a:p>
            <a:pPr marL="0" indent="0" algn="l">
              <a:buNone/>
            </a:pPr>
            <a:r>
              <a:rPr lang="en-US" sz="1100" b="1" dirty="0">
                <a:solidFill>
                  <a:srgbClr val="1F4E78"/>
                </a:solidFill>
              </a:rPr>
              <a:t>Concurrence</a:t>
            </a:r>
            <a:endParaRPr lang="en-US" sz="1100" dirty="0"/>
          </a:p>
        </p:txBody>
      </p:sp>
      <p:sp>
        <p:nvSpPr>
          <p:cNvPr id="22" name="Text 20"/>
          <p:cNvSpPr/>
          <p:nvPr/>
        </p:nvSpPr>
        <p:spPr>
          <a:xfrm>
            <a:off x="2468880" y="2834640"/>
            <a:ext cx="6400800" cy="365760"/>
          </a:xfrm>
          <a:prstGeom prst="rect">
            <a:avLst/>
          </a:prstGeom>
          <a:noFill/>
          <a:ln/>
        </p:spPr>
        <p:txBody>
          <a:bodyPr wrap="square" rtlCol="0" anchor="ctr"/>
          <a:lstStyle/>
          <a:p>
            <a:pPr marL="0" indent="0" algn="l">
              <a:buNone/>
            </a:pPr>
            <a:r>
              <a:rPr lang="en-US" sz="1100" dirty="0">
                <a:solidFill>
                  <a:srgbClr val="1F1F1F"/>
                </a:solidFill>
              </a:rPr>
              <a:t>Gère plusieurs utilisateurs simultanés</a:t>
            </a:r>
            <a:endParaRPr lang="en-US" sz="1100" dirty="0"/>
          </a:p>
        </p:txBody>
      </p:sp>
      <p:sp>
        <p:nvSpPr>
          <p:cNvPr id="23" name="Shape 21"/>
          <p:cNvSpPr/>
          <p:nvPr/>
        </p:nvSpPr>
        <p:spPr>
          <a:xfrm>
            <a:off x="274320" y="3236976"/>
            <a:ext cx="8595360" cy="365760"/>
          </a:xfrm>
          <a:prstGeom prst="rect">
            <a:avLst/>
          </a:prstGeom>
          <a:solidFill>
            <a:srgbClr val="E7E6E6"/>
          </a:solidFill>
          <a:ln w="12700">
            <a:solidFill>
              <a:srgbClr val="E7E6E6"/>
            </a:solidFill>
            <a:prstDash val="solid"/>
          </a:ln>
        </p:spPr>
        <p:txBody>
          <a:bodyPr/>
          <a:lstStyle/>
          <a:p>
            <a:endParaRPr lang="fr-FR"/>
          </a:p>
        </p:txBody>
      </p:sp>
      <p:sp>
        <p:nvSpPr>
          <p:cNvPr id="24" name="Text 22"/>
          <p:cNvSpPr/>
          <p:nvPr/>
        </p:nvSpPr>
        <p:spPr>
          <a:xfrm>
            <a:off x="457200" y="3236976"/>
            <a:ext cx="1828800" cy="365760"/>
          </a:xfrm>
          <a:prstGeom prst="rect">
            <a:avLst/>
          </a:prstGeom>
          <a:noFill/>
          <a:ln/>
        </p:spPr>
        <p:txBody>
          <a:bodyPr wrap="square" rtlCol="0" anchor="ctr"/>
          <a:lstStyle/>
          <a:p>
            <a:pPr marL="0" indent="0" algn="l">
              <a:buNone/>
            </a:pPr>
            <a:r>
              <a:rPr lang="en-US" sz="1100" b="1" dirty="0">
                <a:solidFill>
                  <a:srgbClr val="1F4E78"/>
                </a:solidFill>
              </a:rPr>
              <a:t>Sauvegarde</a:t>
            </a:r>
            <a:endParaRPr lang="en-US" sz="1100" dirty="0"/>
          </a:p>
        </p:txBody>
      </p:sp>
      <p:sp>
        <p:nvSpPr>
          <p:cNvPr id="25" name="Text 23"/>
          <p:cNvSpPr/>
          <p:nvPr/>
        </p:nvSpPr>
        <p:spPr>
          <a:xfrm>
            <a:off x="2468880" y="3236976"/>
            <a:ext cx="6400800" cy="365760"/>
          </a:xfrm>
          <a:prstGeom prst="rect">
            <a:avLst/>
          </a:prstGeom>
          <a:noFill/>
          <a:ln/>
        </p:spPr>
        <p:txBody>
          <a:bodyPr wrap="square" rtlCol="0" anchor="ctr"/>
          <a:lstStyle/>
          <a:p>
            <a:pPr marL="0" indent="0" algn="l">
              <a:buNone/>
            </a:pPr>
            <a:r>
              <a:rPr lang="en-US" sz="1100" dirty="0">
                <a:solidFill>
                  <a:srgbClr val="1F1F1F"/>
                </a:solidFill>
              </a:rPr>
              <a:t>Backup automatique et restauration</a:t>
            </a:r>
            <a:endParaRPr lang="en-US" sz="1100" dirty="0"/>
          </a:p>
        </p:txBody>
      </p:sp>
      <p:sp>
        <p:nvSpPr>
          <p:cNvPr id="26" name="Shape 24"/>
          <p:cNvSpPr/>
          <p:nvPr/>
        </p:nvSpPr>
        <p:spPr>
          <a:xfrm>
            <a:off x="274320" y="3639312"/>
            <a:ext cx="8595360" cy="365760"/>
          </a:xfrm>
          <a:prstGeom prst="rect">
            <a:avLst/>
          </a:prstGeom>
          <a:solidFill>
            <a:srgbClr val="FFFFFF"/>
          </a:solidFill>
          <a:ln w="12700">
            <a:solidFill>
              <a:srgbClr val="E7E6E6"/>
            </a:solidFill>
            <a:prstDash val="solid"/>
          </a:ln>
        </p:spPr>
        <p:txBody>
          <a:bodyPr/>
          <a:lstStyle/>
          <a:p>
            <a:endParaRPr lang="fr-FR"/>
          </a:p>
        </p:txBody>
      </p:sp>
      <p:sp>
        <p:nvSpPr>
          <p:cNvPr id="27" name="Text 25"/>
          <p:cNvSpPr/>
          <p:nvPr/>
        </p:nvSpPr>
        <p:spPr>
          <a:xfrm>
            <a:off x="457200" y="3639312"/>
            <a:ext cx="1828800" cy="365760"/>
          </a:xfrm>
          <a:prstGeom prst="rect">
            <a:avLst/>
          </a:prstGeom>
          <a:noFill/>
          <a:ln/>
        </p:spPr>
        <p:txBody>
          <a:bodyPr wrap="square" rtlCol="0" anchor="ctr"/>
          <a:lstStyle/>
          <a:p>
            <a:pPr marL="0" indent="0" algn="l">
              <a:buNone/>
            </a:pPr>
            <a:r>
              <a:rPr lang="en-US" sz="1100" b="1" dirty="0">
                <a:solidFill>
                  <a:srgbClr val="1F4E78"/>
                </a:solidFill>
              </a:rPr>
              <a:t>Récupération</a:t>
            </a:r>
            <a:endParaRPr lang="en-US" sz="1100" dirty="0"/>
          </a:p>
        </p:txBody>
      </p:sp>
      <p:sp>
        <p:nvSpPr>
          <p:cNvPr id="28" name="Text 26"/>
          <p:cNvSpPr/>
          <p:nvPr/>
        </p:nvSpPr>
        <p:spPr>
          <a:xfrm>
            <a:off x="2468880" y="3639312"/>
            <a:ext cx="6400800" cy="365760"/>
          </a:xfrm>
          <a:prstGeom prst="rect">
            <a:avLst/>
          </a:prstGeom>
          <a:noFill/>
          <a:ln/>
        </p:spPr>
        <p:txBody>
          <a:bodyPr wrap="square" rtlCol="0" anchor="ctr"/>
          <a:lstStyle/>
          <a:p>
            <a:pPr marL="0" indent="0" algn="l">
              <a:buNone/>
            </a:pPr>
            <a:r>
              <a:rPr lang="en-US" sz="1100" dirty="0">
                <a:solidFill>
                  <a:srgbClr val="1F1F1F"/>
                </a:solidFill>
              </a:rPr>
              <a:t>Reprise sur erreur ou panne</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Exemples de SGBD du marché</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9/40</a:t>
            </a:r>
            <a:endParaRPr lang="en-US" sz="1000" dirty="0"/>
          </a:p>
        </p:txBody>
      </p:sp>
      <p:sp>
        <p:nvSpPr>
          <p:cNvPr id="5" name="Shape 3"/>
          <p:cNvSpPr/>
          <p:nvPr/>
        </p:nvSpPr>
        <p:spPr>
          <a:xfrm>
            <a:off x="274320" y="822960"/>
            <a:ext cx="1828800" cy="365760"/>
          </a:xfrm>
          <a:prstGeom prst="rect">
            <a:avLst/>
          </a:prstGeom>
          <a:solidFill>
            <a:srgbClr val="F79646"/>
          </a:solidFill>
          <a:ln/>
        </p:spPr>
        <p:txBody>
          <a:bodyPr/>
          <a:lstStyle/>
          <a:p>
            <a:endParaRPr lang="fr-FR"/>
          </a:p>
        </p:txBody>
      </p:sp>
      <p:sp>
        <p:nvSpPr>
          <p:cNvPr id="6" name="Text 4"/>
          <p:cNvSpPr/>
          <p:nvPr/>
        </p:nvSpPr>
        <p:spPr>
          <a:xfrm>
            <a:off x="274320" y="822960"/>
            <a:ext cx="1828800" cy="365760"/>
          </a:xfrm>
          <a:prstGeom prst="rect">
            <a:avLst/>
          </a:prstGeom>
          <a:noFill/>
          <a:ln/>
        </p:spPr>
        <p:txBody>
          <a:bodyPr wrap="square" rtlCol="0" anchor="ctr"/>
          <a:lstStyle/>
          <a:p>
            <a:pPr marL="0" indent="0" algn="ctr">
              <a:buNone/>
            </a:pPr>
            <a:r>
              <a:rPr lang="en-US" sz="1100" b="1" dirty="0">
                <a:solidFill>
                  <a:srgbClr val="FFFFFF"/>
                </a:solidFill>
              </a:rPr>
              <a:t>PostgreSQL</a:t>
            </a:r>
            <a:endParaRPr lang="en-US" sz="1100" dirty="0"/>
          </a:p>
        </p:txBody>
      </p:sp>
      <p:sp>
        <p:nvSpPr>
          <p:cNvPr id="7" name="Text 5"/>
          <p:cNvSpPr/>
          <p:nvPr/>
        </p:nvSpPr>
        <p:spPr>
          <a:xfrm>
            <a:off x="2286000" y="822960"/>
            <a:ext cx="6583680" cy="365760"/>
          </a:xfrm>
          <a:prstGeom prst="rect">
            <a:avLst/>
          </a:prstGeom>
          <a:noFill/>
          <a:ln/>
        </p:spPr>
        <p:txBody>
          <a:bodyPr wrap="square" rtlCol="0" anchor="ctr"/>
          <a:lstStyle/>
          <a:p>
            <a:pPr marL="0" indent="0" algn="l">
              <a:buNone/>
            </a:pPr>
            <a:r>
              <a:rPr lang="en-US" sz="1100" dirty="0">
                <a:solidFill>
                  <a:srgbClr val="1F1F1F"/>
                </a:solidFill>
              </a:rPr>
              <a:t>Open source, puissant, gratuit</a:t>
            </a:r>
            <a:endParaRPr lang="en-US" sz="1100" dirty="0"/>
          </a:p>
        </p:txBody>
      </p:sp>
      <p:sp>
        <p:nvSpPr>
          <p:cNvPr id="8" name="Shape 6"/>
          <p:cNvSpPr/>
          <p:nvPr/>
        </p:nvSpPr>
        <p:spPr>
          <a:xfrm>
            <a:off x="274320" y="1280160"/>
            <a:ext cx="1828800" cy="365760"/>
          </a:xfrm>
          <a:prstGeom prst="rect">
            <a:avLst/>
          </a:prstGeom>
          <a:solidFill>
            <a:srgbClr val="1F4E78"/>
          </a:solidFill>
          <a:ln/>
        </p:spPr>
        <p:txBody>
          <a:bodyPr/>
          <a:lstStyle/>
          <a:p>
            <a:endParaRPr lang="fr-FR"/>
          </a:p>
        </p:txBody>
      </p:sp>
      <p:sp>
        <p:nvSpPr>
          <p:cNvPr id="9" name="Text 7"/>
          <p:cNvSpPr/>
          <p:nvPr/>
        </p:nvSpPr>
        <p:spPr>
          <a:xfrm>
            <a:off x="274320" y="1280160"/>
            <a:ext cx="1828800" cy="365760"/>
          </a:xfrm>
          <a:prstGeom prst="rect">
            <a:avLst/>
          </a:prstGeom>
          <a:noFill/>
          <a:ln/>
        </p:spPr>
        <p:txBody>
          <a:bodyPr wrap="square" rtlCol="0" anchor="ctr"/>
          <a:lstStyle/>
          <a:p>
            <a:pPr marL="0" indent="0" algn="ctr">
              <a:buNone/>
            </a:pPr>
            <a:r>
              <a:rPr lang="en-US" sz="1100" b="1" dirty="0">
                <a:solidFill>
                  <a:srgbClr val="FFFFFF"/>
                </a:solidFill>
              </a:rPr>
              <a:t>MySQL/MariaDB</a:t>
            </a:r>
            <a:endParaRPr lang="en-US" sz="1100" dirty="0"/>
          </a:p>
        </p:txBody>
      </p:sp>
      <p:sp>
        <p:nvSpPr>
          <p:cNvPr id="10" name="Text 8"/>
          <p:cNvSpPr/>
          <p:nvPr/>
        </p:nvSpPr>
        <p:spPr>
          <a:xfrm>
            <a:off x="2286000" y="1280160"/>
            <a:ext cx="6583680" cy="365760"/>
          </a:xfrm>
          <a:prstGeom prst="rect">
            <a:avLst/>
          </a:prstGeom>
          <a:noFill/>
          <a:ln/>
        </p:spPr>
        <p:txBody>
          <a:bodyPr wrap="square" rtlCol="0" anchor="ctr"/>
          <a:lstStyle/>
          <a:p>
            <a:pPr marL="0" indent="0" algn="l">
              <a:buNone/>
            </a:pPr>
            <a:r>
              <a:rPr lang="en-US" sz="1100" dirty="0">
                <a:solidFill>
                  <a:srgbClr val="1F1F1F"/>
                </a:solidFill>
              </a:rPr>
              <a:t>Web, populaire, léger</a:t>
            </a:r>
            <a:endParaRPr lang="en-US" sz="1100" dirty="0"/>
          </a:p>
        </p:txBody>
      </p:sp>
      <p:sp>
        <p:nvSpPr>
          <p:cNvPr id="11" name="Shape 9"/>
          <p:cNvSpPr/>
          <p:nvPr/>
        </p:nvSpPr>
        <p:spPr>
          <a:xfrm>
            <a:off x="274320" y="1737360"/>
            <a:ext cx="1828800" cy="365760"/>
          </a:xfrm>
          <a:prstGeom prst="rect">
            <a:avLst/>
          </a:prstGeom>
          <a:solidFill>
            <a:srgbClr val="F79646"/>
          </a:solidFill>
          <a:ln/>
        </p:spPr>
        <p:txBody>
          <a:bodyPr/>
          <a:lstStyle/>
          <a:p>
            <a:endParaRPr lang="fr-FR"/>
          </a:p>
        </p:txBody>
      </p:sp>
      <p:sp>
        <p:nvSpPr>
          <p:cNvPr id="12" name="Text 10"/>
          <p:cNvSpPr/>
          <p:nvPr/>
        </p:nvSpPr>
        <p:spPr>
          <a:xfrm>
            <a:off x="274320" y="1737360"/>
            <a:ext cx="1828800" cy="365760"/>
          </a:xfrm>
          <a:prstGeom prst="rect">
            <a:avLst/>
          </a:prstGeom>
          <a:noFill/>
          <a:ln/>
        </p:spPr>
        <p:txBody>
          <a:bodyPr wrap="square" rtlCol="0" anchor="ctr"/>
          <a:lstStyle/>
          <a:p>
            <a:pPr marL="0" indent="0" algn="ctr">
              <a:buNone/>
            </a:pPr>
            <a:r>
              <a:rPr lang="en-US" sz="1100" b="1" dirty="0">
                <a:solidFill>
                  <a:srgbClr val="FFFFFF"/>
                </a:solidFill>
              </a:rPr>
              <a:t>SQLite</a:t>
            </a:r>
            <a:endParaRPr lang="en-US" sz="1100" dirty="0"/>
          </a:p>
        </p:txBody>
      </p:sp>
      <p:sp>
        <p:nvSpPr>
          <p:cNvPr id="13" name="Text 11"/>
          <p:cNvSpPr/>
          <p:nvPr/>
        </p:nvSpPr>
        <p:spPr>
          <a:xfrm>
            <a:off x="2286000" y="1737360"/>
            <a:ext cx="6583680" cy="365760"/>
          </a:xfrm>
          <a:prstGeom prst="rect">
            <a:avLst/>
          </a:prstGeom>
          <a:noFill/>
          <a:ln/>
        </p:spPr>
        <p:txBody>
          <a:bodyPr wrap="square" rtlCol="0" anchor="ctr"/>
          <a:lstStyle/>
          <a:p>
            <a:pPr marL="0" indent="0" algn="l">
              <a:buNone/>
            </a:pPr>
            <a:r>
              <a:rPr lang="en-US" sz="1100" dirty="0">
                <a:solidFill>
                  <a:srgbClr val="1F1F1F"/>
                </a:solidFill>
              </a:rPr>
              <a:t>Embarqué, petit, pas réseau</a:t>
            </a:r>
            <a:endParaRPr lang="en-US" sz="1100" dirty="0"/>
          </a:p>
        </p:txBody>
      </p:sp>
      <p:sp>
        <p:nvSpPr>
          <p:cNvPr id="14" name="Shape 12"/>
          <p:cNvSpPr/>
          <p:nvPr/>
        </p:nvSpPr>
        <p:spPr>
          <a:xfrm>
            <a:off x="274320" y="2194560"/>
            <a:ext cx="1828800" cy="365760"/>
          </a:xfrm>
          <a:prstGeom prst="rect">
            <a:avLst/>
          </a:prstGeom>
          <a:solidFill>
            <a:srgbClr val="1F4E78"/>
          </a:solidFill>
          <a:ln/>
        </p:spPr>
        <p:txBody>
          <a:bodyPr/>
          <a:lstStyle/>
          <a:p>
            <a:endParaRPr lang="fr-FR"/>
          </a:p>
        </p:txBody>
      </p:sp>
      <p:sp>
        <p:nvSpPr>
          <p:cNvPr id="15" name="Text 13"/>
          <p:cNvSpPr/>
          <p:nvPr/>
        </p:nvSpPr>
        <p:spPr>
          <a:xfrm>
            <a:off x="274320" y="2194560"/>
            <a:ext cx="1828800" cy="365760"/>
          </a:xfrm>
          <a:prstGeom prst="rect">
            <a:avLst/>
          </a:prstGeom>
          <a:noFill/>
          <a:ln/>
        </p:spPr>
        <p:txBody>
          <a:bodyPr wrap="square" rtlCol="0" anchor="ctr"/>
          <a:lstStyle/>
          <a:p>
            <a:pPr marL="0" indent="0" algn="ctr">
              <a:buNone/>
            </a:pPr>
            <a:r>
              <a:rPr lang="en-US" sz="1100" b="1" dirty="0">
                <a:solidFill>
                  <a:srgbClr val="FFFFFF"/>
                </a:solidFill>
              </a:rPr>
              <a:t>Oracle Database</a:t>
            </a:r>
            <a:endParaRPr lang="en-US" sz="1100" dirty="0"/>
          </a:p>
        </p:txBody>
      </p:sp>
      <p:sp>
        <p:nvSpPr>
          <p:cNvPr id="16" name="Text 14"/>
          <p:cNvSpPr/>
          <p:nvPr/>
        </p:nvSpPr>
        <p:spPr>
          <a:xfrm>
            <a:off x="2286000" y="2194560"/>
            <a:ext cx="6583680" cy="365760"/>
          </a:xfrm>
          <a:prstGeom prst="rect">
            <a:avLst/>
          </a:prstGeom>
          <a:noFill/>
          <a:ln/>
        </p:spPr>
        <p:txBody>
          <a:bodyPr wrap="square" rtlCol="0" anchor="ctr"/>
          <a:lstStyle/>
          <a:p>
            <a:pPr marL="0" indent="0" algn="l">
              <a:buNone/>
            </a:pPr>
            <a:r>
              <a:rPr lang="en-US" sz="1100" dirty="0">
                <a:solidFill>
                  <a:srgbClr val="1F1F1F"/>
                </a:solidFill>
              </a:rPr>
              <a:t>Entreprise, cher, robuste</a:t>
            </a:r>
            <a:endParaRPr lang="en-US" sz="1100" dirty="0"/>
          </a:p>
        </p:txBody>
      </p:sp>
      <p:sp>
        <p:nvSpPr>
          <p:cNvPr id="17" name="Shape 15"/>
          <p:cNvSpPr/>
          <p:nvPr/>
        </p:nvSpPr>
        <p:spPr>
          <a:xfrm>
            <a:off x="274320" y="2651760"/>
            <a:ext cx="1828800" cy="365760"/>
          </a:xfrm>
          <a:prstGeom prst="rect">
            <a:avLst/>
          </a:prstGeom>
          <a:solidFill>
            <a:srgbClr val="F79646"/>
          </a:solidFill>
          <a:ln/>
        </p:spPr>
        <p:txBody>
          <a:bodyPr/>
          <a:lstStyle/>
          <a:p>
            <a:endParaRPr lang="fr-FR"/>
          </a:p>
        </p:txBody>
      </p:sp>
      <p:sp>
        <p:nvSpPr>
          <p:cNvPr id="18" name="Text 16"/>
          <p:cNvSpPr/>
          <p:nvPr/>
        </p:nvSpPr>
        <p:spPr>
          <a:xfrm>
            <a:off x="274320" y="2651760"/>
            <a:ext cx="1828800" cy="365760"/>
          </a:xfrm>
          <a:prstGeom prst="rect">
            <a:avLst/>
          </a:prstGeom>
          <a:noFill/>
          <a:ln/>
        </p:spPr>
        <p:txBody>
          <a:bodyPr wrap="square" rtlCol="0" anchor="ctr"/>
          <a:lstStyle/>
          <a:p>
            <a:pPr marL="0" indent="0" algn="ctr">
              <a:buNone/>
            </a:pPr>
            <a:r>
              <a:rPr lang="en-US" sz="1100" b="1" dirty="0">
                <a:solidFill>
                  <a:srgbClr val="FFFFFF"/>
                </a:solidFill>
              </a:rPr>
              <a:t>Microsoft SQL Server</a:t>
            </a:r>
            <a:endParaRPr lang="en-US" sz="1100" dirty="0"/>
          </a:p>
        </p:txBody>
      </p:sp>
      <p:sp>
        <p:nvSpPr>
          <p:cNvPr id="19" name="Text 17"/>
          <p:cNvSpPr/>
          <p:nvPr/>
        </p:nvSpPr>
        <p:spPr>
          <a:xfrm>
            <a:off x="2286000" y="2651760"/>
            <a:ext cx="6583680" cy="365760"/>
          </a:xfrm>
          <a:prstGeom prst="rect">
            <a:avLst/>
          </a:prstGeom>
          <a:noFill/>
          <a:ln/>
        </p:spPr>
        <p:txBody>
          <a:bodyPr wrap="square" rtlCol="0" anchor="ctr"/>
          <a:lstStyle/>
          <a:p>
            <a:pPr marL="0" indent="0" algn="l">
              <a:buNone/>
            </a:pPr>
            <a:r>
              <a:rPr lang="en-US" sz="1100" dirty="0">
                <a:solidFill>
                  <a:srgbClr val="1F1F1F"/>
                </a:solidFill>
              </a:rPr>
              <a:t>Windows, intégration MS Office</a:t>
            </a:r>
            <a:endParaRPr lang="en-US" sz="1100" dirty="0"/>
          </a:p>
        </p:txBody>
      </p:sp>
      <p:sp>
        <p:nvSpPr>
          <p:cNvPr id="20" name="Shape 18"/>
          <p:cNvSpPr/>
          <p:nvPr/>
        </p:nvSpPr>
        <p:spPr>
          <a:xfrm>
            <a:off x="274320" y="3108960"/>
            <a:ext cx="1828800" cy="365760"/>
          </a:xfrm>
          <a:prstGeom prst="rect">
            <a:avLst/>
          </a:prstGeom>
          <a:solidFill>
            <a:srgbClr val="1F4E78"/>
          </a:solidFill>
          <a:ln/>
        </p:spPr>
        <p:txBody>
          <a:bodyPr/>
          <a:lstStyle/>
          <a:p>
            <a:endParaRPr lang="fr-FR"/>
          </a:p>
        </p:txBody>
      </p:sp>
      <p:sp>
        <p:nvSpPr>
          <p:cNvPr id="21" name="Text 19"/>
          <p:cNvSpPr/>
          <p:nvPr/>
        </p:nvSpPr>
        <p:spPr>
          <a:xfrm>
            <a:off x="274320" y="3108960"/>
            <a:ext cx="1828800" cy="365760"/>
          </a:xfrm>
          <a:prstGeom prst="rect">
            <a:avLst/>
          </a:prstGeom>
          <a:noFill/>
          <a:ln/>
        </p:spPr>
        <p:txBody>
          <a:bodyPr wrap="square" rtlCol="0" anchor="ctr"/>
          <a:lstStyle/>
          <a:p>
            <a:pPr marL="0" indent="0" algn="ctr">
              <a:buNone/>
            </a:pPr>
            <a:r>
              <a:rPr lang="en-US" sz="1100" b="1" dirty="0">
                <a:solidFill>
                  <a:srgbClr val="FFFFFF"/>
                </a:solidFill>
              </a:rPr>
              <a:t>MongoDB</a:t>
            </a:r>
            <a:endParaRPr lang="en-US" sz="1100" dirty="0"/>
          </a:p>
        </p:txBody>
      </p:sp>
      <p:sp>
        <p:nvSpPr>
          <p:cNvPr id="22" name="Text 20"/>
          <p:cNvSpPr/>
          <p:nvPr/>
        </p:nvSpPr>
        <p:spPr>
          <a:xfrm>
            <a:off x="2286000" y="3108960"/>
            <a:ext cx="6583680" cy="365760"/>
          </a:xfrm>
          <a:prstGeom prst="rect">
            <a:avLst/>
          </a:prstGeom>
          <a:noFill/>
          <a:ln/>
        </p:spPr>
        <p:txBody>
          <a:bodyPr wrap="square" rtlCol="0" anchor="ctr"/>
          <a:lstStyle/>
          <a:p>
            <a:pPr marL="0" indent="0" algn="l">
              <a:buNone/>
            </a:pPr>
            <a:r>
              <a:rPr lang="en-US" sz="1100" dirty="0">
                <a:solidFill>
                  <a:srgbClr val="1F1F1F"/>
                </a:solidFill>
              </a:rPr>
              <a:t>NoSQL, documents, flexibilité</a:t>
            </a:r>
            <a:endParaRPr lang="en-US" sz="1100" dirty="0"/>
          </a:p>
        </p:txBody>
      </p:sp>
      <p:sp>
        <p:nvSpPr>
          <p:cNvPr id="23" name="Text 21"/>
          <p:cNvSpPr/>
          <p:nvPr/>
        </p:nvSpPr>
        <p:spPr>
          <a:xfrm>
            <a:off x="274320" y="4206240"/>
            <a:ext cx="8595360" cy="365760"/>
          </a:xfrm>
          <a:prstGeom prst="rect">
            <a:avLst/>
          </a:prstGeom>
          <a:noFill/>
          <a:ln/>
        </p:spPr>
        <p:txBody>
          <a:bodyPr wrap="square" rtlCol="0" anchor="ctr"/>
          <a:lstStyle/>
          <a:p>
            <a:pPr marL="0" indent="0" algn="l">
              <a:buNone/>
            </a:pPr>
            <a:r>
              <a:rPr lang="en-US" sz="1200" b="1" dirty="0">
                <a:solidFill>
                  <a:srgbClr val="1F4E78"/>
                </a:solidFill>
              </a:rPr>
              <a:t>Ce cours utilise PostgreSQL (open source, pédagogique, professionnel)</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Architecture d'un système de base de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10/40</a:t>
            </a:r>
            <a:endParaRPr lang="en-US" sz="1000" dirty="0"/>
          </a:p>
        </p:txBody>
      </p:sp>
      <p:sp>
        <p:nvSpPr>
          <p:cNvPr id="5" name="Shape 3"/>
          <p:cNvSpPr/>
          <p:nvPr/>
        </p:nvSpPr>
        <p:spPr>
          <a:xfrm>
            <a:off x="2743200" y="822960"/>
            <a:ext cx="3657600" cy="548640"/>
          </a:xfrm>
          <a:prstGeom prst="rect">
            <a:avLst/>
          </a:prstGeom>
          <a:solidFill>
            <a:srgbClr val="F79646"/>
          </a:solidFill>
          <a:ln/>
        </p:spPr>
        <p:txBody>
          <a:bodyPr/>
          <a:lstStyle/>
          <a:p>
            <a:endParaRPr lang="fr-FR"/>
          </a:p>
        </p:txBody>
      </p:sp>
      <p:sp>
        <p:nvSpPr>
          <p:cNvPr id="6" name="Text 4"/>
          <p:cNvSpPr/>
          <p:nvPr/>
        </p:nvSpPr>
        <p:spPr>
          <a:xfrm>
            <a:off x="2743200" y="822960"/>
            <a:ext cx="3657600" cy="548640"/>
          </a:xfrm>
          <a:prstGeom prst="rect">
            <a:avLst/>
          </a:prstGeom>
          <a:noFill/>
          <a:ln/>
        </p:spPr>
        <p:txBody>
          <a:bodyPr wrap="square" rtlCol="0" anchor="ctr"/>
          <a:lstStyle/>
          <a:p>
            <a:pPr marL="0" indent="0" algn="ctr">
              <a:buNone/>
            </a:pPr>
            <a:r>
              <a:rPr lang="en-US" sz="1200" b="1" dirty="0">
                <a:solidFill>
                  <a:srgbClr val="FFFFFF"/>
                </a:solidFill>
              </a:rPr>
              <a:t>Utilisateurs</a:t>
            </a:r>
            <a:endParaRPr lang="en-US" sz="1200" dirty="0"/>
          </a:p>
        </p:txBody>
      </p:sp>
      <p:sp>
        <p:nvSpPr>
          <p:cNvPr id="7" name="Shape 5"/>
          <p:cNvSpPr/>
          <p:nvPr/>
        </p:nvSpPr>
        <p:spPr>
          <a:xfrm>
            <a:off x="4572000" y="1371600"/>
            <a:ext cx="0" cy="73152"/>
          </a:xfrm>
          <a:prstGeom prst="line">
            <a:avLst/>
          </a:prstGeom>
          <a:noFill/>
          <a:ln w="25400">
            <a:solidFill>
              <a:srgbClr val="1F1F1F"/>
            </a:solidFill>
            <a:prstDash val="solid"/>
          </a:ln>
        </p:spPr>
        <p:txBody>
          <a:bodyPr/>
          <a:lstStyle/>
          <a:p>
            <a:endParaRPr lang="fr-FR"/>
          </a:p>
        </p:txBody>
      </p:sp>
      <p:sp>
        <p:nvSpPr>
          <p:cNvPr id="8" name="Shape 6"/>
          <p:cNvSpPr/>
          <p:nvPr/>
        </p:nvSpPr>
        <p:spPr>
          <a:xfrm>
            <a:off x="2743200" y="1554480"/>
            <a:ext cx="3657600" cy="548640"/>
          </a:xfrm>
          <a:prstGeom prst="rect">
            <a:avLst/>
          </a:prstGeom>
          <a:solidFill>
            <a:srgbClr val="F79646"/>
          </a:solidFill>
          <a:ln/>
        </p:spPr>
        <p:txBody>
          <a:bodyPr/>
          <a:lstStyle/>
          <a:p>
            <a:endParaRPr lang="fr-FR"/>
          </a:p>
        </p:txBody>
      </p:sp>
      <p:sp>
        <p:nvSpPr>
          <p:cNvPr id="9" name="Text 7"/>
          <p:cNvSpPr/>
          <p:nvPr/>
        </p:nvSpPr>
        <p:spPr>
          <a:xfrm>
            <a:off x="2743200" y="1554480"/>
            <a:ext cx="3657600" cy="548640"/>
          </a:xfrm>
          <a:prstGeom prst="rect">
            <a:avLst/>
          </a:prstGeom>
          <a:noFill/>
          <a:ln/>
        </p:spPr>
        <p:txBody>
          <a:bodyPr wrap="square" rtlCol="0" anchor="ctr"/>
          <a:lstStyle/>
          <a:p>
            <a:pPr marL="0" indent="0" algn="ctr">
              <a:buNone/>
            </a:pPr>
            <a:r>
              <a:rPr lang="en-US" sz="1200" b="1" dirty="0">
                <a:solidFill>
                  <a:srgbClr val="FFFFFF"/>
                </a:solidFill>
              </a:rPr>
              <a:t>Applications</a:t>
            </a:r>
            <a:endParaRPr lang="en-US" sz="1200" dirty="0"/>
          </a:p>
        </p:txBody>
      </p:sp>
      <p:sp>
        <p:nvSpPr>
          <p:cNvPr id="10" name="Shape 8"/>
          <p:cNvSpPr/>
          <p:nvPr/>
        </p:nvSpPr>
        <p:spPr>
          <a:xfrm>
            <a:off x="4572000" y="2103120"/>
            <a:ext cx="0" cy="73152"/>
          </a:xfrm>
          <a:prstGeom prst="line">
            <a:avLst/>
          </a:prstGeom>
          <a:noFill/>
          <a:ln w="25400">
            <a:solidFill>
              <a:srgbClr val="1F1F1F"/>
            </a:solidFill>
            <a:prstDash val="solid"/>
          </a:ln>
        </p:spPr>
        <p:txBody>
          <a:bodyPr/>
          <a:lstStyle/>
          <a:p>
            <a:endParaRPr lang="fr-FR"/>
          </a:p>
        </p:txBody>
      </p:sp>
      <p:sp>
        <p:nvSpPr>
          <p:cNvPr id="11" name="Shape 9"/>
          <p:cNvSpPr/>
          <p:nvPr/>
        </p:nvSpPr>
        <p:spPr>
          <a:xfrm>
            <a:off x="2743200" y="2286000"/>
            <a:ext cx="3657600" cy="548640"/>
          </a:xfrm>
          <a:prstGeom prst="rect">
            <a:avLst/>
          </a:prstGeom>
          <a:solidFill>
            <a:srgbClr val="1F4E78"/>
          </a:solidFill>
          <a:ln/>
        </p:spPr>
        <p:txBody>
          <a:bodyPr/>
          <a:lstStyle/>
          <a:p>
            <a:endParaRPr lang="fr-FR"/>
          </a:p>
        </p:txBody>
      </p:sp>
      <p:sp>
        <p:nvSpPr>
          <p:cNvPr id="12" name="Text 10"/>
          <p:cNvSpPr/>
          <p:nvPr/>
        </p:nvSpPr>
        <p:spPr>
          <a:xfrm>
            <a:off x="2743200" y="2286000"/>
            <a:ext cx="3657600" cy="548640"/>
          </a:xfrm>
          <a:prstGeom prst="rect">
            <a:avLst/>
          </a:prstGeom>
          <a:noFill/>
          <a:ln/>
        </p:spPr>
        <p:txBody>
          <a:bodyPr wrap="square" rtlCol="0" anchor="ctr"/>
          <a:lstStyle/>
          <a:p>
            <a:pPr marL="0" indent="0" algn="ctr">
              <a:buNone/>
            </a:pPr>
            <a:r>
              <a:rPr lang="en-US" sz="1200" b="1" dirty="0">
                <a:solidFill>
                  <a:srgbClr val="FFFFFF"/>
                </a:solidFill>
              </a:rPr>
              <a:t>SGBD</a:t>
            </a:r>
            <a:endParaRPr lang="en-US" sz="1200" dirty="0"/>
          </a:p>
        </p:txBody>
      </p:sp>
      <p:sp>
        <p:nvSpPr>
          <p:cNvPr id="13" name="Shape 11"/>
          <p:cNvSpPr/>
          <p:nvPr/>
        </p:nvSpPr>
        <p:spPr>
          <a:xfrm>
            <a:off x="4572000" y="2834640"/>
            <a:ext cx="0" cy="73152"/>
          </a:xfrm>
          <a:prstGeom prst="line">
            <a:avLst/>
          </a:prstGeom>
          <a:noFill/>
          <a:ln w="25400">
            <a:solidFill>
              <a:srgbClr val="1F1F1F"/>
            </a:solidFill>
            <a:prstDash val="solid"/>
          </a:ln>
        </p:spPr>
        <p:txBody>
          <a:bodyPr/>
          <a:lstStyle/>
          <a:p>
            <a:endParaRPr lang="fr-FR"/>
          </a:p>
        </p:txBody>
      </p:sp>
      <p:sp>
        <p:nvSpPr>
          <p:cNvPr id="14" name="Shape 12"/>
          <p:cNvSpPr/>
          <p:nvPr/>
        </p:nvSpPr>
        <p:spPr>
          <a:xfrm>
            <a:off x="2743200" y="3017520"/>
            <a:ext cx="3657600" cy="548640"/>
          </a:xfrm>
          <a:prstGeom prst="rect">
            <a:avLst/>
          </a:prstGeom>
          <a:solidFill>
            <a:srgbClr val="F79646"/>
          </a:solidFill>
          <a:ln/>
        </p:spPr>
        <p:txBody>
          <a:bodyPr/>
          <a:lstStyle/>
          <a:p>
            <a:endParaRPr lang="fr-FR"/>
          </a:p>
        </p:txBody>
      </p:sp>
      <p:sp>
        <p:nvSpPr>
          <p:cNvPr id="15" name="Text 13"/>
          <p:cNvSpPr/>
          <p:nvPr/>
        </p:nvSpPr>
        <p:spPr>
          <a:xfrm>
            <a:off x="2743200" y="3017520"/>
            <a:ext cx="3657600" cy="548640"/>
          </a:xfrm>
          <a:prstGeom prst="rect">
            <a:avLst/>
          </a:prstGeom>
          <a:noFill/>
          <a:ln/>
        </p:spPr>
        <p:txBody>
          <a:bodyPr wrap="square" rtlCol="0" anchor="ctr"/>
          <a:lstStyle/>
          <a:p>
            <a:pPr marL="0" indent="0" algn="ctr">
              <a:buNone/>
            </a:pPr>
            <a:r>
              <a:rPr lang="en-US" sz="1200" b="1" dirty="0">
                <a:solidFill>
                  <a:srgbClr val="FFFFFF"/>
                </a:solidFill>
              </a:rPr>
              <a:t>Base de données</a:t>
            </a:r>
            <a:endParaRPr lang="en-US" sz="1200" dirty="0"/>
          </a:p>
        </p:txBody>
      </p:sp>
      <p:sp>
        <p:nvSpPr>
          <p:cNvPr id="16" name="Shape 14"/>
          <p:cNvSpPr/>
          <p:nvPr/>
        </p:nvSpPr>
        <p:spPr>
          <a:xfrm>
            <a:off x="4572000" y="3566160"/>
            <a:ext cx="0" cy="73152"/>
          </a:xfrm>
          <a:prstGeom prst="line">
            <a:avLst/>
          </a:prstGeom>
          <a:noFill/>
          <a:ln w="25400">
            <a:solidFill>
              <a:srgbClr val="1F1F1F"/>
            </a:solidFill>
            <a:prstDash val="solid"/>
          </a:ln>
        </p:spPr>
        <p:txBody>
          <a:bodyPr/>
          <a:lstStyle/>
          <a:p>
            <a:endParaRPr lang="fr-FR"/>
          </a:p>
        </p:txBody>
      </p:sp>
      <p:sp>
        <p:nvSpPr>
          <p:cNvPr id="17" name="Shape 15"/>
          <p:cNvSpPr/>
          <p:nvPr/>
        </p:nvSpPr>
        <p:spPr>
          <a:xfrm>
            <a:off x="2743200" y="3749040"/>
            <a:ext cx="3657600" cy="548640"/>
          </a:xfrm>
          <a:prstGeom prst="rect">
            <a:avLst/>
          </a:prstGeom>
          <a:solidFill>
            <a:srgbClr val="F79646"/>
          </a:solidFill>
          <a:ln/>
        </p:spPr>
        <p:txBody>
          <a:bodyPr/>
          <a:lstStyle/>
          <a:p>
            <a:endParaRPr lang="fr-FR"/>
          </a:p>
        </p:txBody>
      </p:sp>
      <p:sp>
        <p:nvSpPr>
          <p:cNvPr id="18" name="Text 16"/>
          <p:cNvSpPr/>
          <p:nvPr/>
        </p:nvSpPr>
        <p:spPr>
          <a:xfrm>
            <a:off x="2743200" y="3749040"/>
            <a:ext cx="3657600" cy="548640"/>
          </a:xfrm>
          <a:prstGeom prst="rect">
            <a:avLst/>
          </a:prstGeom>
          <a:noFill/>
          <a:ln/>
        </p:spPr>
        <p:txBody>
          <a:bodyPr wrap="square" rtlCol="0" anchor="ctr"/>
          <a:lstStyle/>
          <a:p>
            <a:pPr marL="0" indent="0" algn="ctr">
              <a:buNone/>
            </a:pPr>
            <a:r>
              <a:rPr lang="en-US" sz="1200" b="1" dirty="0">
                <a:solidFill>
                  <a:srgbClr val="FFFFFF"/>
                </a:solidFill>
              </a:rPr>
              <a:t>Stockage physique</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Cycle de vie d'une base de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11/40</a:t>
            </a:r>
            <a:endParaRPr lang="en-US" sz="1000" dirty="0"/>
          </a:p>
        </p:txBody>
      </p:sp>
      <p:sp>
        <p:nvSpPr>
          <p:cNvPr id="5" name="Shape 3"/>
          <p:cNvSpPr/>
          <p:nvPr/>
        </p:nvSpPr>
        <p:spPr>
          <a:xfrm>
            <a:off x="4251960" y="1234440"/>
            <a:ext cx="640080" cy="457200"/>
          </a:xfrm>
          <a:prstGeom prst="ellipse">
            <a:avLst/>
          </a:prstGeom>
          <a:solidFill>
            <a:srgbClr val="F79646"/>
          </a:solidFill>
          <a:ln/>
        </p:spPr>
        <p:txBody>
          <a:bodyPr/>
          <a:lstStyle/>
          <a:p>
            <a:endParaRPr lang="fr-FR"/>
          </a:p>
        </p:txBody>
      </p:sp>
      <p:sp>
        <p:nvSpPr>
          <p:cNvPr id="6" name="Text 4"/>
          <p:cNvSpPr/>
          <p:nvPr/>
        </p:nvSpPr>
        <p:spPr>
          <a:xfrm>
            <a:off x="4251960" y="1234440"/>
            <a:ext cx="640080" cy="457200"/>
          </a:xfrm>
          <a:prstGeom prst="rect">
            <a:avLst/>
          </a:prstGeom>
          <a:noFill/>
          <a:ln/>
        </p:spPr>
        <p:txBody>
          <a:bodyPr wrap="square" rtlCol="0" anchor="ctr"/>
          <a:lstStyle/>
          <a:p>
            <a:pPr marL="0" indent="0" algn="ctr">
              <a:buNone/>
            </a:pPr>
            <a:r>
              <a:rPr lang="en-US" sz="900" b="1" dirty="0">
                <a:solidFill>
                  <a:srgbClr val="FFFFFF"/>
                </a:solidFill>
              </a:rPr>
              <a:t>Besoin</a:t>
            </a:r>
            <a:endParaRPr lang="en-US" sz="900" dirty="0"/>
          </a:p>
        </p:txBody>
      </p:sp>
      <p:sp>
        <p:nvSpPr>
          <p:cNvPr id="7" name="Shape 5"/>
          <p:cNvSpPr/>
          <p:nvPr/>
        </p:nvSpPr>
        <p:spPr>
          <a:xfrm>
            <a:off x="5027854" y="1555826"/>
            <a:ext cx="640080" cy="457200"/>
          </a:xfrm>
          <a:prstGeom prst="ellipse">
            <a:avLst/>
          </a:prstGeom>
          <a:solidFill>
            <a:srgbClr val="1F4E78"/>
          </a:solidFill>
          <a:ln/>
        </p:spPr>
        <p:txBody>
          <a:bodyPr/>
          <a:lstStyle/>
          <a:p>
            <a:endParaRPr lang="fr-FR"/>
          </a:p>
        </p:txBody>
      </p:sp>
      <p:sp>
        <p:nvSpPr>
          <p:cNvPr id="8" name="Text 6"/>
          <p:cNvSpPr/>
          <p:nvPr/>
        </p:nvSpPr>
        <p:spPr>
          <a:xfrm>
            <a:off x="5027854" y="1555826"/>
            <a:ext cx="640080" cy="457200"/>
          </a:xfrm>
          <a:prstGeom prst="rect">
            <a:avLst/>
          </a:prstGeom>
          <a:noFill/>
          <a:ln/>
        </p:spPr>
        <p:txBody>
          <a:bodyPr wrap="square" rtlCol="0" anchor="ctr"/>
          <a:lstStyle/>
          <a:p>
            <a:pPr marL="0" indent="0" algn="ctr">
              <a:buNone/>
            </a:pPr>
            <a:r>
              <a:rPr lang="en-US" sz="900" b="1" dirty="0">
                <a:solidFill>
                  <a:srgbClr val="FFFFFF"/>
                </a:solidFill>
              </a:rPr>
              <a:t>Analyse</a:t>
            </a:r>
            <a:endParaRPr lang="en-US" sz="900" dirty="0"/>
          </a:p>
        </p:txBody>
      </p:sp>
      <p:sp>
        <p:nvSpPr>
          <p:cNvPr id="9" name="Shape 7"/>
          <p:cNvSpPr/>
          <p:nvPr/>
        </p:nvSpPr>
        <p:spPr>
          <a:xfrm>
            <a:off x="5349240" y="2331720"/>
            <a:ext cx="640080" cy="457200"/>
          </a:xfrm>
          <a:prstGeom prst="ellipse">
            <a:avLst/>
          </a:prstGeom>
          <a:solidFill>
            <a:srgbClr val="F79646"/>
          </a:solidFill>
          <a:ln/>
        </p:spPr>
        <p:txBody>
          <a:bodyPr/>
          <a:lstStyle/>
          <a:p>
            <a:endParaRPr lang="fr-FR"/>
          </a:p>
        </p:txBody>
      </p:sp>
      <p:sp>
        <p:nvSpPr>
          <p:cNvPr id="10" name="Text 8"/>
          <p:cNvSpPr/>
          <p:nvPr/>
        </p:nvSpPr>
        <p:spPr>
          <a:xfrm>
            <a:off x="5349240" y="2331720"/>
            <a:ext cx="640080" cy="457200"/>
          </a:xfrm>
          <a:prstGeom prst="rect">
            <a:avLst/>
          </a:prstGeom>
          <a:noFill/>
          <a:ln/>
        </p:spPr>
        <p:txBody>
          <a:bodyPr wrap="square" rtlCol="0" anchor="ctr"/>
          <a:lstStyle/>
          <a:p>
            <a:pPr marL="0" indent="0" algn="ctr">
              <a:buNone/>
            </a:pPr>
            <a:r>
              <a:rPr lang="en-US" sz="900" b="1" dirty="0">
                <a:solidFill>
                  <a:srgbClr val="FFFFFF"/>
                </a:solidFill>
              </a:rPr>
              <a:t>Modélisation</a:t>
            </a:r>
            <a:endParaRPr lang="en-US" sz="900" dirty="0"/>
          </a:p>
        </p:txBody>
      </p:sp>
      <p:sp>
        <p:nvSpPr>
          <p:cNvPr id="11" name="Shape 9"/>
          <p:cNvSpPr/>
          <p:nvPr/>
        </p:nvSpPr>
        <p:spPr>
          <a:xfrm>
            <a:off x="5027854" y="3107614"/>
            <a:ext cx="640080" cy="457200"/>
          </a:xfrm>
          <a:prstGeom prst="ellipse">
            <a:avLst/>
          </a:prstGeom>
          <a:solidFill>
            <a:srgbClr val="1F4E78"/>
          </a:solidFill>
          <a:ln/>
        </p:spPr>
        <p:txBody>
          <a:bodyPr/>
          <a:lstStyle/>
          <a:p>
            <a:endParaRPr lang="fr-FR"/>
          </a:p>
        </p:txBody>
      </p:sp>
      <p:sp>
        <p:nvSpPr>
          <p:cNvPr id="12" name="Text 10"/>
          <p:cNvSpPr/>
          <p:nvPr/>
        </p:nvSpPr>
        <p:spPr>
          <a:xfrm>
            <a:off x="5027854" y="3107614"/>
            <a:ext cx="640080" cy="457200"/>
          </a:xfrm>
          <a:prstGeom prst="rect">
            <a:avLst/>
          </a:prstGeom>
          <a:noFill/>
          <a:ln/>
        </p:spPr>
        <p:txBody>
          <a:bodyPr wrap="square" rtlCol="0" anchor="ctr"/>
          <a:lstStyle/>
          <a:p>
            <a:pPr marL="0" indent="0" algn="ctr">
              <a:buNone/>
            </a:pPr>
            <a:r>
              <a:rPr lang="en-US" sz="900" b="1" dirty="0">
                <a:solidFill>
                  <a:srgbClr val="FFFFFF"/>
                </a:solidFill>
              </a:rPr>
              <a:t>Création</a:t>
            </a:r>
            <a:endParaRPr lang="en-US" sz="900" dirty="0"/>
          </a:p>
        </p:txBody>
      </p:sp>
      <p:sp>
        <p:nvSpPr>
          <p:cNvPr id="13" name="Shape 11"/>
          <p:cNvSpPr/>
          <p:nvPr/>
        </p:nvSpPr>
        <p:spPr>
          <a:xfrm>
            <a:off x="4251960" y="3429000"/>
            <a:ext cx="640080" cy="457200"/>
          </a:xfrm>
          <a:prstGeom prst="ellipse">
            <a:avLst/>
          </a:prstGeom>
          <a:solidFill>
            <a:srgbClr val="F79646"/>
          </a:solidFill>
          <a:ln/>
        </p:spPr>
        <p:txBody>
          <a:bodyPr/>
          <a:lstStyle/>
          <a:p>
            <a:endParaRPr lang="fr-FR"/>
          </a:p>
        </p:txBody>
      </p:sp>
      <p:sp>
        <p:nvSpPr>
          <p:cNvPr id="14" name="Text 12"/>
          <p:cNvSpPr/>
          <p:nvPr/>
        </p:nvSpPr>
        <p:spPr>
          <a:xfrm>
            <a:off x="4251960" y="3429000"/>
            <a:ext cx="640080" cy="457200"/>
          </a:xfrm>
          <a:prstGeom prst="rect">
            <a:avLst/>
          </a:prstGeom>
          <a:noFill/>
          <a:ln/>
        </p:spPr>
        <p:txBody>
          <a:bodyPr wrap="square" rtlCol="0" anchor="ctr"/>
          <a:lstStyle/>
          <a:p>
            <a:pPr marL="0" indent="0" algn="ctr">
              <a:buNone/>
            </a:pPr>
            <a:r>
              <a:rPr lang="en-US" sz="900" b="1" dirty="0">
                <a:solidFill>
                  <a:srgbClr val="FFFFFF"/>
                </a:solidFill>
              </a:rPr>
              <a:t>Alimentation</a:t>
            </a:r>
            <a:endParaRPr lang="en-US" sz="900" dirty="0"/>
          </a:p>
        </p:txBody>
      </p:sp>
      <p:sp>
        <p:nvSpPr>
          <p:cNvPr id="15" name="Shape 13"/>
          <p:cNvSpPr/>
          <p:nvPr/>
        </p:nvSpPr>
        <p:spPr>
          <a:xfrm>
            <a:off x="3476066" y="3107614"/>
            <a:ext cx="640080" cy="457200"/>
          </a:xfrm>
          <a:prstGeom prst="ellipse">
            <a:avLst/>
          </a:prstGeom>
          <a:solidFill>
            <a:srgbClr val="1F4E78"/>
          </a:solidFill>
          <a:ln/>
        </p:spPr>
        <p:txBody>
          <a:bodyPr/>
          <a:lstStyle/>
          <a:p>
            <a:endParaRPr lang="fr-FR"/>
          </a:p>
        </p:txBody>
      </p:sp>
      <p:sp>
        <p:nvSpPr>
          <p:cNvPr id="16" name="Text 14"/>
          <p:cNvSpPr/>
          <p:nvPr/>
        </p:nvSpPr>
        <p:spPr>
          <a:xfrm>
            <a:off x="3476066" y="3107614"/>
            <a:ext cx="640080" cy="457200"/>
          </a:xfrm>
          <a:prstGeom prst="rect">
            <a:avLst/>
          </a:prstGeom>
          <a:noFill/>
          <a:ln/>
        </p:spPr>
        <p:txBody>
          <a:bodyPr wrap="square" rtlCol="0" anchor="ctr"/>
          <a:lstStyle/>
          <a:p>
            <a:pPr marL="0" indent="0" algn="ctr">
              <a:buNone/>
            </a:pPr>
            <a:r>
              <a:rPr lang="en-US" sz="900" b="1" dirty="0">
                <a:solidFill>
                  <a:srgbClr val="FFFFFF"/>
                </a:solidFill>
              </a:rPr>
              <a:t>Exploitation</a:t>
            </a:r>
            <a:endParaRPr lang="en-US" sz="900" dirty="0"/>
          </a:p>
        </p:txBody>
      </p:sp>
      <p:sp>
        <p:nvSpPr>
          <p:cNvPr id="17" name="Shape 15"/>
          <p:cNvSpPr/>
          <p:nvPr/>
        </p:nvSpPr>
        <p:spPr>
          <a:xfrm>
            <a:off x="3154680" y="2331720"/>
            <a:ext cx="640080" cy="457200"/>
          </a:xfrm>
          <a:prstGeom prst="ellipse">
            <a:avLst/>
          </a:prstGeom>
          <a:solidFill>
            <a:srgbClr val="F79646"/>
          </a:solidFill>
          <a:ln/>
        </p:spPr>
        <p:txBody>
          <a:bodyPr/>
          <a:lstStyle/>
          <a:p>
            <a:endParaRPr lang="fr-FR"/>
          </a:p>
        </p:txBody>
      </p:sp>
      <p:sp>
        <p:nvSpPr>
          <p:cNvPr id="18" name="Text 16"/>
          <p:cNvSpPr/>
          <p:nvPr/>
        </p:nvSpPr>
        <p:spPr>
          <a:xfrm>
            <a:off x="3154680" y="2331720"/>
            <a:ext cx="640080" cy="457200"/>
          </a:xfrm>
          <a:prstGeom prst="rect">
            <a:avLst/>
          </a:prstGeom>
          <a:noFill/>
          <a:ln/>
        </p:spPr>
        <p:txBody>
          <a:bodyPr wrap="square" rtlCol="0" anchor="ctr"/>
          <a:lstStyle/>
          <a:p>
            <a:pPr marL="0" indent="0" algn="ctr">
              <a:buNone/>
            </a:pPr>
            <a:r>
              <a:rPr lang="en-US" sz="900" b="1" dirty="0">
                <a:solidFill>
                  <a:srgbClr val="FFFFFF"/>
                </a:solidFill>
              </a:rPr>
              <a:t>Maintenance</a:t>
            </a:r>
            <a:endParaRPr lang="en-US" sz="900" dirty="0"/>
          </a:p>
        </p:txBody>
      </p:sp>
      <p:sp>
        <p:nvSpPr>
          <p:cNvPr id="19" name="Shape 17"/>
          <p:cNvSpPr/>
          <p:nvPr/>
        </p:nvSpPr>
        <p:spPr>
          <a:xfrm>
            <a:off x="3476066" y="1555826"/>
            <a:ext cx="640080" cy="457200"/>
          </a:xfrm>
          <a:prstGeom prst="ellipse">
            <a:avLst/>
          </a:prstGeom>
          <a:solidFill>
            <a:srgbClr val="1F4E78"/>
          </a:solidFill>
          <a:ln/>
        </p:spPr>
        <p:txBody>
          <a:bodyPr/>
          <a:lstStyle/>
          <a:p>
            <a:endParaRPr lang="fr-FR"/>
          </a:p>
        </p:txBody>
      </p:sp>
      <p:sp>
        <p:nvSpPr>
          <p:cNvPr id="20" name="Text 18"/>
          <p:cNvSpPr/>
          <p:nvPr/>
        </p:nvSpPr>
        <p:spPr>
          <a:xfrm>
            <a:off x="3476066" y="1555826"/>
            <a:ext cx="640080" cy="457200"/>
          </a:xfrm>
          <a:prstGeom prst="rect">
            <a:avLst/>
          </a:prstGeom>
          <a:noFill/>
          <a:ln/>
        </p:spPr>
        <p:txBody>
          <a:bodyPr wrap="square" rtlCol="0" anchor="ctr"/>
          <a:lstStyle/>
          <a:p>
            <a:pPr marL="0" indent="0" algn="ctr">
              <a:buNone/>
            </a:pPr>
            <a:r>
              <a:rPr lang="en-US" sz="900" b="1" dirty="0">
                <a:solidFill>
                  <a:srgbClr val="FFFFFF"/>
                </a:solidFill>
              </a:rPr>
              <a:t>Sauvegarde</a:t>
            </a:r>
            <a:endParaRPr lang="en-US" sz="900" dirty="0"/>
          </a:p>
        </p:txBody>
      </p:sp>
      <p:sp>
        <p:nvSpPr>
          <p:cNvPr id="21" name="Shape 19"/>
          <p:cNvSpPr/>
          <p:nvPr/>
        </p:nvSpPr>
        <p:spPr>
          <a:xfrm>
            <a:off x="4297680" y="2286000"/>
            <a:ext cx="548640" cy="548640"/>
          </a:xfrm>
          <a:prstGeom prst="ellipse">
            <a:avLst/>
          </a:prstGeom>
          <a:solidFill>
            <a:srgbClr val="2E75B6"/>
          </a:solidFill>
          <a:ln/>
        </p:spPr>
        <p:txBody>
          <a:bodyPr/>
          <a:lstStyle/>
          <a:p>
            <a:endParaRPr lang="fr-FR"/>
          </a:p>
        </p:txBody>
      </p:sp>
      <p:sp>
        <p:nvSpPr>
          <p:cNvPr id="22" name="Text 20"/>
          <p:cNvSpPr/>
          <p:nvPr/>
        </p:nvSpPr>
        <p:spPr>
          <a:xfrm>
            <a:off x="4297680" y="2286000"/>
            <a:ext cx="548640" cy="548640"/>
          </a:xfrm>
          <a:prstGeom prst="rect">
            <a:avLst/>
          </a:prstGeom>
          <a:noFill/>
          <a:ln/>
        </p:spPr>
        <p:txBody>
          <a:bodyPr wrap="square" rtlCol="0" anchor="ctr"/>
          <a:lstStyle/>
          <a:p>
            <a:pPr marL="0" indent="0" algn="ctr">
              <a:buNone/>
            </a:pPr>
            <a:r>
              <a:rPr lang="en-US" sz="1400" b="1" dirty="0">
                <a:solidFill>
                  <a:srgbClr val="FFFFFF"/>
                </a:solidFill>
              </a:rPr>
              <a:t>BD</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Gestion d'une base de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12/40</a:t>
            </a:r>
            <a:endParaRPr lang="en-US" sz="1000" dirty="0"/>
          </a:p>
        </p:txBody>
      </p:sp>
      <p:sp>
        <p:nvSpPr>
          <p:cNvPr id="5" name="Text 3"/>
          <p:cNvSpPr/>
          <p:nvPr/>
        </p:nvSpPr>
        <p:spPr>
          <a:xfrm>
            <a:off x="457200" y="822960"/>
            <a:ext cx="8229600" cy="274320"/>
          </a:xfrm>
          <a:prstGeom prst="rect">
            <a:avLst/>
          </a:prstGeom>
          <a:noFill/>
          <a:ln/>
        </p:spPr>
        <p:txBody>
          <a:bodyPr wrap="square" rtlCol="0" anchor="ctr"/>
          <a:lstStyle/>
          <a:p>
            <a:pPr marL="0" indent="0">
              <a:buNone/>
            </a:pPr>
            <a:r>
              <a:rPr lang="en-US" sz="1500" b="1" dirty="0">
                <a:solidFill>
                  <a:srgbClr val="1F4E78"/>
                </a:solidFill>
              </a:rPr>
              <a:t>Rôle de l'administrateur de base de données (DBA)</a:t>
            </a:r>
            <a:endParaRPr lang="en-US" sz="1500" dirty="0"/>
          </a:p>
        </p:txBody>
      </p:sp>
      <p:sp>
        <p:nvSpPr>
          <p:cNvPr id="6" name="Text 4"/>
          <p:cNvSpPr/>
          <p:nvPr/>
        </p:nvSpPr>
        <p:spPr>
          <a:xfrm>
            <a:off x="914400" y="1280160"/>
            <a:ext cx="7772400" cy="274320"/>
          </a:xfrm>
          <a:prstGeom prst="rect">
            <a:avLst/>
          </a:prstGeom>
          <a:noFill/>
          <a:ln/>
        </p:spPr>
        <p:txBody>
          <a:bodyPr wrap="square" rtlCol="0" anchor="ctr"/>
          <a:lstStyle/>
          <a:p>
            <a:pPr marL="0" indent="0">
              <a:buNone/>
            </a:pPr>
            <a:r>
              <a:rPr lang="en-US" sz="1200" dirty="0">
                <a:solidFill>
                  <a:srgbClr val="1F1F1F"/>
                </a:solidFill>
              </a:rPr>
              <a:t>• Création et maintenance des tables et index</a:t>
            </a:r>
            <a:endParaRPr lang="en-US" sz="1200" dirty="0"/>
          </a:p>
        </p:txBody>
      </p:sp>
      <p:sp>
        <p:nvSpPr>
          <p:cNvPr id="7" name="Text 5"/>
          <p:cNvSpPr/>
          <p:nvPr/>
        </p:nvSpPr>
        <p:spPr>
          <a:xfrm>
            <a:off x="914400" y="1645920"/>
            <a:ext cx="7772400" cy="274320"/>
          </a:xfrm>
          <a:prstGeom prst="rect">
            <a:avLst/>
          </a:prstGeom>
          <a:noFill/>
          <a:ln/>
        </p:spPr>
        <p:txBody>
          <a:bodyPr wrap="square" rtlCol="0" anchor="ctr"/>
          <a:lstStyle/>
          <a:p>
            <a:pPr marL="0" indent="0">
              <a:buNone/>
            </a:pPr>
            <a:r>
              <a:rPr lang="en-US" sz="1200" dirty="0">
                <a:solidFill>
                  <a:srgbClr val="1F1F1F"/>
                </a:solidFill>
              </a:rPr>
              <a:t>• Gestion des utilisateurs et des permissions</a:t>
            </a:r>
            <a:endParaRPr lang="en-US" sz="1200" dirty="0"/>
          </a:p>
        </p:txBody>
      </p:sp>
      <p:sp>
        <p:nvSpPr>
          <p:cNvPr id="8" name="Text 6"/>
          <p:cNvSpPr/>
          <p:nvPr/>
        </p:nvSpPr>
        <p:spPr>
          <a:xfrm>
            <a:off x="914400" y="2011680"/>
            <a:ext cx="7772400" cy="274320"/>
          </a:xfrm>
          <a:prstGeom prst="rect">
            <a:avLst/>
          </a:prstGeom>
          <a:noFill/>
          <a:ln/>
        </p:spPr>
        <p:txBody>
          <a:bodyPr wrap="square" rtlCol="0" anchor="ctr"/>
          <a:lstStyle/>
          <a:p>
            <a:pPr marL="0" indent="0">
              <a:buNone/>
            </a:pPr>
            <a:r>
              <a:rPr lang="en-US" sz="1200" dirty="0">
                <a:solidFill>
                  <a:srgbClr val="1F1F1F"/>
                </a:solidFill>
              </a:rPr>
              <a:t>• Sauvegarde régulière et restauration</a:t>
            </a:r>
            <a:endParaRPr lang="en-US" sz="1200" dirty="0"/>
          </a:p>
        </p:txBody>
      </p:sp>
      <p:sp>
        <p:nvSpPr>
          <p:cNvPr id="9" name="Text 7"/>
          <p:cNvSpPr/>
          <p:nvPr/>
        </p:nvSpPr>
        <p:spPr>
          <a:xfrm>
            <a:off x="914400" y="2377440"/>
            <a:ext cx="7772400" cy="274320"/>
          </a:xfrm>
          <a:prstGeom prst="rect">
            <a:avLst/>
          </a:prstGeom>
          <a:noFill/>
          <a:ln/>
        </p:spPr>
        <p:txBody>
          <a:bodyPr wrap="square" rtlCol="0" anchor="ctr"/>
          <a:lstStyle/>
          <a:p>
            <a:pPr marL="0" indent="0">
              <a:buNone/>
            </a:pPr>
            <a:r>
              <a:rPr lang="en-US" sz="1200" dirty="0">
                <a:solidFill>
                  <a:srgbClr val="1F1F1F"/>
                </a:solidFill>
              </a:rPr>
              <a:t>• Optimisation des performances</a:t>
            </a:r>
            <a:endParaRPr lang="en-US" sz="1200" dirty="0"/>
          </a:p>
        </p:txBody>
      </p:sp>
      <p:sp>
        <p:nvSpPr>
          <p:cNvPr id="10" name="Text 8"/>
          <p:cNvSpPr/>
          <p:nvPr/>
        </p:nvSpPr>
        <p:spPr>
          <a:xfrm>
            <a:off x="914400" y="2743200"/>
            <a:ext cx="7772400" cy="274320"/>
          </a:xfrm>
          <a:prstGeom prst="rect">
            <a:avLst/>
          </a:prstGeom>
          <a:noFill/>
          <a:ln/>
        </p:spPr>
        <p:txBody>
          <a:bodyPr wrap="square" rtlCol="0" anchor="ctr"/>
          <a:lstStyle/>
          <a:p>
            <a:pPr marL="0" indent="0">
              <a:buNone/>
            </a:pPr>
            <a:r>
              <a:rPr lang="en-US" sz="1200" dirty="0">
                <a:solidFill>
                  <a:srgbClr val="1F1F1F"/>
                </a:solidFill>
              </a:rPr>
              <a:t>• Assurer la disponibilité (24h/24)</a:t>
            </a:r>
            <a:endParaRPr lang="en-US" sz="1200" dirty="0"/>
          </a:p>
        </p:txBody>
      </p:sp>
      <p:sp>
        <p:nvSpPr>
          <p:cNvPr id="11" name="Text 9"/>
          <p:cNvSpPr/>
          <p:nvPr/>
        </p:nvSpPr>
        <p:spPr>
          <a:xfrm>
            <a:off x="914400" y="3108960"/>
            <a:ext cx="7772400" cy="274320"/>
          </a:xfrm>
          <a:prstGeom prst="rect">
            <a:avLst/>
          </a:prstGeom>
          <a:noFill/>
          <a:ln/>
        </p:spPr>
        <p:txBody>
          <a:bodyPr wrap="square" rtlCol="0" anchor="ctr"/>
          <a:lstStyle/>
          <a:p>
            <a:pPr marL="0" indent="0">
              <a:buNone/>
            </a:pPr>
            <a:r>
              <a:rPr lang="en-US" sz="1200" dirty="0">
                <a:solidFill>
                  <a:srgbClr val="1F1F1F"/>
                </a:solidFill>
              </a:rPr>
              <a:t>• Mise à jour et mises à jour du SGBD</a:t>
            </a:r>
            <a:endParaRPr lang="en-US" sz="1200" dirty="0"/>
          </a:p>
        </p:txBody>
      </p:sp>
      <p:sp>
        <p:nvSpPr>
          <p:cNvPr id="12" name="Text 10"/>
          <p:cNvSpPr/>
          <p:nvPr/>
        </p:nvSpPr>
        <p:spPr>
          <a:xfrm>
            <a:off x="914400" y="3474720"/>
            <a:ext cx="7772400" cy="274320"/>
          </a:xfrm>
          <a:prstGeom prst="rect">
            <a:avLst/>
          </a:prstGeom>
          <a:noFill/>
          <a:ln/>
        </p:spPr>
        <p:txBody>
          <a:bodyPr wrap="square" rtlCol="0" anchor="ctr"/>
          <a:lstStyle/>
          <a:p>
            <a:pPr marL="0" indent="0">
              <a:buNone/>
            </a:pPr>
            <a:r>
              <a:rPr lang="en-US" sz="1200" dirty="0">
                <a:solidFill>
                  <a:srgbClr val="1F1F1F"/>
                </a:solidFill>
              </a:rPr>
              <a:t>• Monitoring et alertes</a:t>
            </a:r>
            <a:endParaRPr lang="en-US" sz="1200" dirty="0"/>
          </a:p>
        </p:txBody>
      </p:sp>
      <p:sp>
        <p:nvSpPr>
          <p:cNvPr id="13" name="Text 11"/>
          <p:cNvSpPr/>
          <p:nvPr/>
        </p:nvSpPr>
        <p:spPr>
          <a:xfrm>
            <a:off x="914400" y="3840480"/>
            <a:ext cx="7772400" cy="274320"/>
          </a:xfrm>
          <a:prstGeom prst="rect">
            <a:avLst/>
          </a:prstGeom>
          <a:noFill/>
          <a:ln/>
        </p:spPr>
        <p:txBody>
          <a:bodyPr wrap="square" rtlCol="0" anchor="ctr"/>
          <a:lstStyle/>
          <a:p>
            <a:pPr marL="0" indent="0">
              <a:buNone/>
            </a:pPr>
            <a:r>
              <a:rPr lang="en-US" sz="1200" dirty="0">
                <a:solidFill>
                  <a:srgbClr val="1F1F1F"/>
                </a:solidFill>
              </a:rPr>
              <a:t>• Documentation et procédures</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Pourquoi sécuriser les données ?</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13/40</a:t>
            </a:r>
            <a:endParaRPr lang="en-US" sz="1000" dirty="0"/>
          </a:p>
        </p:txBody>
      </p:sp>
      <p:sp>
        <p:nvSpPr>
          <p:cNvPr id="5" name="Text 3"/>
          <p:cNvSpPr/>
          <p:nvPr/>
        </p:nvSpPr>
        <p:spPr>
          <a:xfrm>
            <a:off x="457200" y="822960"/>
            <a:ext cx="8229600" cy="274320"/>
          </a:xfrm>
          <a:prstGeom prst="rect">
            <a:avLst/>
          </a:prstGeom>
          <a:noFill/>
          <a:ln/>
        </p:spPr>
        <p:txBody>
          <a:bodyPr wrap="square" rtlCol="0" anchor="ctr"/>
          <a:lstStyle/>
          <a:p>
            <a:pPr marL="0" indent="0">
              <a:buNone/>
            </a:pPr>
            <a:r>
              <a:rPr lang="en-US" sz="1500" b="1" dirty="0">
                <a:solidFill>
                  <a:srgbClr val="1F4E78"/>
                </a:solidFill>
              </a:rPr>
              <a:t>Scenario : Gestion académique</a:t>
            </a:r>
            <a:endParaRPr lang="en-US" sz="1500" dirty="0"/>
          </a:p>
        </p:txBody>
      </p:sp>
      <p:sp>
        <p:nvSpPr>
          <p:cNvPr id="6" name="Shape 4"/>
          <p:cNvSpPr/>
          <p:nvPr/>
        </p:nvSpPr>
        <p:spPr>
          <a:xfrm>
            <a:off x="457200" y="1280160"/>
            <a:ext cx="8229600" cy="731520"/>
          </a:xfrm>
          <a:prstGeom prst="rect">
            <a:avLst/>
          </a:prstGeom>
          <a:solidFill>
            <a:srgbClr val="E7E6E6"/>
          </a:solidFill>
          <a:ln w="25400">
            <a:solidFill>
              <a:srgbClr val="F79646"/>
            </a:solidFill>
            <a:prstDash val="solid"/>
          </a:ln>
        </p:spPr>
        <p:txBody>
          <a:bodyPr/>
          <a:lstStyle/>
          <a:p>
            <a:endParaRPr lang="fr-FR"/>
          </a:p>
        </p:txBody>
      </p:sp>
      <p:sp>
        <p:nvSpPr>
          <p:cNvPr id="7" name="Text 5"/>
          <p:cNvSpPr/>
          <p:nvPr/>
        </p:nvSpPr>
        <p:spPr>
          <a:xfrm>
            <a:off x="640080" y="1371600"/>
            <a:ext cx="7863840" cy="548640"/>
          </a:xfrm>
          <a:prstGeom prst="rect">
            <a:avLst/>
          </a:prstGeom>
          <a:noFill/>
          <a:ln/>
        </p:spPr>
        <p:txBody>
          <a:bodyPr wrap="square" rtlCol="0" anchor="t"/>
          <a:lstStyle/>
          <a:p>
            <a:pPr marL="0" indent="0" algn="l">
              <a:buNone/>
            </a:pPr>
            <a:r>
              <a:rPr lang="en-US" sz="1300" b="1" dirty="0">
                <a:solidFill>
                  <a:srgbClr val="1F1F1F"/>
                </a:solidFill>
              </a:rPr>
              <a:t>Question : Tous les employés d'une université doivent-ils pouvoir modifier les notes des étudiants ?</a:t>
            </a:r>
            <a:endParaRPr lang="en-US" sz="1300" dirty="0"/>
          </a:p>
        </p:txBody>
      </p:sp>
      <p:sp>
        <p:nvSpPr>
          <p:cNvPr id="8" name="Text 6"/>
          <p:cNvSpPr/>
          <p:nvPr/>
        </p:nvSpPr>
        <p:spPr>
          <a:xfrm>
            <a:off x="640080" y="2194560"/>
            <a:ext cx="7863840" cy="365760"/>
          </a:xfrm>
          <a:prstGeom prst="rect">
            <a:avLst/>
          </a:prstGeom>
          <a:noFill/>
          <a:ln/>
        </p:spPr>
        <p:txBody>
          <a:bodyPr wrap="square" rtlCol="0" anchor="ctr"/>
          <a:lstStyle/>
          <a:p>
            <a:pPr marL="0" indent="0" algn="l">
              <a:buNone/>
            </a:pPr>
            <a:r>
              <a:rPr lang="en-US" sz="1300" dirty="0">
                <a:solidFill>
                  <a:srgbClr val="1F1F1F"/>
                </a:solidFill>
              </a:rPr>
              <a:t>Réponse : Non ! Seuls les enseignants de chaque cours peuvent modifier leurs notes.</a:t>
            </a:r>
            <a:endParaRPr lang="en-US" sz="1300" dirty="0"/>
          </a:p>
        </p:txBody>
      </p:sp>
      <p:sp>
        <p:nvSpPr>
          <p:cNvPr id="9" name="Shape 7"/>
          <p:cNvSpPr/>
          <p:nvPr/>
        </p:nvSpPr>
        <p:spPr>
          <a:xfrm>
            <a:off x="914400" y="2926080"/>
            <a:ext cx="2377440" cy="914400"/>
          </a:xfrm>
          <a:prstGeom prst="rect">
            <a:avLst/>
          </a:prstGeom>
          <a:solidFill>
            <a:srgbClr val="F79646"/>
          </a:solidFill>
          <a:ln/>
        </p:spPr>
        <p:txBody>
          <a:bodyPr/>
          <a:lstStyle/>
          <a:p>
            <a:endParaRPr lang="fr-FR"/>
          </a:p>
        </p:txBody>
      </p:sp>
      <p:sp>
        <p:nvSpPr>
          <p:cNvPr id="10" name="Text 8"/>
          <p:cNvSpPr/>
          <p:nvPr/>
        </p:nvSpPr>
        <p:spPr>
          <a:xfrm>
            <a:off x="914400" y="2926080"/>
            <a:ext cx="2377440" cy="320040"/>
          </a:xfrm>
          <a:prstGeom prst="rect">
            <a:avLst/>
          </a:prstGeom>
          <a:noFill/>
          <a:ln/>
        </p:spPr>
        <p:txBody>
          <a:bodyPr wrap="square" rtlCol="0" anchor="ctr"/>
          <a:lstStyle/>
          <a:p>
            <a:pPr marL="0" indent="0" algn="ctr">
              <a:buNone/>
            </a:pPr>
            <a:r>
              <a:rPr lang="en-US" sz="1100" b="1" dirty="0">
                <a:solidFill>
                  <a:srgbClr val="FFFFFF"/>
                </a:solidFill>
              </a:rPr>
              <a:t>Confidentialité</a:t>
            </a:r>
            <a:endParaRPr lang="en-US" sz="1100" dirty="0"/>
          </a:p>
        </p:txBody>
      </p:sp>
      <p:sp>
        <p:nvSpPr>
          <p:cNvPr id="11" name="Text 9"/>
          <p:cNvSpPr/>
          <p:nvPr/>
        </p:nvSpPr>
        <p:spPr>
          <a:xfrm>
            <a:off x="1005840" y="3291840"/>
            <a:ext cx="2194560" cy="502920"/>
          </a:xfrm>
          <a:prstGeom prst="rect">
            <a:avLst/>
          </a:prstGeom>
          <a:noFill/>
          <a:ln/>
        </p:spPr>
        <p:txBody>
          <a:bodyPr wrap="square" rtlCol="0" anchor="t"/>
          <a:lstStyle/>
          <a:p>
            <a:pPr marL="0" indent="0" algn="ctr">
              <a:buNone/>
            </a:pPr>
            <a:r>
              <a:rPr lang="en-US" sz="1000" dirty="0">
                <a:solidFill>
                  <a:srgbClr val="FFFFFF"/>
                </a:solidFill>
              </a:rPr>
              <a:t>Seuls les autorisés accèdent</a:t>
            </a:r>
            <a:endParaRPr lang="en-US" sz="1000" dirty="0"/>
          </a:p>
        </p:txBody>
      </p:sp>
      <p:sp>
        <p:nvSpPr>
          <p:cNvPr id="12" name="Shape 10"/>
          <p:cNvSpPr/>
          <p:nvPr/>
        </p:nvSpPr>
        <p:spPr>
          <a:xfrm>
            <a:off x="914400" y="3931920"/>
            <a:ext cx="2377440" cy="914400"/>
          </a:xfrm>
          <a:prstGeom prst="rect">
            <a:avLst/>
          </a:prstGeom>
          <a:solidFill>
            <a:srgbClr val="1F4E78"/>
          </a:solidFill>
          <a:ln/>
        </p:spPr>
        <p:txBody>
          <a:bodyPr/>
          <a:lstStyle/>
          <a:p>
            <a:endParaRPr lang="fr-FR"/>
          </a:p>
        </p:txBody>
      </p:sp>
      <p:sp>
        <p:nvSpPr>
          <p:cNvPr id="13" name="Text 11"/>
          <p:cNvSpPr/>
          <p:nvPr/>
        </p:nvSpPr>
        <p:spPr>
          <a:xfrm>
            <a:off x="914400" y="3931920"/>
            <a:ext cx="2377440" cy="320040"/>
          </a:xfrm>
          <a:prstGeom prst="rect">
            <a:avLst/>
          </a:prstGeom>
          <a:noFill/>
          <a:ln/>
        </p:spPr>
        <p:txBody>
          <a:bodyPr wrap="square" rtlCol="0" anchor="ctr"/>
          <a:lstStyle/>
          <a:p>
            <a:pPr marL="0" indent="0" algn="ctr">
              <a:buNone/>
            </a:pPr>
            <a:r>
              <a:rPr lang="en-US" sz="1100" b="1" dirty="0">
                <a:solidFill>
                  <a:srgbClr val="FFFFFF"/>
                </a:solidFill>
              </a:rPr>
              <a:t>Intégrité</a:t>
            </a:r>
            <a:endParaRPr lang="en-US" sz="1100" dirty="0"/>
          </a:p>
        </p:txBody>
      </p:sp>
      <p:sp>
        <p:nvSpPr>
          <p:cNvPr id="14" name="Text 12"/>
          <p:cNvSpPr/>
          <p:nvPr/>
        </p:nvSpPr>
        <p:spPr>
          <a:xfrm>
            <a:off x="1005840" y="4297680"/>
            <a:ext cx="2194560" cy="502920"/>
          </a:xfrm>
          <a:prstGeom prst="rect">
            <a:avLst/>
          </a:prstGeom>
          <a:noFill/>
          <a:ln/>
        </p:spPr>
        <p:txBody>
          <a:bodyPr wrap="square" rtlCol="0" anchor="t"/>
          <a:lstStyle/>
          <a:p>
            <a:pPr marL="0" indent="0" algn="ctr">
              <a:buNone/>
            </a:pPr>
            <a:r>
              <a:rPr lang="en-US" sz="1000" dirty="0">
                <a:solidFill>
                  <a:srgbClr val="FFFFFF"/>
                </a:solidFill>
              </a:rPr>
              <a:t>Les données ne sont pas corrompues</a:t>
            </a:r>
            <a:endParaRPr lang="en-US" sz="1000" dirty="0"/>
          </a:p>
        </p:txBody>
      </p:sp>
      <p:sp>
        <p:nvSpPr>
          <p:cNvPr id="15" name="Shape 13"/>
          <p:cNvSpPr/>
          <p:nvPr/>
        </p:nvSpPr>
        <p:spPr>
          <a:xfrm>
            <a:off x="914400" y="4937760"/>
            <a:ext cx="2377440" cy="914400"/>
          </a:xfrm>
          <a:prstGeom prst="rect">
            <a:avLst/>
          </a:prstGeom>
          <a:solidFill>
            <a:srgbClr val="F79646"/>
          </a:solidFill>
          <a:ln/>
        </p:spPr>
        <p:txBody>
          <a:bodyPr/>
          <a:lstStyle/>
          <a:p>
            <a:endParaRPr lang="fr-FR"/>
          </a:p>
        </p:txBody>
      </p:sp>
      <p:sp>
        <p:nvSpPr>
          <p:cNvPr id="16" name="Text 14"/>
          <p:cNvSpPr/>
          <p:nvPr/>
        </p:nvSpPr>
        <p:spPr>
          <a:xfrm>
            <a:off x="914400" y="4937760"/>
            <a:ext cx="2377440" cy="320040"/>
          </a:xfrm>
          <a:prstGeom prst="rect">
            <a:avLst/>
          </a:prstGeom>
          <a:noFill/>
          <a:ln/>
        </p:spPr>
        <p:txBody>
          <a:bodyPr wrap="square" rtlCol="0" anchor="ctr"/>
          <a:lstStyle/>
          <a:p>
            <a:pPr marL="0" indent="0" algn="ctr">
              <a:buNone/>
            </a:pPr>
            <a:r>
              <a:rPr lang="en-US" sz="1100" b="1" dirty="0">
                <a:solidFill>
                  <a:srgbClr val="FFFFFF"/>
                </a:solidFill>
              </a:rPr>
              <a:t>Disponibilité</a:t>
            </a:r>
            <a:endParaRPr lang="en-US" sz="1100" dirty="0"/>
          </a:p>
        </p:txBody>
      </p:sp>
      <p:sp>
        <p:nvSpPr>
          <p:cNvPr id="17" name="Text 15"/>
          <p:cNvSpPr/>
          <p:nvPr/>
        </p:nvSpPr>
        <p:spPr>
          <a:xfrm>
            <a:off x="1005840" y="5303520"/>
            <a:ext cx="2194560" cy="502920"/>
          </a:xfrm>
          <a:prstGeom prst="rect">
            <a:avLst/>
          </a:prstGeom>
          <a:noFill/>
          <a:ln/>
        </p:spPr>
        <p:txBody>
          <a:bodyPr wrap="square" rtlCol="0" anchor="t"/>
          <a:lstStyle/>
          <a:p>
            <a:pPr marL="0" indent="0" algn="ctr">
              <a:buNone/>
            </a:pPr>
            <a:r>
              <a:rPr lang="en-US" sz="1000" dirty="0">
                <a:solidFill>
                  <a:srgbClr val="FFFFFF"/>
                </a:solidFill>
              </a:rPr>
              <a:t>La base est accessible quand nécessaire</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Authentification vs Autorisation</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14/40</a:t>
            </a:r>
            <a:endParaRPr lang="en-US" sz="1000" dirty="0"/>
          </a:p>
        </p:txBody>
      </p:sp>
      <p:sp>
        <p:nvSpPr>
          <p:cNvPr id="5" name="Shape 3"/>
          <p:cNvSpPr/>
          <p:nvPr/>
        </p:nvSpPr>
        <p:spPr>
          <a:xfrm>
            <a:off x="457200" y="914400"/>
            <a:ext cx="3657600" cy="1371600"/>
          </a:xfrm>
          <a:prstGeom prst="rect">
            <a:avLst/>
          </a:prstGeom>
          <a:solidFill>
            <a:srgbClr val="E7E6E6"/>
          </a:solidFill>
          <a:ln w="25400">
            <a:solidFill>
              <a:srgbClr val="F79646"/>
            </a:solidFill>
            <a:prstDash val="solid"/>
          </a:ln>
        </p:spPr>
        <p:txBody>
          <a:bodyPr/>
          <a:lstStyle/>
          <a:p>
            <a:endParaRPr lang="fr-FR"/>
          </a:p>
        </p:txBody>
      </p:sp>
      <p:sp>
        <p:nvSpPr>
          <p:cNvPr id="6" name="Text 4"/>
          <p:cNvSpPr/>
          <p:nvPr/>
        </p:nvSpPr>
        <p:spPr>
          <a:xfrm>
            <a:off x="457200" y="914400"/>
            <a:ext cx="3657600" cy="320040"/>
          </a:xfrm>
          <a:prstGeom prst="rect">
            <a:avLst/>
          </a:prstGeom>
          <a:noFill/>
          <a:ln/>
        </p:spPr>
        <p:txBody>
          <a:bodyPr wrap="square" rtlCol="0" anchor="ctr"/>
          <a:lstStyle/>
          <a:p>
            <a:pPr marL="0" indent="0" algn="ctr">
              <a:buNone/>
            </a:pPr>
            <a:r>
              <a:rPr lang="en-US" sz="1300" b="1" dirty="0">
                <a:solidFill>
                  <a:srgbClr val="1F4E78"/>
                </a:solidFill>
              </a:rPr>
              <a:t>Authentification</a:t>
            </a:r>
            <a:endParaRPr lang="en-US" sz="1300" dirty="0"/>
          </a:p>
        </p:txBody>
      </p:sp>
      <p:sp>
        <p:nvSpPr>
          <p:cNvPr id="7" name="Text 5"/>
          <p:cNvSpPr/>
          <p:nvPr/>
        </p:nvSpPr>
        <p:spPr>
          <a:xfrm>
            <a:off x="640080" y="1371600"/>
            <a:ext cx="3291840" cy="274320"/>
          </a:xfrm>
          <a:prstGeom prst="rect">
            <a:avLst/>
          </a:prstGeom>
          <a:noFill/>
          <a:ln/>
        </p:spPr>
        <p:txBody>
          <a:bodyPr wrap="square" rtlCol="0" anchor="ctr"/>
          <a:lstStyle/>
          <a:p>
            <a:pPr marL="0" indent="0" algn="l">
              <a:buNone/>
            </a:pPr>
            <a:r>
              <a:rPr lang="en-US" sz="1200" b="1" dirty="0">
                <a:solidFill>
                  <a:srgbClr val="1F1F1F"/>
                </a:solidFill>
              </a:rPr>
              <a:t>Qui êtes-vous ?</a:t>
            </a:r>
            <a:endParaRPr lang="en-US" sz="1200" dirty="0"/>
          </a:p>
        </p:txBody>
      </p:sp>
      <p:sp>
        <p:nvSpPr>
          <p:cNvPr id="8" name="Text 6"/>
          <p:cNvSpPr/>
          <p:nvPr/>
        </p:nvSpPr>
        <p:spPr>
          <a:xfrm>
            <a:off x="640080" y="1737360"/>
            <a:ext cx="3291840" cy="457200"/>
          </a:xfrm>
          <a:prstGeom prst="rect">
            <a:avLst/>
          </a:prstGeom>
          <a:noFill/>
          <a:ln/>
        </p:spPr>
        <p:txBody>
          <a:bodyPr wrap="square" rtlCol="0" anchor="ctr"/>
          <a:lstStyle/>
          <a:p>
            <a:pPr marL="0" indent="0" algn="l">
              <a:buNone/>
            </a:pPr>
            <a:r>
              <a:rPr lang="en-US" sz="1100" dirty="0">
                <a:solidFill>
                  <a:srgbClr val="1F1F1F"/>
                </a:solidFill>
              </a:rPr>
              <a:t>Vérifier l'identité de l'utilisateur (login + mot de passe ou clé)</a:t>
            </a:r>
            <a:endParaRPr lang="en-US" sz="1100" dirty="0"/>
          </a:p>
        </p:txBody>
      </p:sp>
      <p:sp>
        <p:nvSpPr>
          <p:cNvPr id="9" name="Shape 7"/>
          <p:cNvSpPr/>
          <p:nvPr/>
        </p:nvSpPr>
        <p:spPr>
          <a:xfrm>
            <a:off x="5029200" y="914400"/>
            <a:ext cx="3657600" cy="1371600"/>
          </a:xfrm>
          <a:prstGeom prst="rect">
            <a:avLst/>
          </a:prstGeom>
          <a:solidFill>
            <a:srgbClr val="E7E6E6"/>
          </a:solidFill>
          <a:ln w="25400">
            <a:solidFill>
              <a:srgbClr val="1F4E78"/>
            </a:solidFill>
            <a:prstDash val="solid"/>
          </a:ln>
        </p:spPr>
        <p:txBody>
          <a:bodyPr/>
          <a:lstStyle/>
          <a:p>
            <a:endParaRPr lang="fr-FR"/>
          </a:p>
        </p:txBody>
      </p:sp>
      <p:sp>
        <p:nvSpPr>
          <p:cNvPr id="10" name="Text 8"/>
          <p:cNvSpPr/>
          <p:nvPr/>
        </p:nvSpPr>
        <p:spPr>
          <a:xfrm>
            <a:off x="5029200" y="914400"/>
            <a:ext cx="3657600" cy="320040"/>
          </a:xfrm>
          <a:prstGeom prst="rect">
            <a:avLst/>
          </a:prstGeom>
          <a:noFill/>
          <a:ln/>
        </p:spPr>
        <p:txBody>
          <a:bodyPr wrap="square" rtlCol="0" anchor="ctr"/>
          <a:lstStyle/>
          <a:p>
            <a:pPr marL="0" indent="0" algn="ctr">
              <a:buNone/>
            </a:pPr>
            <a:r>
              <a:rPr lang="en-US" sz="1300" b="1" dirty="0">
                <a:solidFill>
                  <a:srgbClr val="1F4E78"/>
                </a:solidFill>
              </a:rPr>
              <a:t>Autorisation</a:t>
            </a:r>
            <a:endParaRPr lang="en-US" sz="1300" dirty="0"/>
          </a:p>
        </p:txBody>
      </p:sp>
      <p:sp>
        <p:nvSpPr>
          <p:cNvPr id="11" name="Text 9"/>
          <p:cNvSpPr/>
          <p:nvPr/>
        </p:nvSpPr>
        <p:spPr>
          <a:xfrm>
            <a:off x="5212080" y="1371600"/>
            <a:ext cx="3291840" cy="274320"/>
          </a:xfrm>
          <a:prstGeom prst="rect">
            <a:avLst/>
          </a:prstGeom>
          <a:noFill/>
          <a:ln/>
        </p:spPr>
        <p:txBody>
          <a:bodyPr wrap="square" rtlCol="0" anchor="ctr"/>
          <a:lstStyle/>
          <a:p>
            <a:pPr marL="0" indent="0" algn="l">
              <a:buNone/>
            </a:pPr>
            <a:r>
              <a:rPr lang="en-US" sz="1200" b="1" dirty="0">
                <a:solidFill>
                  <a:srgbClr val="1F1F1F"/>
                </a:solidFill>
              </a:rPr>
              <a:t>Que pouvez-vous faire ?</a:t>
            </a:r>
            <a:endParaRPr lang="en-US" sz="1200" dirty="0"/>
          </a:p>
        </p:txBody>
      </p:sp>
      <p:sp>
        <p:nvSpPr>
          <p:cNvPr id="12" name="Text 10"/>
          <p:cNvSpPr/>
          <p:nvPr/>
        </p:nvSpPr>
        <p:spPr>
          <a:xfrm>
            <a:off x="5212080" y="1737360"/>
            <a:ext cx="3291840" cy="457200"/>
          </a:xfrm>
          <a:prstGeom prst="rect">
            <a:avLst/>
          </a:prstGeom>
          <a:noFill/>
          <a:ln/>
        </p:spPr>
        <p:txBody>
          <a:bodyPr wrap="square" rtlCol="0" anchor="ctr"/>
          <a:lstStyle/>
          <a:p>
            <a:pPr marL="0" indent="0" algn="l">
              <a:buNone/>
            </a:pPr>
            <a:r>
              <a:rPr lang="en-US" sz="1100" dirty="0">
                <a:solidFill>
                  <a:srgbClr val="1F1F1F"/>
                </a:solidFill>
              </a:rPr>
              <a:t>Attribuer des permissions (SELECT, INSERT, UPDATE, DELETE) selon le rôle</a:t>
            </a:r>
            <a:endParaRPr lang="en-US" sz="1100" dirty="0"/>
          </a:p>
        </p:txBody>
      </p:sp>
      <p:sp>
        <p:nvSpPr>
          <p:cNvPr id="13" name="Shape 11"/>
          <p:cNvSpPr/>
          <p:nvPr/>
        </p:nvSpPr>
        <p:spPr>
          <a:xfrm>
            <a:off x="914400" y="2743200"/>
            <a:ext cx="7315200" cy="1828800"/>
          </a:xfrm>
          <a:prstGeom prst="rect">
            <a:avLst/>
          </a:prstGeom>
          <a:solidFill>
            <a:srgbClr val="FFFACD"/>
          </a:solidFill>
          <a:ln w="12700">
            <a:solidFill>
              <a:srgbClr val="F79646"/>
            </a:solidFill>
            <a:prstDash val="solid"/>
          </a:ln>
        </p:spPr>
        <p:txBody>
          <a:bodyPr/>
          <a:lstStyle/>
          <a:p>
            <a:endParaRPr lang="fr-FR"/>
          </a:p>
        </p:txBody>
      </p:sp>
      <p:sp>
        <p:nvSpPr>
          <p:cNvPr id="14" name="Text 12"/>
          <p:cNvSpPr/>
          <p:nvPr/>
        </p:nvSpPr>
        <p:spPr>
          <a:xfrm>
            <a:off x="1097280" y="2834640"/>
            <a:ext cx="6949440" cy="228600"/>
          </a:xfrm>
          <a:prstGeom prst="rect">
            <a:avLst/>
          </a:prstGeom>
          <a:noFill/>
          <a:ln/>
        </p:spPr>
        <p:txBody>
          <a:bodyPr wrap="square" rtlCol="0" anchor="ctr"/>
          <a:lstStyle/>
          <a:p>
            <a:pPr marL="0" indent="0">
              <a:buNone/>
            </a:pPr>
            <a:r>
              <a:rPr lang="en-US" sz="1100" b="1" dirty="0">
                <a:solidFill>
                  <a:srgbClr val="1F4E78"/>
                </a:solidFill>
              </a:rPr>
              <a:t>Exemple : Enseignant</a:t>
            </a:r>
            <a:endParaRPr lang="en-US" sz="1100" dirty="0"/>
          </a:p>
        </p:txBody>
      </p:sp>
      <p:sp>
        <p:nvSpPr>
          <p:cNvPr id="15" name="Text 13"/>
          <p:cNvSpPr/>
          <p:nvPr/>
        </p:nvSpPr>
        <p:spPr>
          <a:xfrm>
            <a:off x="1097280" y="3154680"/>
            <a:ext cx="6949440" cy="365760"/>
          </a:xfrm>
          <a:prstGeom prst="rect">
            <a:avLst/>
          </a:prstGeom>
          <a:noFill/>
          <a:ln/>
        </p:spPr>
        <p:txBody>
          <a:bodyPr wrap="square" rtlCol="0" anchor="ctr"/>
          <a:lstStyle/>
          <a:p>
            <a:pPr marL="0" indent="0">
              <a:buNone/>
            </a:pPr>
            <a:r>
              <a:rPr lang="en-US" sz="1000" dirty="0">
                <a:solidFill>
                  <a:srgbClr val="1F1F1F"/>
                </a:solidFill>
              </a:rPr>
              <a:t>1. Authentification : L'université vérife qu'il est bien enseignant (mot de passe)</a:t>
            </a:r>
            <a:endParaRPr lang="en-US" sz="1000" dirty="0"/>
          </a:p>
        </p:txBody>
      </p:sp>
      <p:sp>
        <p:nvSpPr>
          <p:cNvPr id="16" name="Text 14"/>
          <p:cNvSpPr/>
          <p:nvPr/>
        </p:nvSpPr>
        <p:spPr>
          <a:xfrm>
            <a:off x="1097280" y="3611880"/>
            <a:ext cx="6949440" cy="365760"/>
          </a:xfrm>
          <a:prstGeom prst="rect">
            <a:avLst/>
          </a:prstGeom>
          <a:noFill/>
          <a:ln/>
        </p:spPr>
        <p:txBody>
          <a:bodyPr wrap="square" rtlCol="0" anchor="ctr"/>
          <a:lstStyle/>
          <a:p>
            <a:pPr marL="0" indent="0">
              <a:buNone/>
            </a:pPr>
            <a:r>
              <a:rPr lang="en-US" sz="1000" dirty="0">
                <a:solidFill>
                  <a:srgbClr val="1F1F1F"/>
                </a:solidFill>
              </a:rPr>
              <a:t>2. Autorisation : L'enseignant peut SELECT/UPDATE uniquement les notes de ses cours</a:t>
            </a:r>
            <a:endParaRPr lang="en-US" sz="1000" dirty="0"/>
          </a:p>
        </p:txBody>
      </p:sp>
      <p:sp>
        <p:nvSpPr>
          <p:cNvPr id="17" name="Text 15"/>
          <p:cNvSpPr/>
          <p:nvPr/>
        </p:nvSpPr>
        <p:spPr>
          <a:xfrm>
            <a:off x="1097280" y="4069080"/>
            <a:ext cx="6949440" cy="457200"/>
          </a:xfrm>
          <a:prstGeom prst="rect">
            <a:avLst/>
          </a:prstGeom>
          <a:noFill/>
          <a:ln/>
        </p:spPr>
        <p:txBody>
          <a:bodyPr wrap="square" rtlCol="0" anchor="ctr"/>
          <a:lstStyle/>
          <a:p>
            <a:pPr marL="0" indent="0">
              <a:buNone/>
            </a:pPr>
            <a:r>
              <a:rPr lang="en-US" sz="1000" dirty="0">
                <a:solidFill>
                  <a:srgbClr val="1F1F1F"/>
                </a:solidFill>
              </a:rPr>
              <a:t>3. Restriction : L'enseignant ne peut pas DELETE, ne peut pas voir d'autres données</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Utilisateurs, rôles et privilèges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15/40</a:t>
            </a:r>
            <a:endParaRPr lang="en-US" sz="1000" dirty="0"/>
          </a:p>
        </p:txBody>
      </p:sp>
      <p:sp>
        <p:nvSpPr>
          <p:cNvPr id="5" name="Shape 3"/>
          <p:cNvSpPr/>
          <p:nvPr/>
        </p:nvSpPr>
        <p:spPr>
          <a:xfrm>
            <a:off x="365760" y="822960"/>
            <a:ext cx="8412480" cy="365760"/>
          </a:xfrm>
          <a:prstGeom prst="rect">
            <a:avLst/>
          </a:prstGeom>
          <a:solidFill>
            <a:srgbClr val="F79646"/>
          </a:solidFill>
          <a:ln/>
        </p:spPr>
        <p:txBody>
          <a:bodyPr/>
          <a:lstStyle/>
          <a:p>
            <a:endParaRPr lang="fr-FR"/>
          </a:p>
        </p:txBody>
      </p:sp>
      <p:sp>
        <p:nvSpPr>
          <p:cNvPr id="6" name="Text 4"/>
          <p:cNvSpPr/>
          <p:nvPr/>
        </p:nvSpPr>
        <p:spPr>
          <a:xfrm>
            <a:off x="548640" y="822960"/>
            <a:ext cx="1828800" cy="365760"/>
          </a:xfrm>
          <a:prstGeom prst="rect">
            <a:avLst/>
          </a:prstGeom>
          <a:noFill/>
          <a:ln/>
        </p:spPr>
        <p:txBody>
          <a:bodyPr wrap="square" rtlCol="0" anchor="ctr"/>
          <a:lstStyle/>
          <a:p>
            <a:pPr marL="0" indent="0" algn="l">
              <a:buNone/>
            </a:pPr>
            <a:r>
              <a:rPr lang="en-US" sz="1100" b="1" dirty="0">
                <a:solidFill>
                  <a:srgbClr val="FFFFFF"/>
                </a:solidFill>
              </a:rPr>
              <a:t>Administrateur</a:t>
            </a:r>
            <a:endParaRPr lang="en-US" sz="1100" dirty="0"/>
          </a:p>
        </p:txBody>
      </p:sp>
      <p:sp>
        <p:nvSpPr>
          <p:cNvPr id="7" name="Text 5"/>
          <p:cNvSpPr/>
          <p:nvPr/>
        </p:nvSpPr>
        <p:spPr>
          <a:xfrm>
            <a:off x="2560320" y="822960"/>
            <a:ext cx="6217920" cy="365760"/>
          </a:xfrm>
          <a:prstGeom prst="rect">
            <a:avLst/>
          </a:prstGeom>
          <a:noFill/>
          <a:ln/>
        </p:spPr>
        <p:txBody>
          <a:bodyPr wrap="square" rtlCol="0" anchor="ctr"/>
          <a:lstStyle/>
          <a:p>
            <a:pPr marL="0" indent="0" algn="l">
              <a:buNone/>
            </a:pPr>
            <a:r>
              <a:rPr lang="en-US" sz="1100" dirty="0">
                <a:solidFill>
                  <a:srgbClr val="FFFFFF"/>
                </a:solidFill>
              </a:rPr>
              <a:t>SELECT • INSERT • UPDATE • DELETE • CREATE • DROP</a:t>
            </a:r>
            <a:endParaRPr lang="en-US" sz="1100" dirty="0"/>
          </a:p>
        </p:txBody>
      </p:sp>
      <p:sp>
        <p:nvSpPr>
          <p:cNvPr id="8" name="Shape 6"/>
          <p:cNvSpPr/>
          <p:nvPr/>
        </p:nvSpPr>
        <p:spPr>
          <a:xfrm>
            <a:off x="365760" y="1280160"/>
            <a:ext cx="8412480" cy="365760"/>
          </a:xfrm>
          <a:prstGeom prst="rect">
            <a:avLst/>
          </a:prstGeom>
          <a:solidFill>
            <a:srgbClr val="1F4E78"/>
          </a:solidFill>
          <a:ln/>
        </p:spPr>
        <p:txBody>
          <a:bodyPr/>
          <a:lstStyle/>
          <a:p>
            <a:endParaRPr lang="fr-FR"/>
          </a:p>
        </p:txBody>
      </p:sp>
      <p:sp>
        <p:nvSpPr>
          <p:cNvPr id="9" name="Text 7"/>
          <p:cNvSpPr/>
          <p:nvPr/>
        </p:nvSpPr>
        <p:spPr>
          <a:xfrm>
            <a:off x="548640" y="1280160"/>
            <a:ext cx="1828800" cy="365760"/>
          </a:xfrm>
          <a:prstGeom prst="rect">
            <a:avLst/>
          </a:prstGeom>
          <a:noFill/>
          <a:ln/>
        </p:spPr>
        <p:txBody>
          <a:bodyPr wrap="square" rtlCol="0" anchor="ctr"/>
          <a:lstStyle/>
          <a:p>
            <a:pPr marL="0" indent="0" algn="l">
              <a:buNone/>
            </a:pPr>
            <a:r>
              <a:rPr lang="en-US" sz="1100" b="1" dirty="0">
                <a:solidFill>
                  <a:srgbClr val="FFFFFF"/>
                </a:solidFill>
              </a:rPr>
              <a:t>Enseignant</a:t>
            </a:r>
            <a:endParaRPr lang="en-US" sz="1100" dirty="0"/>
          </a:p>
        </p:txBody>
      </p:sp>
      <p:sp>
        <p:nvSpPr>
          <p:cNvPr id="10" name="Text 8"/>
          <p:cNvSpPr/>
          <p:nvPr/>
        </p:nvSpPr>
        <p:spPr>
          <a:xfrm>
            <a:off x="2560320" y="1280160"/>
            <a:ext cx="6217920" cy="365760"/>
          </a:xfrm>
          <a:prstGeom prst="rect">
            <a:avLst/>
          </a:prstGeom>
          <a:noFill/>
          <a:ln/>
        </p:spPr>
        <p:txBody>
          <a:bodyPr wrap="square" rtlCol="0" anchor="ctr"/>
          <a:lstStyle/>
          <a:p>
            <a:pPr marL="0" indent="0" algn="l">
              <a:buNone/>
            </a:pPr>
            <a:r>
              <a:rPr lang="en-US" sz="1100" dirty="0">
                <a:solidFill>
                  <a:srgbClr val="FFFFFF"/>
                </a:solidFill>
              </a:rPr>
              <a:t>SELECT • UPDATE (notes)</a:t>
            </a:r>
            <a:endParaRPr lang="en-US" sz="1100" dirty="0"/>
          </a:p>
        </p:txBody>
      </p:sp>
      <p:sp>
        <p:nvSpPr>
          <p:cNvPr id="11" name="Shape 9"/>
          <p:cNvSpPr/>
          <p:nvPr/>
        </p:nvSpPr>
        <p:spPr>
          <a:xfrm>
            <a:off x="365760" y="1737360"/>
            <a:ext cx="8412480" cy="365760"/>
          </a:xfrm>
          <a:prstGeom prst="rect">
            <a:avLst/>
          </a:prstGeom>
          <a:solidFill>
            <a:srgbClr val="F79646"/>
          </a:solidFill>
          <a:ln/>
        </p:spPr>
        <p:txBody>
          <a:bodyPr/>
          <a:lstStyle/>
          <a:p>
            <a:endParaRPr lang="fr-FR"/>
          </a:p>
        </p:txBody>
      </p:sp>
      <p:sp>
        <p:nvSpPr>
          <p:cNvPr id="12" name="Text 10"/>
          <p:cNvSpPr/>
          <p:nvPr/>
        </p:nvSpPr>
        <p:spPr>
          <a:xfrm>
            <a:off x="548640" y="1737360"/>
            <a:ext cx="1828800" cy="365760"/>
          </a:xfrm>
          <a:prstGeom prst="rect">
            <a:avLst/>
          </a:prstGeom>
          <a:noFill/>
          <a:ln/>
        </p:spPr>
        <p:txBody>
          <a:bodyPr wrap="square" rtlCol="0" anchor="ctr"/>
          <a:lstStyle/>
          <a:p>
            <a:pPr marL="0" indent="0" algn="l">
              <a:buNone/>
            </a:pPr>
            <a:r>
              <a:rPr lang="en-US" sz="1100" b="1" dirty="0">
                <a:solidFill>
                  <a:srgbClr val="FFFFFF"/>
                </a:solidFill>
              </a:rPr>
              <a:t>Étudiant</a:t>
            </a:r>
            <a:endParaRPr lang="en-US" sz="1100" dirty="0"/>
          </a:p>
        </p:txBody>
      </p:sp>
      <p:sp>
        <p:nvSpPr>
          <p:cNvPr id="13" name="Text 11"/>
          <p:cNvSpPr/>
          <p:nvPr/>
        </p:nvSpPr>
        <p:spPr>
          <a:xfrm>
            <a:off x="2560320" y="1737360"/>
            <a:ext cx="6217920" cy="365760"/>
          </a:xfrm>
          <a:prstGeom prst="rect">
            <a:avLst/>
          </a:prstGeom>
          <a:noFill/>
          <a:ln/>
        </p:spPr>
        <p:txBody>
          <a:bodyPr wrap="square" rtlCol="0" anchor="ctr"/>
          <a:lstStyle/>
          <a:p>
            <a:pPr marL="0" indent="0" algn="l">
              <a:buNone/>
            </a:pPr>
            <a:r>
              <a:rPr lang="en-US" sz="1100" dirty="0">
                <a:solidFill>
                  <a:srgbClr val="FFFFFF"/>
                </a:solidFill>
              </a:rPr>
              <a:t>SELECT (leurs notes)</a:t>
            </a:r>
            <a:endParaRPr lang="en-US" sz="1100" dirty="0"/>
          </a:p>
        </p:txBody>
      </p:sp>
      <p:sp>
        <p:nvSpPr>
          <p:cNvPr id="14" name="Text 12"/>
          <p:cNvSpPr/>
          <p:nvPr/>
        </p:nvSpPr>
        <p:spPr>
          <a:xfrm>
            <a:off x="365760" y="2377440"/>
            <a:ext cx="8412480" cy="228600"/>
          </a:xfrm>
          <a:prstGeom prst="rect">
            <a:avLst/>
          </a:prstGeom>
          <a:noFill/>
          <a:ln/>
        </p:spPr>
        <p:txBody>
          <a:bodyPr wrap="square" rtlCol="0" anchor="ctr"/>
          <a:lstStyle/>
          <a:p>
            <a:pPr marL="0" indent="0">
              <a:buNone/>
            </a:pPr>
            <a:r>
              <a:rPr lang="en-US" sz="1200" b="1" dirty="0">
                <a:solidFill>
                  <a:srgbClr val="1F4E78"/>
                </a:solidFill>
              </a:rPr>
              <a:t>Matrice des droits d'accès</a:t>
            </a:r>
            <a:endParaRPr lang="en-US" sz="1200" dirty="0"/>
          </a:p>
        </p:txBody>
      </p:sp>
      <p:sp>
        <p:nvSpPr>
          <p:cNvPr id="15" name="Shape 13"/>
          <p:cNvSpPr/>
          <p:nvPr/>
        </p:nvSpPr>
        <p:spPr>
          <a:xfrm>
            <a:off x="365760" y="2743200"/>
            <a:ext cx="1828800" cy="320040"/>
          </a:xfrm>
          <a:prstGeom prst="rect">
            <a:avLst/>
          </a:prstGeom>
          <a:solidFill>
            <a:srgbClr val="2E75B6"/>
          </a:solidFill>
          <a:ln w="12700">
            <a:solidFill>
              <a:srgbClr val="E7E6E6"/>
            </a:solidFill>
            <a:prstDash val="solid"/>
          </a:ln>
        </p:spPr>
        <p:txBody>
          <a:bodyPr/>
          <a:lstStyle/>
          <a:p>
            <a:endParaRPr lang="fr-FR"/>
          </a:p>
        </p:txBody>
      </p:sp>
      <p:sp>
        <p:nvSpPr>
          <p:cNvPr id="16" name="Text 14"/>
          <p:cNvSpPr/>
          <p:nvPr/>
        </p:nvSpPr>
        <p:spPr>
          <a:xfrm>
            <a:off x="457200" y="2743200"/>
            <a:ext cx="1645920" cy="320040"/>
          </a:xfrm>
          <a:prstGeom prst="rect">
            <a:avLst/>
          </a:prstGeom>
          <a:noFill/>
          <a:ln/>
        </p:spPr>
        <p:txBody>
          <a:bodyPr wrap="square" rtlCol="0" anchor="ctr"/>
          <a:lstStyle/>
          <a:p>
            <a:pPr marL="0" indent="0" algn="ctr">
              <a:buNone/>
            </a:pPr>
            <a:r>
              <a:rPr lang="en-US" sz="900" b="1" dirty="0">
                <a:solidFill>
                  <a:srgbClr val="FFFFFF"/>
                </a:solidFill>
              </a:rPr>
              <a:t>Opération</a:t>
            </a:r>
            <a:endParaRPr lang="en-US" sz="900" dirty="0"/>
          </a:p>
        </p:txBody>
      </p:sp>
      <p:sp>
        <p:nvSpPr>
          <p:cNvPr id="17" name="Shape 15"/>
          <p:cNvSpPr/>
          <p:nvPr/>
        </p:nvSpPr>
        <p:spPr>
          <a:xfrm>
            <a:off x="2194560" y="2743200"/>
            <a:ext cx="2103120" cy="320040"/>
          </a:xfrm>
          <a:prstGeom prst="rect">
            <a:avLst/>
          </a:prstGeom>
          <a:solidFill>
            <a:srgbClr val="2E75B6"/>
          </a:solidFill>
          <a:ln w="12700">
            <a:solidFill>
              <a:srgbClr val="E7E6E6"/>
            </a:solidFill>
            <a:prstDash val="solid"/>
          </a:ln>
        </p:spPr>
        <p:txBody>
          <a:bodyPr/>
          <a:lstStyle/>
          <a:p>
            <a:endParaRPr lang="fr-FR"/>
          </a:p>
        </p:txBody>
      </p:sp>
      <p:sp>
        <p:nvSpPr>
          <p:cNvPr id="18" name="Text 16"/>
          <p:cNvSpPr/>
          <p:nvPr/>
        </p:nvSpPr>
        <p:spPr>
          <a:xfrm>
            <a:off x="2286000" y="2743200"/>
            <a:ext cx="1920240" cy="320040"/>
          </a:xfrm>
          <a:prstGeom prst="rect">
            <a:avLst/>
          </a:prstGeom>
          <a:noFill/>
          <a:ln/>
        </p:spPr>
        <p:txBody>
          <a:bodyPr wrap="square" rtlCol="0" anchor="ctr"/>
          <a:lstStyle/>
          <a:p>
            <a:pPr marL="0" indent="0" algn="ctr">
              <a:buNone/>
            </a:pPr>
            <a:r>
              <a:rPr lang="en-US" sz="900" b="1" dirty="0">
                <a:solidFill>
                  <a:srgbClr val="FFFFFF"/>
                </a:solidFill>
              </a:rPr>
              <a:t>Admin</a:t>
            </a:r>
            <a:endParaRPr lang="en-US" sz="900" dirty="0"/>
          </a:p>
        </p:txBody>
      </p:sp>
      <p:sp>
        <p:nvSpPr>
          <p:cNvPr id="19" name="Shape 17"/>
          <p:cNvSpPr/>
          <p:nvPr/>
        </p:nvSpPr>
        <p:spPr>
          <a:xfrm>
            <a:off x="4297680" y="2743200"/>
            <a:ext cx="2103120" cy="320040"/>
          </a:xfrm>
          <a:prstGeom prst="rect">
            <a:avLst/>
          </a:prstGeom>
          <a:solidFill>
            <a:srgbClr val="2E75B6"/>
          </a:solidFill>
          <a:ln w="12700">
            <a:solidFill>
              <a:srgbClr val="E7E6E6"/>
            </a:solidFill>
            <a:prstDash val="solid"/>
          </a:ln>
        </p:spPr>
        <p:txBody>
          <a:bodyPr/>
          <a:lstStyle/>
          <a:p>
            <a:endParaRPr lang="fr-FR"/>
          </a:p>
        </p:txBody>
      </p:sp>
      <p:sp>
        <p:nvSpPr>
          <p:cNvPr id="20" name="Text 18"/>
          <p:cNvSpPr/>
          <p:nvPr/>
        </p:nvSpPr>
        <p:spPr>
          <a:xfrm>
            <a:off x="4389120" y="2743200"/>
            <a:ext cx="1920240" cy="320040"/>
          </a:xfrm>
          <a:prstGeom prst="rect">
            <a:avLst/>
          </a:prstGeom>
          <a:noFill/>
          <a:ln/>
        </p:spPr>
        <p:txBody>
          <a:bodyPr wrap="square" rtlCol="0" anchor="ctr"/>
          <a:lstStyle/>
          <a:p>
            <a:pPr marL="0" indent="0" algn="ctr">
              <a:buNone/>
            </a:pPr>
            <a:r>
              <a:rPr lang="en-US" sz="900" b="1" dirty="0">
                <a:solidFill>
                  <a:srgbClr val="FFFFFF"/>
                </a:solidFill>
              </a:rPr>
              <a:t>Enseignant</a:t>
            </a:r>
            <a:endParaRPr lang="en-US" sz="900" dirty="0"/>
          </a:p>
        </p:txBody>
      </p:sp>
      <p:sp>
        <p:nvSpPr>
          <p:cNvPr id="21" name="Shape 19"/>
          <p:cNvSpPr/>
          <p:nvPr/>
        </p:nvSpPr>
        <p:spPr>
          <a:xfrm>
            <a:off x="6400800" y="2743200"/>
            <a:ext cx="2103120" cy="320040"/>
          </a:xfrm>
          <a:prstGeom prst="rect">
            <a:avLst/>
          </a:prstGeom>
          <a:solidFill>
            <a:srgbClr val="2E75B6"/>
          </a:solidFill>
          <a:ln w="12700">
            <a:solidFill>
              <a:srgbClr val="E7E6E6"/>
            </a:solidFill>
            <a:prstDash val="solid"/>
          </a:ln>
        </p:spPr>
        <p:txBody>
          <a:bodyPr/>
          <a:lstStyle/>
          <a:p>
            <a:endParaRPr lang="fr-FR"/>
          </a:p>
        </p:txBody>
      </p:sp>
      <p:sp>
        <p:nvSpPr>
          <p:cNvPr id="22" name="Text 20"/>
          <p:cNvSpPr/>
          <p:nvPr/>
        </p:nvSpPr>
        <p:spPr>
          <a:xfrm>
            <a:off x="6492240" y="2743200"/>
            <a:ext cx="1920240" cy="320040"/>
          </a:xfrm>
          <a:prstGeom prst="rect">
            <a:avLst/>
          </a:prstGeom>
          <a:noFill/>
          <a:ln/>
        </p:spPr>
        <p:txBody>
          <a:bodyPr wrap="square" rtlCol="0" anchor="ctr"/>
          <a:lstStyle/>
          <a:p>
            <a:pPr marL="0" indent="0" algn="ctr">
              <a:buNone/>
            </a:pPr>
            <a:r>
              <a:rPr lang="en-US" sz="900" b="1" dirty="0">
                <a:solidFill>
                  <a:srgbClr val="FFFFFF"/>
                </a:solidFill>
              </a:rPr>
              <a:t>Étudiant</a:t>
            </a:r>
            <a:endParaRPr lang="en-US" sz="900" dirty="0"/>
          </a:p>
        </p:txBody>
      </p:sp>
      <p:sp>
        <p:nvSpPr>
          <p:cNvPr id="23" name="Shape 21"/>
          <p:cNvSpPr/>
          <p:nvPr/>
        </p:nvSpPr>
        <p:spPr>
          <a:xfrm>
            <a:off x="365760" y="3063240"/>
            <a:ext cx="1828800" cy="320040"/>
          </a:xfrm>
          <a:prstGeom prst="rect">
            <a:avLst/>
          </a:prstGeom>
          <a:solidFill>
            <a:srgbClr val="FFFFFF"/>
          </a:solidFill>
          <a:ln w="12700">
            <a:solidFill>
              <a:srgbClr val="E7E6E6"/>
            </a:solidFill>
            <a:prstDash val="solid"/>
          </a:ln>
        </p:spPr>
        <p:txBody>
          <a:bodyPr/>
          <a:lstStyle/>
          <a:p>
            <a:endParaRPr lang="fr-FR"/>
          </a:p>
        </p:txBody>
      </p:sp>
      <p:sp>
        <p:nvSpPr>
          <p:cNvPr id="24" name="Text 22"/>
          <p:cNvSpPr/>
          <p:nvPr/>
        </p:nvSpPr>
        <p:spPr>
          <a:xfrm>
            <a:off x="457200" y="3063240"/>
            <a:ext cx="1645920" cy="320040"/>
          </a:xfrm>
          <a:prstGeom prst="rect">
            <a:avLst/>
          </a:prstGeom>
          <a:noFill/>
          <a:ln/>
        </p:spPr>
        <p:txBody>
          <a:bodyPr wrap="square" rtlCol="0" anchor="ctr"/>
          <a:lstStyle/>
          <a:p>
            <a:pPr marL="0" indent="0" algn="ctr">
              <a:buNone/>
            </a:pPr>
            <a:r>
              <a:rPr lang="en-US" sz="900" dirty="0">
                <a:solidFill>
                  <a:srgbClr val="1F1F1F"/>
                </a:solidFill>
              </a:rPr>
              <a:t>SELECT</a:t>
            </a:r>
            <a:endParaRPr lang="en-US" sz="900" dirty="0"/>
          </a:p>
        </p:txBody>
      </p:sp>
      <p:sp>
        <p:nvSpPr>
          <p:cNvPr id="25" name="Shape 23"/>
          <p:cNvSpPr/>
          <p:nvPr/>
        </p:nvSpPr>
        <p:spPr>
          <a:xfrm>
            <a:off x="2194560" y="3063240"/>
            <a:ext cx="2103120" cy="320040"/>
          </a:xfrm>
          <a:prstGeom prst="rect">
            <a:avLst/>
          </a:prstGeom>
          <a:solidFill>
            <a:srgbClr val="FFFFFF"/>
          </a:solidFill>
          <a:ln w="12700">
            <a:solidFill>
              <a:srgbClr val="E7E6E6"/>
            </a:solidFill>
            <a:prstDash val="solid"/>
          </a:ln>
        </p:spPr>
        <p:txBody>
          <a:bodyPr/>
          <a:lstStyle/>
          <a:p>
            <a:endParaRPr lang="fr-FR"/>
          </a:p>
        </p:txBody>
      </p:sp>
      <p:sp>
        <p:nvSpPr>
          <p:cNvPr id="26" name="Text 24"/>
          <p:cNvSpPr/>
          <p:nvPr/>
        </p:nvSpPr>
        <p:spPr>
          <a:xfrm>
            <a:off x="2286000" y="306324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27" name="Shape 25"/>
          <p:cNvSpPr/>
          <p:nvPr/>
        </p:nvSpPr>
        <p:spPr>
          <a:xfrm>
            <a:off x="4297680" y="3063240"/>
            <a:ext cx="2103120" cy="320040"/>
          </a:xfrm>
          <a:prstGeom prst="rect">
            <a:avLst/>
          </a:prstGeom>
          <a:solidFill>
            <a:srgbClr val="FFFFFF"/>
          </a:solidFill>
          <a:ln w="12700">
            <a:solidFill>
              <a:srgbClr val="E7E6E6"/>
            </a:solidFill>
            <a:prstDash val="solid"/>
          </a:ln>
        </p:spPr>
        <p:txBody>
          <a:bodyPr/>
          <a:lstStyle/>
          <a:p>
            <a:endParaRPr lang="fr-FR"/>
          </a:p>
        </p:txBody>
      </p:sp>
      <p:sp>
        <p:nvSpPr>
          <p:cNvPr id="28" name="Text 26"/>
          <p:cNvSpPr/>
          <p:nvPr/>
        </p:nvSpPr>
        <p:spPr>
          <a:xfrm>
            <a:off x="4389120" y="306324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29" name="Shape 27"/>
          <p:cNvSpPr/>
          <p:nvPr/>
        </p:nvSpPr>
        <p:spPr>
          <a:xfrm>
            <a:off x="6400800" y="3063240"/>
            <a:ext cx="2103120" cy="320040"/>
          </a:xfrm>
          <a:prstGeom prst="rect">
            <a:avLst/>
          </a:prstGeom>
          <a:solidFill>
            <a:srgbClr val="FFFFFF"/>
          </a:solidFill>
          <a:ln w="12700">
            <a:solidFill>
              <a:srgbClr val="E7E6E6"/>
            </a:solidFill>
            <a:prstDash val="solid"/>
          </a:ln>
        </p:spPr>
        <p:txBody>
          <a:bodyPr/>
          <a:lstStyle/>
          <a:p>
            <a:endParaRPr lang="fr-FR"/>
          </a:p>
        </p:txBody>
      </p:sp>
      <p:sp>
        <p:nvSpPr>
          <p:cNvPr id="30" name="Text 28"/>
          <p:cNvSpPr/>
          <p:nvPr/>
        </p:nvSpPr>
        <p:spPr>
          <a:xfrm>
            <a:off x="6492240" y="3063240"/>
            <a:ext cx="1920240" cy="320040"/>
          </a:xfrm>
          <a:prstGeom prst="rect">
            <a:avLst/>
          </a:prstGeom>
          <a:noFill/>
          <a:ln/>
        </p:spPr>
        <p:txBody>
          <a:bodyPr wrap="square" rtlCol="0" anchor="ctr"/>
          <a:lstStyle/>
          <a:p>
            <a:pPr marL="0" indent="0" algn="ctr">
              <a:buNone/>
            </a:pPr>
            <a:r>
              <a:rPr lang="en-US" sz="900" dirty="0">
                <a:solidFill>
                  <a:srgbClr val="1F1F1F"/>
                </a:solidFill>
              </a:rPr>
              <a:t>✓ (limité)</a:t>
            </a:r>
            <a:endParaRPr lang="en-US" sz="900" dirty="0"/>
          </a:p>
        </p:txBody>
      </p:sp>
      <p:sp>
        <p:nvSpPr>
          <p:cNvPr id="31" name="Shape 29"/>
          <p:cNvSpPr/>
          <p:nvPr/>
        </p:nvSpPr>
        <p:spPr>
          <a:xfrm>
            <a:off x="365760" y="3383280"/>
            <a:ext cx="1828800" cy="320040"/>
          </a:xfrm>
          <a:prstGeom prst="rect">
            <a:avLst/>
          </a:prstGeom>
          <a:solidFill>
            <a:srgbClr val="E7E6E6"/>
          </a:solidFill>
          <a:ln w="12700">
            <a:solidFill>
              <a:srgbClr val="E7E6E6"/>
            </a:solidFill>
            <a:prstDash val="solid"/>
          </a:ln>
        </p:spPr>
        <p:txBody>
          <a:bodyPr/>
          <a:lstStyle/>
          <a:p>
            <a:endParaRPr lang="fr-FR"/>
          </a:p>
        </p:txBody>
      </p:sp>
      <p:sp>
        <p:nvSpPr>
          <p:cNvPr id="32" name="Text 30"/>
          <p:cNvSpPr/>
          <p:nvPr/>
        </p:nvSpPr>
        <p:spPr>
          <a:xfrm>
            <a:off x="457200" y="3383280"/>
            <a:ext cx="1645920" cy="320040"/>
          </a:xfrm>
          <a:prstGeom prst="rect">
            <a:avLst/>
          </a:prstGeom>
          <a:noFill/>
          <a:ln/>
        </p:spPr>
        <p:txBody>
          <a:bodyPr wrap="square" rtlCol="0" anchor="ctr"/>
          <a:lstStyle/>
          <a:p>
            <a:pPr marL="0" indent="0" algn="ctr">
              <a:buNone/>
            </a:pPr>
            <a:r>
              <a:rPr lang="en-US" sz="900" dirty="0">
                <a:solidFill>
                  <a:srgbClr val="1F1F1F"/>
                </a:solidFill>
              </a:rPr>
              <a:t>INSERT</a:t>
            </a:r>
            <a:endParaRPr lang="en-US" sz="900" dirty="0"/>
          </a:p>
        </p:txBody>
      </p:sp>
      <p:sp>
        <p:nvSpPr>
          <p:cNvPr id="33" name="Shape 31"/>
          <p:cNvSpPr/>
          <p:nvPr/>
        </p:nvSpPr>
        <p:spPr>
          <a:xfrm>
            <a:off x="2194560" y="3383280"/>
            <a:ext cx="2103120" cy="320040"/>
          </a:xfrm>
          <a:prstGeom prst="rect">
            <a:avLst/>
          </a:prstGeom>
          <a:solidFill>
            <a:srgbClr val="E7E6E6"/>
          </a:solidFill>
          <a:ln w="12700">
            <a:solidFill>
              <a:srgbClr val="E7E6E6"/>
            </a:solidFill>
            <a:prstDash val="solid"/>
          </a:ln>
        </p:spPr>
        <p:txBody>
          <a:bodyPr/>
          <a:lstStyle/>
          <a:p>
            <a:endParaRPr lang="fr-FR"/>
          </a:p>
        </p:txBody>
      </p:sp>
      <p:sp>
        <p:nvSpPr>
          <p:cNvPr id="34" name="Text 32"/>
          <p:cNvSpPr/>
          <p:nvPr/>
        </p:nvSpPr>
        <p:spPr>
          <a:xfrm>
            <a:off x="2286000" y="338328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35" name="Shape 33"/>
          <p:cNvSpPr/>
          <p:nvPr/>
        </p:nvSpPr>
        <p:spPr>
          <a:xfrm>
            <a:off x="4297680" y="3383280"/>
            <a:ext cx="2103120" cy="320040"/>
          </a:xfrm>
          <a:prstGeom prst="rect">
            <a:avLst/>
          </a:prstGeom>
          <a:solidFill>
            <a:srgbClr val="E7E6E6"/>
          </a:solidFill>
          <a:ln w="12700">
            <a:solidFill>
              <a:srgbClr val="E7E6E6"/>
            </a:solidFill>
            <a:prstDash val="solid"/>
          </a:ln>
        </p:spPr>
        <p:txBody>
          <a:bodyPr/>
          <a:lstStyle/>
          <a:p>
            <a:endParaRPr lang="fr-FR"/>
          </a:p>
        </p:txBody>
      </p:sp>
      <p:sp>
        <p:nvSpPr>
          <p:cNvPr id="36" name="Text 34"/>
          <p:cNvSpPr/>
          <p:nvPr/>
        </p:nvSpPr>
        <p:spPr>
          <a:xfrm>
            <a:off x="4389120" y="338328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37" name="Shape 35"/>
          <p:cNvSpPr/>
          <p:nvPr/>
        </p:nvSpPr>
        <p:spPr>
          <a:xfrm>
            <a:off x="6400800" y="3383280"/>
            <a:ext cx="2103120" cy="320040"/>
          </a:xfrm>
          <a:prstGeom prst="rect">
            <a:avLst/>
          </a:prstGeom>
          <a:solidFill>
            <a:srgbClr val="E7E6E6"/>
          </a:solidFill>
          <a:ln w="12700">
            <a:solidFill>
              <a:srgbClr val="E7E6E6"/>
            </a:solidFill>
            <a:prstDash val="solid"/>
          </a:ln>
        </p:spPr>
        <p:txBody>
          <a:bodyPr/>
          <a:lstStyle/>
          <a:p>
            <a:endParaRPr lang="fr-FR"/>
          </a:p>
        </p:txBody>
      </p:sp>
      <p:sp>
        <p:nvSpPr>
          <p:cNvPr id="38" name="Text 36"/>
          <p:cNvSpPr/>
          <p:nvPr/>
        </p:nvSpPr>
        <p:spPr>
          <a:xfrm>
            <a:off x="6492240" y="338328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39" name="Shape 37"/>
          <p:cNvSpPr/>
          <p:nvPr/>
        </p:nvSpPr>
        <p:spPr>
          <a:xfrm>
            <a:off x="365760" y="3703320"/>
            <a:ext cx="1828800" cy="320040"/>
          </a:xfrm>
          <a:prstGeom prst="rect">
            <a:avLst/>
          </a:prstGeom>
          <a:solidFill>
            <a:srgbClr val="FFFFFF"/>
          </a:solidFill>
          <a:ln w="12700">
            <a:solidFill>
              <a:srgbClr val="E7E6E6"/>
            </a:solidFill>
            <a:prstDash val="solid"/>
          </a:ln>
        </p:spPr>
        <p:txBody>
          <a:bodyPr/>
          <a:lstStyle/>
          <a:p>
            <a:endParaRPr lang="fr-FR"/>
          </a:p>
        </p:txBody>
      </p:sp>
      <p:sp>
        <p:nvSpPr>
          <p:cNvPr id="40" name="Text 38"/>
          <p:cNvSpPr/>
          <p:nvPr/>
        </p:nvSpPr>
        <p:spPr>
          <a:xfrm>
            <a:off x="457200" y="3703320"/>
            <a:ext cx="1645920" cy="320040"/>
          </a:xfrm>
          <a:prstGeom prst="rect">
            <a:avLst/>
          </a:prstGeom>
          <a:noFill/>
          <a:ln/>
        </p:spPr>
        <p:txBody>
          <a:bodyPr wrap="square" rtlCol="0" anchor="ctr"/>
          <a:lstStyle/>
          <a:p>
            <a:pPr marL="0" indent="0" algn="ctr">
              <a:buNone/>
            </a:pPr>
            <a:r>
              <a:rPr lang="en-US" sz="900" dirty="0">
                <a:solidFill>
                  <a:srgbClr val="1F1F1F"/>
                </a:solidFill>
              </a:rPr>
              <a:t>UPDATE</a:t>
            </a:r>
            <a:endParaRPr lang="en-US" sz="900" dirty="0"/>
          </a:p>
        </p:txBody>
      </p:sp>
      <p:sp>
        <p:nvSpPr>
          <p:cNvPr id="41" name="Shape 39"/>
          <p:cNvSpPr/>
          <p:nvPr/>
        </p:nvSpPr>
        <p:spPr>
          <a:xfrm>
            <a:off x="2194560" y="3703320"/>
            <a:ext cx="2103120" cy="320040"/>
          </a:xfrm>
          <a:prstGeom prst="rect">
            <a:avLst/>
          </a:prstGeom>
          <a:solidFill>
            <a:srgbClr val="FFFFFF"/>
          </a:solidFill>
          <a:ln w="12700">
            <a:solidFill>
              <a:srgbClr val="E7E6E6"/>
            </a:solidFill>
            <a:prstDash val="solid"/>
          </a:ln>
        </p:spPr>
        <p:txBody>
          <a:bodyPr/>
          <a:lstStyle/>
          <a:p>
            <a:endParaRPr lang="fr-FR"/>
          </a:p>
        </p:txBody>
      </p:sp>
      <p:sp>
        <p:nvSpPr>
          <p:cNvPr id="42" name="Text 40"/>
          <p:cNvSpPr/>
          <p:nvPr/>
        </p:nvSpPr>
        <p:spPr>
          <a:xfrm>
            <a:off x="2286000" y="370332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43" name="Shape 41"/>
          <p:cNvSpPr/>
          <p:nvPr/>
        </p:nvSpPr>
        <p:spPr>
          <a:xfrm>
            <a:off x="4297680" y="3703320"/>
            <a:ext cx="2103120" cy="320040"/>
          </a:xfrm>
          <a:prstGeom prst="rect">
            <a:avLst/>
          </a:prstGeom>
          <a:solidFill>
            <a:srgbClr val="FFFFFF"/>
          </a:solidFill>
          <a:ln w="12700">
            <a:solidFill>
              <a:srgbClr val="E7E6E6"/>
            </a:solidFill>
            <a:prstDash val="solid"/>
          </a:ln>
        </p:spPr>
        <p:txBody>
          <a:bodyPr/>
          <a:lstStyle/>
          <a:p>
            <a:endParaRPr lang="fr-FR"/>
          </a:p>
        </p:txBody>
      </p:sp>
      <p:sp>
        <p:nvSpPr>
          <p:cNvPr id="44" name="Text 42"/>
          <p:cNvSpPr/>
          <p:nvPr/>
        </p:nvSpPr>
        <p:spPr>
          <a:xfrm>
            <a:off x="4389120" y="3703320"/>
            <a:ext cx="1920240" cy="320040"/>
          </a:xfrm>
          <a:prstGeom prst="rect">
            <a:avLst/>
          </a:prstGeom>
          <a:noFill/>
          <a:ln/>
        </p:spPr>
        <p:txBody>
          <a:bodyPr wrap="square" rtlCol="0" anchor="ctr"/>
          <a:lstStyle/>
          <a:p>
            <a:pPr marL="0" indent="0" algn="ctr">
              <a:buNone/>
            </a:pPr>
            <a:r>
              <a:rPr lang="en-US" sz="900" dirty="0">
                <a:solidFill>
                  <a:srgbClr val="1F1F1F"/>
                </a:solidFill>
              </a:rPr>
              <a:t>✓ (leurs cours)</a:t>
            </a:r>
            <a:endParaRPr lang="en-US" sz="900" dirty="0"/>
          </a:p>
        </p:txBody>
      </p:sp>
      <p:sp>
        <p:nvSpPr>
          <p:cNvPr id="45" name="Shape 43"/>
          <p:cNvSpPr/>
          <p:nvPr/>
        </p:nvSpPr>
        <p:spPr>
          <a:xfrm>
            <a:off x="6400800" y="3703320"/>
            <a:ext cx="2103120" cy="320040"/>
          </a:xfrm>
          <a:prstGeom prst="rect">
            <a:avLst/>
          </a:prstGeom>
          <a:solidFill>
            <a:srgbClr val="FFFFFF"/>
          </a:solidFill>
          <a:ln w="12700">
            <a:solidFill>
              <a:srgbClr val="E7E6E6"/>
            </a:solidFill>
            <a:prstDash val="solid"/>
          </a:ln>
        </p:spPr>
        <p:txBody>
          <a:bodyPr/>
          <a:lstStyle/>
          <a:p>
            <a:endParaRPr lang="fr-FR"/>
          </a:p>
        </p:txBody>
      </p:sp>
      <p:sp>
        <p:nvSpPr>
          <p:cNvPr id="46" name="Text 44"/>
          <p:cNvSpPr/>
          <p:nvPr/>
        </p:nvSpPr>
        <p:spPr>
          <a:xfrm>
            <a:off x="6492240" y="370332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47" name="Shape 45"/>
          <p:cNvSpPr/>
          <p:nvPr/>
        </p:nvSpPr>
        <p:spPr>
          <a:xfrm>
            <a:off x="365760" y="4023360"/>
            <a:ext cx="1828800" cy="320040"/>
          </a:xfrm>
          <a:prstGeom prst="rect">
            <a:avLst/>
          </a:prstGeom>
          <a:solidFill>
            <a:srgbClr val="E7E6E6"/>
          </a:solidFill>
          <a:ln w="12700">
            <a:solidFill>
              <a:srgbClr val="E7E6E6"/>
            </a:solidFill>
            <a:prstDash val="solid"/>
          </a:ln>
        </p:spPr>
        <p:txBody>
          <a:bodyPr/>
          <a:lstStyle/>
          <a:p>
            <a:endParaRPr lang="fr-FR"/>
          </a:p>
        </p:txBody>
      </p:sp>
      <p:sp>
        <p:nvSpPr>
          <p:cNvPr id="48" name="Text 46"/>
          <p:cNvSpPr/>
          <p:nvPr/>
        </p:nvSpPr>
        <p:spPr>
          <a:xfrm>
            <a:off x="457200" y="4023360"/>
            <a:ext cx="1645920" cy="320040"/>
          </a:xfrm>
          <a:prstGeom prst="rect">
            <a:avLst/>
          </a:prstGeom>
          <a:noFill/>
          <a:ln/>
        </p:spPr>
        <p:txBody>
          <a:bodyPr wrap="square" rtlCol="0" anchor="ctr"/>
          <a:lstStyle/>
          <a:p>
            <a:pPr marL="0" indent="0" algn="ctr">
              <a:buNone/>
            </a:pPr>
            <a:r>
              <a:rPr lang="en-US" sz="900" dirty="0">
                <a:solidFill>
                  <a:srgbClr val="1F1F1F"/>
                </a:solidFill>
              </a:rPr>
              <a:t>DELETE</a:t>
            </a:r>
            <a:endParaRPr lang="en-US" sz="900" dirty="0"/>
          </a:p>
        </p:txBody>
      </p:sp>
      <p:sp>
        <p:nvSpPr>
          <p:cNvPr id="49" name="Shape 47"/>
          <p:cNvSpPr/>
          <p:nvPr/>
        </p:nvSpPr>
        <p:spPr>
          <a:xfrm>
            <a:off x="2194560" y="4023360"/>
            <a:ext cx="2103120" cy="320040"/>
          </a:xfrm>
          <a:prstGeom prst="rect">
            <a:avLst/>
          </a:prstGeom>
          <a:solidFill>
            <a:srgbClr val="E7E6E6"/>
          </a:solidFill>
          <a:ln w="12700">
            <a:solidFill>
              <a:srgbClr val="E7E6E6"/>
            </a:solidFill>
            <a:prstDash val="solid"/>
          </a:ln>
        </p:spPr>
        <p:txBody>
          <a:bodyPr/>
          <a:lstStyle/>
          <a:p>
            <a:endParaRPr lang="fr-FR"/>
          </a:p>
        </p:txBody>
      </p:sp>
      <p:sp>
        <p:nvSpPr>
          <p:cNvPr id="50" name="Text 48"/>
          <p:cNvSpPr/>
          <p:nvPr/>
        </p:nvSpPr>
        <p:spPr>
          <a:xfrm>
            <a:off x="2286000" y="402336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51" name="Shape 49"/>
          <p:cNvSpPr/>
          <p:nvPr/>
        </p:nvSpPr>
        <p:spPr>
          <a:xfrm>
            <a:off x="4297680" y="4023360"/>
            <a:ext cx="2103120" cy="320040"/>
          </a:xfrm>
          <a:prstGeom prst="rect">
            <a:avLst/>
          </a:prstGeom>
          <a:solidFill>
            <a:srgbClr val="E7E6E6"/>
          </a:solidFill>
          <a:ln w="12700">
            <a:solidFill>
              <a:srgbClr val="E7E6E6"/>
            </a:solidFill>
            <a:prstDash val="solid"/>
          </a:ln>
        </p:spPr>
        <p:txBody>
          <a:bodyPr/>
          <a:lstStyle/>
          <a:p>
            <a:endParaRPr lang="fr-FR"/>
          </a:p>
        </p:txBody>
      </p:sp>
      <p:sp>
        <p:nvSpPr>
          <p:cNvPr id="52" name="Text 50"/>
          <p:cNvSpPr/>
          <p:nvPr/>
        </p:nvSpPr>
        <p:spPr>
          <a:xfrm>
            <a:off x="4389120" y="402336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53" name="Shape 51"/>
          <p:cNvSpPr/>
          <p:nvPr/>
        </p:nvSpPr>
        <p:spPr>
          <a:xfrm>
            <a:off x="6400800" y="4023360"/>
            <a:ext cx="2103120" cy="320040"/>
          </a:xfrm>
          <a:prstGeom prst="rect">
            <a:avLst/>
          </a:prstGeom>
          <a:solidFill>
            <a:srgbClr val="E7E6E6"/>
          </a:solidFill>
          <a:ln w="12700">
            <a:solidFill>
              <a:srgbClr val="E7E6E6"/>
            </a:solidFill>
            <a:prstDash val="solid"/>
          </a:ln>
        </p:spPr>
        <p:txBody>
          <a:bodyPr/>
          <a:lstStyle/>
          <a:p>
            <a:endParaRPr lang="fr-FR"/>
          </a:p>
        </p:txBody>
      </p:sp>
      <p:sp>
        <p:nvSpPr>
          <p:cNvPr id="54" name="Text 52"/>
          <p:cNvSpPr/>
          <p:nvPr/>
        </p:nvSpPr>
        <p:spPr>
          <a:xfrm>
            <a:off x="6492240" y="402336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55" name="Shape 53"/>
          <p:cNvSpPr/>
          <p:nvPr/>
        </p:nvSpPr>
        <p:spPr>
          <a:xfrm>
            <a:off x="365760" y="4343400"/>
            <a:ext cx="1828800" cy="320040"/>
          </a:xfrm>
          <a:prstGeom prst="rect">
            <a:avLst/>
          </a:prstGeom>
          <a:solidFill>
            <a:srgbClr val="FFFFFF"/>
          </a:solidFill>
          <a:ln w="12700">
            <a:solidFill>
              <a:srgbClr val="E7E6E6"/>
            </a:solidFill>
            <a:prstDash val="solid"/>
          </a:ln>
        </p:spPr>
        <p:txBody>
          <a:bodyPr/>
          <a:lstStyle/>
          <a:p>
            <a:endParaRPr lang="fr-FR"/>
          </a:p>
        </p:txBody>
      </p:sp>
      <p:sp>
        <p:nvSpPr>
          <p:cNvPr id="56" name="Text 54"/>
          <p:cNvSpPr/>
          <p:nvPr/>
        </p:nvSpPr>
        <p:spPr>
          <a:xfrm>
            <a:off x="457200" y="4343400"/>
            <a:ext cx="1645920" cy="320040"/>
          </a:xfrm>
          <a:prstGeom prst="rect">
            <a:avLst/>
          </a:prstGeom>
          <a:noFill/>
          <a:ln/>
        </p:spPr>
        <p:txBody>
          <a:bodyPr wrap="square" rtlCol="0" anchor="ctr"/>
          <a:lstStyle/>
          <a:p>
            <a:pPr marL="0" indent="0" algn="ctr">
              <a:buNone/>
            </a:pPr>
            <a:r>
              <a:rPr lang="en-US" sz="900" dirty="0">
                <a:solidFill>
                  <a:srgbClr val="1F1F1F"/>
                </a:solidFill>
              </a:rPr>
              <a:t>CREATE TABLE</a:t>
            </a:r>
            <a:endParaRPr lang="en-US" sz="900" dirty="0"/>
          </a:p>
        </p:txBody>
      </p:sp>
      <p:sp>
        <p:nvSpPr>
          <p:cNvPr id="57" name="Shape 55"/>
          <p:cNvSpPr/>
          <p:nvPr/>
        </p:nvSpPr>
        <p:spPr>
          <a:xfrm>
            <a:off x="2194560" y="4343400"/>
            <a:ext cx="2103120" cy="320040"/>
          </a:xfrm>
          <a:prstGeom prst="rect">
            <a:avLst/>
          </a:prstGeom>
          <a:solidFill>
            <a:srgbClr val="FFFFFF"/>
          </a:solidFill>
          <a:ln w="12700">
            <a:solidFill>
              <a:srgbClr val="E7E6E6"/>
            </a:solidFill>
            <a:prstDash val="solid"/>
          </a:ln>
        </p:spPr>
        <p:txBody>
          <a:bodyPr/>
          <a:lstStyle/>
          <a:p>
            <a:endParaRPr lang="fr-FR"/>
          </a:p>
        </p:txBody>
      </p:sp>
      <p:sp>
        <p:nvSpPr>
          <p:cNvPr id="58" name="Text 56"/>
          <p:cNvSpPr/>
          <p:nvPr/>
        </p:nvSpPr>
        <p:spPr>
          <a:xfrm>
            <a:off x="2286000" y="434340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59" name="Shape 57"/>
          <p:cNvSpPr/>
          <p:nvPr/>
        </p:nvSpPr>
        <p:spPr>
          <a:xfrm>
            <a:off x="4297680" y="4343400"/>
            <a:ext cx="2103120" cy="320040"/>
          </a:xfrm>
          <a:prstGeom prst="rect">
            <a:avLst/>
          </a:prstGeom>
          <a:solidFill>
            <a:srgbClr val="FFFFFF"/>
          </a:solidFill>
          <a:ln w="12700">
            <a:solidFill>
              <a:srgbClr val="E7E6E6"/>
            </a:solidFill>
            <a:prstDash val="solid"/>
          </a:ln>
        </p:spPr>
        <p:txBody>
          <a:bodyPr/>
          <a:lstStyle/>
          <a:p>
            <a:endParaRPr lang="fr-FR"/>
          </a:p>
        </p:txBody>
      </p:sp>
      <p:sp>
        <p:nvSpPr>
          <p:cNvPr id="60" name="Text 58"/>
          <p:cNvSpPr/>
          <p:nvPr/>
        </p:nvSpPr>
        <p:spPr>
          <a:xfrm>
            <a:off x="4389120" y="434340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61" name="Shape 59"/>
          <p:cNvSpPr/>
          <p:nvPr/>
        </p:nvSpPr>
        <p:spPr>
          <a:xfrm>
            <a:off x="6400800" y="4343400"/>
            <a:ext cx="2103120" cy="320040"/>
          </a:xfrm>
          <a:prstGeom prst="rect">
            <a:avLst/>
          </a:prstGeom>
          <a:solidFill>
            <a:srgbClr val="FFFFFF"/>
          </a:solidFill>
          <a:ln w="12700">
            <a:solidFill>
              <a:srgbClr val="E7E6E6"/>
            </a:solidFill>
            <a:prstDash val="solid"/>
          </a:ln>
        </p:spPr>
        <p:txBody>
          <a:bodyPr/>
          <a:lstStyle/>
          <a:p>
            <a:endParaRPr lang="fr-FR"/>
          </a:p>
        </p:txBody>
      </p:sp>
      <p:sp>
        <p:nvSpPr>
          <p:cNvPr id="62" name="Text 60"/>
          <p:cNvSpPr/>
          <p:nvPr/>
        </p:nvSpPr>
        <p:spPr>
          <a:xfrm>
            <a:off x="6492240" y="434340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Sauvegarde et restauration</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16/40</a:t>
            </a:r>
            <a:endParaRPr lang="en-US" sz="1000" dirty="0"/>
          </a:p>
        </p:txBody>
      </p:sp>
      <p:sp>
        <p:nvSpPr>
          <p:cNvPr id="5" name="Text 3"/>
          <p:cNvSpPr/>
          <p:nvPr/>
        </p:nvSpPr>
        <p:spPr>
          <a:xfrm>
            <a:off x="457200" y="822960"/>
            <a:ext cx="8229600" cy="274320"/>
          </a:xfrm>
          <a:prstGeom prst="rect">
            <a:avLst/>
          </a:prstGeom>
          <a:noFill/>
          <a:ln/>
        </p:spPr>
        <p:txBody>
          <a:bodyPr wrap="square" rtlCol="0" anchor="ctr"/>
          <a:lstStyle/>
          <a:p>
            <a:pPr marL="0" indent="0">
              <a:buNone/>
            </a:pPr>
            <a:r>
              <a:rPr lang="en-US" sz="1400" b="1" dirty="0">
                <a:solidFill>
                  <a:srgbClr val="1F4E78"/>
                </a:solidFill>
              </a:rPr>
              <a:t>Protection contre les incidents</a:t>
            </a:r>
            <a:endParaRPr lang="en-US" sz="1400" dirty="0"/>
          </a:p>
        </p:txBody>
      </p:sp>
      <p:sp>
        <p:nvSpPr>
          <p:cNvPr id="6" name="Shape 4"/>
          <p:cNvSpPr/>
          <p:nvPr/>
        </p:nvSpPr>
        <p:spPr>
          <a:xfrm>
            <a:off x="731520" y="1371600"/>
            <a:ext cx="1645920" cy="548640"/>
          </a:xfrm>
          <a:prstGeom prst="rect">
            <a:avLst/>
          </a:prstGeom>
          <a:solidFill>
            <a:srgbClr val="F79646"/>
          </a:solidFill>
          <a:ln/>
        </p:spPr>
        <p:txBody>
          <a:bodyPr/>
          <a:lstStyle/>
          <a:p>
            <a:endParaRPr lang="fr-FR"/>
          </a:p>
        </p:txBody>
      </p:sp>
      <p:sp>
        <p:nvSpPr>
          <p:cNvPr id="7" name="Text 5"/>
          <p:cNvSpPr/>
          <p:nvPr/>
        </p:nvSpPr>
        <p:spPr>
          <a:xfrm>
            <a:off x="731520" y="1371600"/>
            <a:ext cx="1645920" cy="548640"/>
          </a:xfrm>
          <a:prstGeom prst="rect">
            <a:avLst/>
          </a:prstGeom>
          <a:noFill/>
          <a:ln/>
        </p:spPr>
        <p:txBody>
          <a:bodyPr wrap="square" rtlCol="0" anchor="ctr"/>
          <a:lstStyle/>
          <a:p>
            <a:pPr marL="0" indent="0" algn="ctr">
              <a:buNone/>
            </a:pPr>
            <a:r>
              <a:rPr lang="en-US" sz="1000" b="1" dirty="0">
                <a:solidFill>
                  <a:srgbClr val="FFFFFF"/>
                </a:solidFill>
              </a:rPr>
              <a:t>Base de données</a:t>
            </a:r>
            <a:endParaRPr lang="en-US" sz="1000" dirty="0"/>
          </a:p>
        </p:txBody>
      </p:sp>
      <p:sp>
        <p:nvSpPr>
          <p:cNvPr id="8" name="Shape 6"/>
          <p:cNvSpPr/>
          <p:nvPr/>
        </p:nvSpPr>
        <p:spPr>
          <a:xfrm>
            <a:off x="2560320" y="1645920"/>
            <a:ext cx="457200" cy="0"/>
          </a:xfrm>
          <a:prstGeom prst="line">
            <a:avLst/>
          </a:prstGeom>
          <a:noFill/>
          <a:ln w="25400">
            <a:solidFill>
              <a:srgbClr val="1F1F1F"/>
            </a:solidFill>
            <a:prstDash val="solid"/>
          </a:ln>
        </p:spPr>
        <p:txBody>
          <a:bodyPr/>
          <a:lstStyle/>
          <a:p>
            <a:endParaRPr lang="fr-FR"/>
          </a:p>
        </p:txBody>
      </p:sp>
      <p:sp>
        <p:nvSpPr>
          <p:cNvPr id="9" name="Shape 7"/>
          <p:cNvSpPr/>
          <p:nvPr/>
        </p:nvSpPr>
        <p:spPr>
          <a:xfrm>
            <a:off x="3200400" y="1371600"/>
            <a:ext cx="1645920" cy="548640"/>
          </a:xfrm>
          <a:prstGeom prst="rect">
            <a:avLst/>
          </a:prstGeom>
          <a:solidFill>
            <a:srgbClr val="1F4E78"/>
          </a:solidFill>
          <a:ln/>
        </p:spPr>
        <p:txBody>
          <a:bodyPr/>
          <a:lstStyle/>
          <a:p>
            <a:endParaRPr lang="fr-FR"/>
          </a:p>
        </p:txBody>
      </p:sp>
      <p:sp>
        <p:nvSpPr>
          <p:cNvPr id="10" name="Text 8"/>
          <p:cNvSpPr/>
          <p:nvPr/>
        </p:nvSpPr>
        <p:spPr>
          <a:xfrm>
            <a:off x="3200400" y="1371600"/>
            <a:ext cx="1645920" cy="548640"/>
          </a:xfrm>
          <a:prstGeom prst="rect">
            <a:avLst/>
          </a:prstGeom>
          <a:noFill/>
          <a:ln/>
        </p:spPr>
        <p:txBody>
          <a:bodyPr wrap="square" rtlCol="0" anchor="ctr"/>
          <a:lstStyle/>
          <a:p>
            <a:pPr marL="0" indent="0" algn="ctr">
              <a:buNone/>
            </a:pPr>
            <a:r>
              <a:rPr lang="en-US" sz="1000" b="1" dirty="0">
                <a:solidFill>
                  <a:srgbClr val="FFFFFF"/>
                </a:solidFill>
              </a:rPr>
              <a:t>Backup (copie)</a:t>
            </a:r>
            <a:endParaRPr lang="en-US" sz="1000" dirty="0"/>
          </a:p>
        </p:txBody>
      </p:sp>
      <p:sp>
        <p:nvSpPr>
          <p:cNvPr id="11" name="Shape 9"/>
          <p:cNvSpPr/>
          <p:nvPr/>
        </p:nvSpPr>
        <p:spPr>
          <a:xfrm>
            <a:off x="1371600" y="2286000"/>
            <a:ext cx="1645920" cy="548640"/>
          </a:xfrm>
          <a:prstGeom prst="rect">
            <a:avLst/>
          </a:prstGeom>
          <a:solidFill>
            <a:srgbClr val="FF6B6B"/>
          </a:solidFill>
          <a:ln/>
        </p:spPr>
        <p:txBody>
          <a:bodyPr/>
          <a:lstStyle/>
          <a:p>
            <a:endParaRPr lang="fr-FR"/>
          </a:p>
        </p:txBody>
      </p:sp>
      <p:sp>
        <p:nvSpPr>
          <p:cNvPr id="12" name="Text 10"/>
          <p:cNvSpPr/>
          <p:nvPr/>
        </p:nvSpPr>
        <p:spPr>
          <a:xfrm>
            <a:off x="1371600" y="2286000"/>
            <a:ext cx="1645920" cy="548640"/>
          </a:xfrm>
          <a:prstGeom prst="rect">
            <a:avLst/>
          </a:prstGeom>
          <a:noFill/>
          <a:ln/>
        </p:spPr>
        <p:txBody>
          <a:bodyPr wrap="square" rtlCol="0" anchor="ctr"/>
          <a:lstStyle/>
          <a:p>
            <a:pPr marL="0" indent="0" algn="ctr">
              <a:buNone/>
            </a:pPr>
            <a:r>
              <a:rPr lang="en-US" sz="1000" b="1" dirty="0">
                <a:solidFill>
                  <a:srgbClr val="FFFFFF"/>
                </a:solidFill>
              </a:rPr>
              <a:t>Incident/Panne</a:t>
            </a:r>
            <a:endParaRPr lang="en-US" sz="1000" dirty="0"/>
          </a:p>
        </p:txBody>
      </p:sp>
      <p:sp>
        <p:nvSpPr>
          <p:cNvPr id="13" name="Shape 11"/>
          <p:cNvSpPr/>
          <p:nvPr/>
        </p:nvSpPr>
        <p:spPr>
          <a:xfrm>
            <a:off x="3200400" y="2560320"/>
            <a:ext cx="457200" cy="0"/>
          </a:xfrm>
          <a:prstGeom prst="line">
            <a:avLst/>
          </a:prstGeom>
          <a:noFill/>
          <a:ln w="25400">
            <a:solidFill>
              <a:srgbClr val="1F1F1F"/>
            </a:solidFill>
            <a:prstDash val="solid"/>
          </a:ln>
        </p:spPr>
        <p:txBody>
          <a:bodyPr/>
          <a:lstStyle/>
          <a:p>
            <a:endParaRPr lang="fr-FR"/>
          </a:p>
        </p:txBody>
      </p:sp>
      <p:sp>
        <p:nvSpPr>
          <p:cNvPr id="14" name="Shape 12"/>
          <p:cNvSpPr/>
          <p:nvPr/>
        </p:nvSpPr>
        <p:spPr>
          <a:xfrm>
            <a:off x="3840480" y="2286000"/>
            <a:ext cx="1645920" cy="548640"/>
          </a:xfrm>
          <a:prstGeom prst="rect">
            <a:avLst/>
          </a:prstGeom>
          <a:solidFill>
            <a:srgbClr val="F79646"/>
          </a:solidFill>
          <a:ln/>
        </p:spPr>
        <p:txBody>
          <a:bodyPr/>
          <a:lstStyle/>
          <a:p>
            <a:endParaRPr lang="fr-FR"/>
          </a:p>
        </p:txBody>
      </p:sp>
      <p:sp>
        <p:nvSpPr>
          <p:cNvPr id="15" name="Text 13"/>
          <p:cNvSpPr/>
          <p:nvPr/>
        </p:nvSpPr>
        <p:spPr>
          <a:xfrm>
            <a:off x="3840480" y="2286000"/>
            <a:ext cx="1645920" cy="548640"/>
          </a:xfrm>
          <a:prstGeom prst="rect">
            <a:avLst/>
          </a:prstGeom>
          <a:noFill/>
          <a:ln/>
        </p:spPr>
        <p:txBody>
          <a:bodyPr wrap="square" rtlCol="0" anchor="ctr"/>
          <a:lstStyle/>
          <a:p>
            <a:pPr marL="0" indent="0" algn="ctr">
              <a:buNone/>
            </a:pPr>
            <a:r>
              <a:rPr lang="en-US" sz="1000" b="1" dirty="0">
                <a:solidFill>
                  <a:srgbClr val="FFFFFF"/>
                </a:solidFill>
              </a:rPr>
              <a:t>Restore (récupération)</a:t>
            </a:r>
            <a:endParaRPr lang="en-US" sz="1000" dirty="0"/>
          </a:p>
        </p:txBody>
      </p:sp>
      <p:sp>
        <p:nvSpPr>
          <p:cNvPr id="16" name="Text 14"/>
          <p:cNvSpPr/>
          <p:nvPr/>
        </p:nvSpPr>
        <p:spPr>
          <a:xfrm>
            <a:off x="457200" y="3108960"/>
            <a:ext cx="8229600" cy="228600"/>
          </a:xfrm>
          <a:prstGeom prst="rect">
            <a:avLst/>
          </a:prstGeom>
          <a:noFill/>
          <a:ln/>
        </p:spPr>
        <p:txBody>
          <a:bodyPr wrap="square" rtlCol="0" anchor="ctr"/>
          <a:lstStyle/>
          <a:p>
            <a:pPr marL="0" indent="0">
              <a:buNone/>
            </a:pPr>
            <a:r>
              <a:rPr lang="en-US" sz="1200" b="1" dirty="0">
                <a:solidFill>
                  <a:srgbClr val="1F4E78"/>
                </a:solidFill>
              </a:rPr>
              <a:t>Stratégies courantes</a:t>
            </a:r>
            <a:endParaRPr lang="en-US" sz="1200" dirty="0"/>
          </a:p>
        </p:txBody>
      </p:sp>
      <p:sp>
        <p:nvSpPr>
          <p:cNvPr id="17" name="Text 15"/>
          <p:cNvSpPr/>
          <p:nvPr/>
        </p:nvSpPr>
        <p:spPr>
          <a:xfrm>
            <a:off x="731520" y="3474720"/>
            <a:ext cx="7955280" cy="274320"/>
          </a:xfrm>
          <a:prstGeom prst="rect">
            <a:avLst/>
          </a:prstGeom>
          <a:noFill/>
          <a:ln/>
        </p:spPr>
        <p:txBody>
          <a:bodyPr wrap="square" rtlCol="0" anchor="ctr"/>
          <a:lstStyle/>
          <a:p>
            <a:pPr marL="0" indent="0">
              <a:buNone/>
            </a:pPr>
            <a:r>
              <a:rPr lang="en-US" sz="1000" dirty="0">
                <a:solidFill>
                  <a:srgbClr val="1F1F1F"/>
                </a:solidFill>
              </a:rPr>
              <a:t>• Backup quotidien : chaque nuit à 23h</a:t>
            </a:r>
            <a:endParaRPr lang="en-US" sz="1000" dirty="0"/>
          </a:p>
        </p:txBody>
      </p:sp>
      <p:sp>
        <p:nvSpPr>
          <p:cNvPr id="18" name="Text 16"/>
          <p:cNvSpPr/>
          <p:nvPr/>
        </p:nvSpPr>
        <p:spPr>
          <a:xfrm>
            <a:off x="731520" y="3794760"/>
            <a:ext cx="7955280" cy="274320"/>
          </a:xfrm>
          <a:prstGeom prst="rect">
            <a:avLst/>
          </a:prstGeom>
          <a:noFill/>
          <a:ln/>
        </p:spPr>
        <p:txBody>
          <a:bodyPr wrap="square" rtlCol="0" anchor="ctr"/>
          <a:lstStyle/>
          <a:p>
            <a:pPr marL="0" indent="0">
              <a:buNone/>
            </a:pPr>
            <a:r>
              <a:rPr lang="en-US" sz="1000" dirty="0">
                <a:solidFill>
                  <a:srgbClr val="1F1F1F"/>
                </a:solidFill>
              </a:rPr>
              <a:t>• Backup horaire : toutes les heures durant les heures de bureau</a:t>
            </a:r>
            <a:endParaRPr lang="en-US" sz="1000" dirty="0"/>
          </a:p>
        </p:txBody>
      </p:sp>
      <p:sp>
        <p:nvSpPr>
          <p:cNvPr id="19" name="Text 17"/>
          <p:cNvSpPr/>
          <p:nvPr/>
        </p:nvSpPr>
        <p:spPr>
          <a:xfrm>
            <a:off x="731520" y="4114800"/>
            <a:ext cx="7955280" cy="274320"/>
          </a:xfrm>
          <a:prstGeom prst="rect">
            <a:avLst/>
          </a:prstGeom>
          <a:noFill/>
          <a:ln/>
        </p:spPr>
        <p:txBody>
          <a:bodyPr wrap="square" rtlCol="0" anchor="ctr"/>
          <a:lstStyle/>
          <a:p>
            <a:pPr marL="0" indent="0">
              <a:buNone/>
            </a:pPr>
            <a:r>
              <a:rPr lang="en-US" sz="1000" dirty="0">
                <a:solidFill>
                  <a:srgbClr val="1F1F1F"/>
                </a:solidFill>
              </a:rPr>
              <a:t>• Sauvegarde sur site (local) + hors site (cloud)</a:t>
            </a:r>
            <a:endParaRPr lang="en-US" sz="1000" dirty="0"/>
          </a:p>
        </p:txBody>
      </p:sp>
      <p:sp>
        <p:nvSpPr>
          <p:cNvPr id="20" name="Text 18"/>
          <p:cNvSpPr/>
          <p:nvPr/>
        </p:nvSpPr>
        <p:spPr>
          <a:xfrm>
            <a:off x="731520" y="4434840"/>
            <a:ext cx="7955280" cy="274320"/>
          </a:xfrm>
          <a:prstGeom prst="rect">
            <a:avLst/>
          </a:prstGeom>
          <a:noFill/>
          <a:ln/>
        </p:spPr>
        <p:txBody>
          <a:bodyPr wrap="square" rtlCol="0" anchor="ctr"/>
          <a:lstStyle/>
          <a:p>
            <a:pPr marL="0" indent="0">
              <a:buNone/>
            </a:pPr>
            <a:r>
              <a:rPr lang="en-US" sz="1000" dirty="0">
                <a:solidFill>
                  <a:srgbClr val="1F1F1F"/>
                </a:solidFill>
              </a:rPr>
              <a:t>• RPO (Recovery Point Objective) : données max 1h perdue acceptables ?</a:t>
            </a:r>
            <a:endParaRPr lang="en-US" sz="1000" dirty="0"/>
          </a:p>
        </p:txBody>
      </p:sp>
      <p:sp>
        <p:nvSpPr>
          <p:cNvPr id="21" name="Text 19"/>
          <p:cNvSpPr/>
          <p:nvPr/>
        </p:nvSpPr>
        <p:spPr>
          <a:xfrm>
            <a:off x="731520" y="4754880"/>
            <a:ext cx="7955280" cy="274320"/>
          </a:xfrm>
          <a:prstGeom prst="rect">
            <a:avLst/>
          </a:prstGeom>
          <a:noFill/>
          <a:ln/>
        </p:spPr>
        <p:txBody>
          <a:bodyPr wrap="square" rtlCol="0" anchor="ctr"/>
          <a:lstStyle/>
          <a:p>
            <a:pPr marL="0" indent="0">
              <a:buNone/>
            </a:pPr>
            <a:r>
              <a:rPr lang="en-US" sz="1000" dirty="0">
                <a:solidFill>
                  <a:srgbClr val="1F1F1F"/>
                </a:solidFill>
              </a:rPr>
              <a:t>• RTO (Recovery Time Objective) : combien de temps pour restaurer ?</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Exercice : Sécurité universitaire</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17/40</a:t>
            </a:r>
            <a:endParaRPr lang="en-US" sz="1000" dirty="0"/>
          </a:p>
        </p:txBody>
      </p:sp>
      <p:sp>
        <p:nvSpPr>
          <p:cNvPr id="5" name="Text 3"/>
          <p:cNvSpPr/>
          <p:nvPr/>
        </p:nvSpPr>
        <p:spPr>
          <a:xfrm>
            <a:off x="457200" y="822960"/>
            <a:ext cx="8229600" cy="228600"/>
          </a:xfrm>
          <a:prstGeom prst="rect">
            <a:avLst/>
          </a:prstGeom>
          <a:noFill/>
          <a:ln/>
        </p:spPr>
        <p:txBody>
          <a:bodyPr wrap="square" rtlCol="0" anchor="ctr"/>
          <a:lstStyle/>
          <a:p>
            <a:pPr marL="0" indent="0">
              <a:buNone/>
            </a:pPr>
            <a:r>
              <a:rPr lang="en-US" sz="1300" b="1" dirty="0">
                <a:solidFill>
                  <a:srgbClr val="1F4E78"/>
                </a:solidFill>
              </a:rPr>
              <a:t>Scenario</a:t>
            </a:r>
            <a:endParaRPr lang="en-US" sz="1300" dirty="0"/>
          </a:p>
        </p:txBody>
      </p:sp>
      <p:sp>
        <p:nvSpPr>
          <p:cNvPr id="6" name="Text 4"/>
          <p:cNvSpPr/>
          <p:nvPr/>
        </p:nvSpPr>
        <p:spPr>
          <a:xfrm>
            <a:off x="457200" y="1143000"/>
            <a:ext cx="8229600" cy="274320"/>
          </a:xfrm>
          <a:prstGeom prst="rect">
            <a:avLst/>
          </a:prstGeom>
          <a:noFill/>
          <a:ln/>
        </p:spPr>
        <p:txBody>
          <a:bodyPr wrap="square" rtlCol="0" anchor="ctr"/>
          <a:lstStyle/>
          <a:p>
            <a:pPr marL="0" indent="0">
              <a:buNone/>
            </a:pPr>
            <a:r>
              <a:rPr lang="en-US" sz="1100" dirty="0">
                <a:solidFill>
                  <a:srgbClr val="1F1F1F"/>
                </a:solidFill>
              </a:rPr>
              <a:t>Une université possède une base de données académique avec les tables suivantes :</a:t>
            </a:r>
            <a:endParaRPr lang="en-US" sz="1100" dirty="0"/>
          </a:p>
        </p:txBody>
      </p:sp>
      <p:sp>
        <p:nvSpPr>
          <p:cNvPr id="7" name="Text 5"/>
          <p:cNvSpPr/>
          <p:nvPr/>
        </p:nvSpPr>
        <p:spPr>
          <a:xfrm>
            <a:off x="914400" y="1554480"/>
            <a:ext cx="7772400" cy="274320"/>
          </a:xfrm>
          <a:prstGeom prst="rect">
            <a:avLst/>
          </a:prstGeom>
          <a:noFill/>
          <a:ln/>
        </p:spPr>
        <p:txBody>
          <a:bodyPr wrap="square" rtlCol="0" anchor="ctr"/>
          <a:lstStyle/>
          <a:p>
            <a:pPr marL="0" indent="0">
              <a:buNone/>
            </a:pPr>
            <a:r>
              <a:rPr lang="en-US" sz="1000" dirty="0">
                <a:solidFill>
                  <a:srgbClr val="1F1F1F"/>
                </a:solidFill>
              </a:rPr>
              <a:t>• Administrateur (gestionnaire IT)</a:t>
            </a:r>
            <a:endParaRPr lang="en-US" sz="1000" dirty="0"/>
          </a:p>
        </p:txBody>
      </p:sp>
      <p:sp>
        <p:nvSpPr>
          <p:cNvPr id="8" name="Text 6"/>
          <p:cNvSpPr/>
          <p:nvPr/>
        </p:nvSpPr>
        <p:spPr>
          <a:xfrm>
            <a:off x="914400" y="1874520"/>
            <a:ext cx="7772400" cy="274320"/>
          </a:xfrm>
          <a:prstGeom prst="rect">
            <a:avLst/>
          </a:prstGeom>
          <a:noFill/>
          <a:ln/>
        </p:spPr>
        <p:txBody>
          <a:bodyPr wrap="square" rtlCol="0" anchor="ctr"/>
          <a:lstStyle/>
          <a:p>
            <a:pPr marL="0" indent="0">
              <a:buNone/>
            </a:pPr>
            <a:r>
              <a:rPr lang="en-US" sz="1000" dirty="0">
                <a:solidFill>
                  <a:srgbClr val="1F1F1F"/>
                </a:solidFill>
              </a:rPr>
              <a:t>• Enseignant (consultant les notes et les met à jour)</a:t>
            </a:r>
            <a:endParaRPr lang="en-US" sz="1000" dirty="0"/>
          </a:p>
        </p:txBody>
      </p:sp>
      <p:sp>
        <p:nvSpPr>
          <p:cNvPr id="9" name="Text 7"/>
          <p:cNvSpPr/>
          <p:nvPr/>
        </p:nvSpPr>
        <p:spPr>
          <a:xfrm>
            <a:off x="914400" y="2194560"/>
            <a:ext cx="7772400" cy="274320"/>
          </a:xfrm>
          <a:prstGeom prst="rect">
            <a:avLst/>
          </a:prstGeom>
          <a:noFill/>
          <a:ln/>
        </p:spPr>
        <p:txBody>
          <a:bodyPr wrap="square" rtlCol="0" anchor="ctr"/>
          <a:lstStyle/>
          <a:p>
            <a:pPr marL="0" indent="0">
              <a:buNone/>
            </a:pPr>
            <a:r>
              <a:rPr lang="en-US" sz="1000" dirty="0">
                <a:solidFill>
                  <a:srgbClr val="1F1F1F"/>
                </a:solidFill>
              </a:rPr>
              <a:t>• Étudiant (consulte uniquement ses notes)</a:t>
            </a:r>
            <a:endParaRPr lang="en-US" sz="1000" dirty="0"/>
          </a:p>
        </p:txBody>
      </p:sp>
      <p:sp>
        <p:nvSpPr>
          <p:cNvPr id="10" name="Text 8"/>
          <p:cNvSpPr/>
          <p:nvPr/>
        </p:nvSpPr>
        <p:spPr>
          <a:xfrm>
            <a:off x="914400" y="2514600"/>
            <a:ext cx="7772400" cy="274320"/>
          </a:xfrm>
          <a:prstGeom prst="rect">
            <a:avLst/>
          </a:prstGeom>
          <a:noFill/>
          <a:ln/>
        </p:spPr>
        <p:txBody>
          <a:bodyPr wrap="square" rtlCol="0" anchor="ctr"/>
          <a:lstStyle/>
          <a:p>
            <a:pPr marL="0" indent="0">
              <a:buNone/>
            </a:pPr>
            <a:r>
              <a:rPr lang="en-US" sz="1000" dirty="0">
                <a:solidFill>
                  <a:srgbClr val="1F1F1F"/>
                </a:solidFill>
              </a:rPr>
              <a:t>• Service de scolarité (gère les inscriptions)</a:t>
            </a:r>
            <a:endParaRPr lang="en-US" sz="1000" dirty="0"/>
          </a:p>
        </p:txBody>
      </p:sp>
      <p:sp>
        <p:nvSpPr>
          <p:cNvPr id="11" name="Shape 9"/>
          <p:cNvSpPr/>
          <p:nvPr/>
        </p:nvSpPr>
        <p:spPr>
          <a:xfrm>
            <a:off x="457200" y="3200400"/>
            <a:ext cx="8229600" cy="1463040"/>
          </a:xfrm>
          <a:prstGeom prst="rect">
            <a:avLst/>
          </a:prstGeom>
          <a:solidFill>
            <a:srgbClr val="E7E6E6"/>
          </a:solidFill>
          <a:ln w="25400">
            <a:solidFill>
              <a:srgbClr val="F79646"/>
            </a:solidFill>
            <a:prstDash val="solid"/>
          </a:ln>
        </p:spPr>
        <p:txBody>
          <a:bodyPr/>
          <a:lstStyle/>
          <a:p>
            <a:endParaRPr lang="fr-FR"/>
          </a:p>
        </p:txBody>
      </p:sp>
      <p:sp>
        <p:nvSpPr>
          <p:cNvPr id="12" name="Text 10"/>
          <p:cNvSpPr/>
          <p:nvPr/>
        </p:nvSpPr>
        <p:spPr>
          <a:xfrm>
            <a:off x="640080" y="3291840"/>
            <a:ext cx="7863840" cy="228600"/>
          </a:xfrm>
          <a:prstGeom prst="rect">
            <a:avLst/>
          </a:prstGeom>
          <a:noFill/>
          <a:ln/>
        </p:spPr>
        <p:txBody>
          <a:bodyPr wrap="square" rtlCol="0" anchor="ctr"/>
          <a:lstStyle/>
          <a:p>
            <a:pPr marL="0" indent="0">
              <a:buNone/>
            </a:pPr>
            <a:r>
              <a:rPr lang="en-US" sz="1100" b="1" dirty="0">
                <a:solidFill>
                  <a:srgbClr val="1F4E78"/>
                </a:solidFill>
              </a:rPr>
              <a:t>Travail en petits groupes (15 minutes)</a:t>
            </a:r>
            <a:endParaRPr lang="en-US" sz="1100" dirty="0"/>
          </a:p>
        </p:txBody>
      </p:sp>
      <p:sp>
        <p:nvSpPr>
          <p:cNvPr id="13" name="Text 11"/>
          <p:cNvSpPr/>
          <p:nvPr/>
        </p:nvSpPr>
        <p:spPr>
          <a:xfrm>
            <a:off x="822960" y="3611880"/>
            <a:ext cx="7498080" cy="320040"/>
          </a:xfrm>
          <a:prstGeom prst="rect">
            <a:avLst/>
          </a:prstGeom>
          <a:noFill/>
          <a:ln/>
        </p:spPr>
        <p:txBody>
          <a:bodyPr wrap="square" rtlCol="0" anchor="ctr"/>
          <a:lstStyle/>
          <a:p>
            <a:pPr marL="0" indent="0">
              <a:buNone/>
            </a:pPr>
            <a:r>
              <a:rPr lang="en-US" sz="1000" dirty="0">
                <a:solidFill>
                  <a:srgbClr val="1F1F1F"/>
                </a:solidFill>
              </a:rPr>
              <a:t>1. Déterminer les permissions (SELECT, INSERT, UPDATE, DELETE) pour chaque rôle</a:t>
            </a:r>
            <a:endParaRPr lang="en-US" sz="1000" dirty="0"/>
          </a:p>
        </p:txBody>
      </p:sp>
      <p:sp>
        <p:nvSpPr>
          <p:cNvPr id="14" name="Text 12"/>
          <p:cNvSpPr/>
          <p:nvPr/>
        </p:nvSpPr>
        <p:spPr>
          <a:xfrm>
            <a:off x="822960" y="3977640"/>
            <a:ext cx="7498080" cy="320040"/>
          </a:xfrm>
          <a:prstGeom prst="rect">
            <a:avLst/>
          </a:prstGeom>
          <a:noFill/>
          <a:ln/>
        </p:spPr>
        <p:txBody>
          <a:bodyPr wrap="square" rtlCol="0" anchor="ctr"/>
          <a:lstStyle/>
          <a:p>
            <a:pPr marL="0" indent="0">
              <a:buNone/>
            </a:pPr>
            <a:r>
              <a:rPr lang="en-US" sz="1000" dirty="0">
                <a:solidFill>
                  <a:srgbClr val="1F1F1F"/>
                </a:solidFill>
              </a:rPr>
              <a:t>2. Définir les restrictions (exemple : enseignant = ses cours uniquement)</a:t>
            </a:r>
            <a:endParaRPr lang="en-US" sz="1000" dirty="0"/>
          </a:p>
        </p:txBody>
      </p:sp>
      <p:sp>
        <p:nvSpPr>
          <p:cNvPr id="15" name="Text 13"/>
          <p:cNvSpPr/>
          <p:nvPr/>
        </p:nvSpPr>
        <p:spPr>
          <a:xfrm>
            <a:off x="822960" y="4343400"/>
            <a:ext cx="7498080" cy="320040"/>
          </a:xfrm>
          <a:prstGeom prst="rect">
            <a:avLst/>
          </a:prstGeom>
          <a:noFill/>
          <a:ln/>
        </p:spPr>
        <p:txBody>
          <a:bodyPr wrap="square" rtlCol="0" anchor="ctr"/>
          <a:lstStyle/>
          <a:p>
            <a:pPr marL="0" indent="0">
              <a:buNone/>
            </a:pPr>
            <a:r>
              <a:rPr lang="en-US" sz="1000" dirty="0">
                <a:solidFill>
                  <a:srgbClr val="1F1F1F"/>
                </a:solidFill>
              </a:rPr>
              <a:t>3. Identifier les données sensibles (exemple : notes)</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Introduction au modèle relationnel</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18/40</a:t>
            </a:r>
            <a:endParaRPr lang="en-US" sz="1000" dirty="0"/>
          </a:p>
        </p:txBody>
      </p:sp>
      <p:sp>
        <p:nvSpPr>
          <p:cNvPr id="5" name="Text 3"/>
          <p:cNvSpPr/>
          <p:nvPr/>
        </p:nvSpPr>
        <p:spPr>
          <a:xfrm>
            <a:off x="457200" y="822960"/>
            <a:ext cx="8229600" cy="228600"/>
          </a:xfrm>
          <a:prstGeom prst="rect">
            <a:avLst/>
          </a:prstGeom>
          <a:noFill/>
          <a:ln/>
        </p:spPr>
        <p:txBody>
          <a:bodyPr wrap="square" rtlCol="0" anchor="ctr"/>
          <a:lstStyle/>
          <a:p>
            <a:pPr marL="0" indent="0">
              <a:buNone/>
            </a:pPr>
            <a:r>
              <a:rPr lang="en-US" sz="1400" b="1" dirty="0">
                <a:solidFill>
                  <a:srgbClr val="1F4E78"/>
                </a:solidFill>
              </a:rPr>
              <a:t>Concept fondamental</a:t>
            </a:r>
            <a:endParaRPr lang="en-US" sz="1400" dirty="0"/>
          </a:p>
        </p:txBody>
      </p:sp>
      <p:sp>
        <p:nvSpPr>
          <p:cNvPr id="6" name="Text 4"/>
          <p:cNvSpPr/>
          <p:nvPr/>
        </p:nvSpPr>
        <p:spPr>
          <a:xfrm>
            <a:off x="457200" y="1143000"/>
            <a:ext cx="8229600" cy="548640"/>
          </a:xfrm>
          <a:prstGeom prst="rect">
            <a:avLst/>
          </a:prstGeom>
          <a:noFill/>
          <a:ln/>
        </p:spPr>
        <p:txBody>
          <a:bodyPr wrap="square" rtlCol="0" anchor="ctr"/>
          <a:lstStyle/>
          <a:p>
            <a:pPr marL="0" indent="0" algn="l">
              <a:buNone/>
            </a:pPr>
            <a:r>
              <a:rPr lang="en-US" sz="1200" b="1" dirty="0">
                <a:solidFill>
                  <a:srgbClr val="1F1F1F"/>
                </a:solidFill>
              </a:rPr>
              <a:t>Une base relationnelle organise les données sous forme de relations, représentées par des tables.</a:t>
            </a:r>
            <a:endParaRPr lang="en-US" sz="1200" dirty="0"/>
          </a:p>
        </p:txBody>
      </p:sp>
      <p:sp>
        <p:nvSpPr>
          <p:cNvPr id="7" name="Text 5"/>
          <p:cNvSpPr/>
          <p:nvPr/>
        </p:nvSpPr>
        <p:spPr>
          <a:xfrm>
            <a:off x="457200" y="1920240"/>
            <a:ext cx="8229600" cy="228600"/>
          </a:xfrm>
          <a:prstGeom prst="rect">
            <a:avLst/>
          </a:prstGeom>
          <a:noFill/>
          <a:ln/>
        </p:spPr>
        <p:txBody>
          <a:bodyPr wrap="square" rtlCol="0" anchor="ctr"/>
          <a:lstStyle/>
          <a:p>
            <a:pPr marL="0" indent="0">
              <a:buNone/>
            </a:pPr>
            <a:r>
              <a:rPr lang="en-US" sz="1200" b="1" dirty="0">
                <a:solidFill>
                  <a:srgbClr val="1F4E78"/>
                </a:solidFill>
              </a:rPr>
              <a:t>Exemple : Table ETUDIANT</a:t>
            </a:r>
            <a:endParaRPr lang="en-US" sz="1200" dirty="0"/>
          </a:p>
        </p:txBody>
      </p:sp>
      <p:sp>
        <p:nvSpPr>
          <p:cNvPr id="8" name="Shape 6"/>
          <p:cNvSpPr/>
          <p:nvPr/>
        </p:nvSpPr>
        <p:spPr>
          <a:xfrm>
            <a:off x="457200" y="2240280"/>
            <a:ext cx="1097280" cy="320040"/>
          </a:xfrm>
          <a:prstGeom prst="rect">
            <a:avLst/>
          </a:prstGeom>
          <a:solidFill>
            <a:srgbClr val="2E75B6"/>
          </a:solidFill>
          <a:ln w="12700">
            <a:solidFill>
              <a:srgbClr val="E7E6E6"/>
            </a:solidFill>
            <a:prstDash val="solid"/>
          </a:ln>
        </p:spPr>
        <p:txBody>
          <a:bodyPr/>
          <a:lstStyle/>
          <a:p>
            <a:endParaRPr lang="fr-FR"/>
          </a:p>
        </p:txBody>
      </p:sp>
      <p:sp>
        <p:nvSpPr>
          <p:cNvPr id="9" name="Text 7"/>
          <p:cNvSpPr/>
          <p:nvPr/>
        </p:nvSpPr>
        <p:spPr>
          <a:xfrm>
            <a:off x="502920" y="2240280"/>
            <a:ext cx="1005840" cy="320040"/>
          </a:xfrm>
          <a:prstGeom prst="rect">
            <a:avLst/>
          </a:prstGeom>
          <a:noFill/>
          <a:ln/>
        </p:spPr>
        <p:txBody>
          <a:bodyPr wrap="square" rtlCol="0" anchor="ctr"/>
          <a:lstStyle/>
          <a:p>
            <a:pPr marL="0" indent="0" algn="ctr">
              <a:buNone/>
            </a:pPr>
            <a:r>
              <a:rPr lang="en-US" sz="1000" b="1" dirty="0">
                <a:solidFill>
                  <a:srgbClr val="FFFFFF"/>
                </a:solidFill>
              </a:rPr>
              <a:t>id</a:t>
            </a:r>
            <a:endParaRPr lang="en-US" sz="1000" dirty="0"/>
          </a:p>
        </p:txBody>
      </p:sp>
      <p:sp>
        <p:nvSpPr>
          <p:cNvPr id="10" name="Shape 8"/>
          <p:cNvSpPr/>
          <p:nvPr/>
        </p:nvSpPr>
        <p:spPr>
          <a:xfrm>
            <a:off x="1554480" y="2240280"/>
            <a:ext cx="1645920" cy="320040"/>
          </a:xfrm>
          <a:prstGeom prst="rect">
            <a:avLst/>
          </a:prstGeom>
          <a:solidFill>
            <a:srgbClr val="2E75B6"/>
          </a:solidFill>
          <a:ln w="12700">
            <a:solidFill>
              <a:srgbClr val="E7E6E6"/>
            </a:solidFill>
            <a:prstDash val="solid"/>
          </a:ln>
        </p:spPr>
        <p:txBody>
          <a:bodyPr/>
          <a:lstStyle/>
          <a:p>
            <a:endParaRPr lang="fr-FR"/>
          </a:p>
        </p:txBody>
      </p:sp>
      <p:sp>
        <p:nvSpPr>
          <p:cNvPr id="11" name="Text 9"/>
          <p:cNvSpPr/>
          <p:nvPr/>
        </p:nvSpPr>
        <p:spPr>
          <a:xfrm>
            <a:off x="1600200" y="2240280"/>
            <a:ext cx="1554480" cy="320040"/>
          </a:xfrm>
          <a:prstGeom prst="rect">
            <a:avLst/>
          </a:prstGeom>
          <a:noFill/>
          <a:ln/>
        </p:spPr>
        <p:txBody>
          <a:bodyPr wrap="square" rtlCol="0" anchor="ctr"/>
          <a:lstStyle/>
          <a:p>
            <a:pPr marL="0" indent="0" algn="ctr">
              <a:buNone/>
            </a:pPr>
            <a:r>
              <a:rPr lang="en-US" sz="1000" b="1" dirty="0">
                <a:solidFill>
                  <a:srgbClr val="FFFFFF"/>
                </a:solidFill>
              </a:rPr>
              <a:t>nom</a:t>
            </a:r>
            <a:endParaRPr lang="en-US" sz="1000" dirty="0"/>
          </a:p>
        </p:txBody>
      </p:sp>
      <p:sp>
        <p:nvSpPr>
          <p:cNvPr id="12" name="Shape 10"/>
          <p:cNvSpPr/>
          <p:nvPr/>
        </p:nvSpPr>
        <p:spPr>
          <a:xfrm>
            <a:off x="3200400" y="2240280"/>
            <a:ext cx="1645920" cy="320040"/>
          </a:xfrm>
          <a:prstGeom prst="rect">
            <a:avLst/>
          </a:prstGeom>
          <a:solidFill>
            <a:srgbClr val="2E75B6"/>
          </a:solidFill>
          <a:ln w="12700">
            <a:solidFill>
              <a:srgbClr val="E7E6E6"/>
            </a:solidFill>
            <a:prstDash val="solid"/>
          </a:ln>
        </p:spPr>
        <p:txBody>
          <a:bodyPr/>
          <a:lstStyle/>
          <a:p>
            <a:endParaRPr lang="fr-FR"/>
          </a:p>
        </p:txBody>
      </p:sp>
      <p:sp>
        <p:nvSpPr>
          <p:cNvPr id="13" name="Text 11"/>
          <p:cNvSpPr/>
          <p:nvPr/>
        </p:nvSpPr>
        <p:spPr>
          <a:xfrm>
            <a:off x="3246120" y="2240280"/>
            <a:ext cx="1554480" cy="320040"/>
          </a:xfrm>
          <a:prstGeom prst="rect">
            <a:avLst/>
          </a:prstGeom>
          <a:noFill/>
          <a:ln/>
        </p:spPr>
        <p:txBody>
          <a:bodyPr wrap="square" rtlCol="0" anchor="ctr"/>
          <a:lstStyle/>
          <a:p>
            <a:pPr marL="0" indent="0" algn="ctr">
              <a:buNone/>
            </a:pPr>
            <a:r>
              <a:rPr lang="en-US" sz="1000" b="1" dirty="0">
                <a:solidFill>
                  <a:srgbClr val="FFFFFF"/>
                </a:solidFill>
              </a:rPr>
              <a:t>prenom</a:t>
            </a:r>
            <a:endParaRPr lang="en-US" sz="1000" dirty="0"/>
          </a:p>
        </p:txBody>
      </p:sp>
      <p:sp>
        <p:nvSpPr>
          <p:cNvPr id="14" name="Shape 12"/>
          <p:cNvSpPr/>
          <p:nvPr/>
        </p:nvSpPr>
        <p:spPr>
          <a:xfrm>
            <a:off x="4846320" y="2240280"/>
            <a:ext cx="2743200" cy="320040"/>
          </a:xfrm>
          <a:prstGeom prst="rect">
            <a:avLst/>
          </a:prstGeom>
          <a:solidFill>
            <a:srgbClr val="2E75B6"/>
          </a:solidFill>
          <a:ln w="12700">
            <a:solidFill>
              <a:srgbClr val="E7E6E6"/>
            </a:solidFill>
            <a:prstDash val="solid"/>
          </a:ln>
        </p:spPr>
        <p:txBody>
          <a:bodyPr/>
          <a:lstStyle/>
          <a:p>
            <a:endParaRPr lang="fr-FR"/>
          </a:p>
        </p:txBody>
      </p:sp>
      <p:sp>
        <p:nvSpPr>
          <p:cNvPr id="15" name="Text 13"/>
          <p:cNvSpPr/>
          <p:nvPr/>
        </p:nvSpPr>
        <p:spPr>
          <a:xfrm>
            <a:off x="4892040" y="2240280"/>
            <a:ext cx="2651760" cy="320040"/>
          </a:xfrm>
          <a:prstGeom prst="rect">
            <a:avLst/>
          </a:prstGeom>
          <a:noFill/>
          <a:ln/>
        </p:spPr>
        <p:txBody>
          <a:bodyPr wrap="square" rtlCol="0" anchor="ctr"/>
          <a:lstStyle/>
          <a:p>
            <a:pPr marL="0" indent="0" algn="ctr">
              <a:buNone/>
            </a:pPr>
            <a:r>
              <a:rPr lang="en-US" sz="1000" b="1" dirty="0">
                <a:solidFill>
                  <a:srgbClr val="FFFFFF"/>
                </a:solidFill>
              </a:rPr>
              <a:t>email</a:t>
            </a:r>
            <a:endParaRPr lang="en-US" sz="1000" dirty="0"/>
          </a:p>
        </p:txBody>
      </p:sp>
      <p:sp>
        <p:nvSpPr>
          <p:cNvPr id="16" name="Shape 14"/>
          <p:cNvSpPr/>
          <p:nvPr/>
        </p:nvSpPr>
        <p:spPr>
          <a:xfrm>
            <a:off x="457200" y="2560320"/>
            <a:ext cx="1097280" cy="320040"/>
          </a:xfrm>
          <a:prstGeom prst="rect">
            <a:avLst/>
          </a:prstGeom>
          <a:solidFill>
            <a:srgbClr val="FFFFFF"/>
          </a:solidFill>
          <a:ln w="12700">
            <a:solidFill>
              <a:srgbClr val="E7E6E6"/>
            </a:solidFill>
            <a:prstDash val="solid"/>
          </a:ln>
        </p:spPr>
        <p:txBody>
          <a:bodyPr/>
          <a:lstStyle/>
          <a:p>
            <a:endParaRPr lang="fr-FR"/>
          </a:p>
        </p:txBody>
      </p:sp>
      <p:sp>
        <p:nvSpPr>
          <p:cNvPr id="17" name="Text 15"/>
          <p:cNvSpPr/>
          <p:nvPr/>
        </p:nvSpPr>
        <p:spPr>
          <a:xfrm>
            <a:off x="502920" y="2560320"/>
            <a:ext cx="1005840" cy="320040"/>
          </a:xfrm>
          <a:prstGeom prst="rect">
            <a:avLst/>
          </a:prstGeom>
          <a:noFill/>
          <a:ln/>
        </p:spPr>
        <p:txBody>
          <a:bodyPr wrap="square" rtlCol="0" anchor="ctr"/>
          <a:lstStyle/>
          <a:p>
            <a:pPr marL="0" indent="0" algn="ctr">
              <a:buNone/>
            </a:pPr>
            <a:r>
              <a:rPr lang="en-US" sz="1000" dirty="0">
                <a:solidFill>
                  <a:srgbClr val="1F1F1F"/>
                </a:solidFill>
              </a:rPr>
              <a:t>1</a:t>
            </a:r>
            <a:endParaRPr lang="en-US" sz="1000" dirty="0"/>
          </a:p>
        </p:txBody>
      </p:sp>
      <p:sp>
        <p:nvSpPr>
          <p:cNvPr id="18" name="Shape 16"/>
          <p:cNvSpPr/>
          <p:nvPr/>
        </p:nvSpPr>
        <p:spPr>
          <a:xfrm>
            <a:off x="1554480" y="2560320"/>
            <a:ext cx="1645920" cy="320040"/>
          </a:xfrm>
          <a:prstGeom prst="rect">
            <a:avLst/>
          </a:prstGeom>
          <a:solidFill>
            <a:srgbClr val="FFFFFF"/>
          </a:solidFill>
          <a:ln w="12700">
            <a:solidFill>
              <a:srgbClr val="E7E6E6"/>
            </a:solidFill>
            <a:prstDash val="solid"/>
          </a:ln>
        </p:spPr>
        <p:txBody>
          <a:bodyPr/>
          <a:lstStyle/>
          <a:p>
            <a:endParaRPr lang="fr-FR"/>
          </a:p>
        </p:txBody>
      </p:sp>
      <p:sp>
        <p:nvSpPr>
          <p:cNvPr id="19" name="Text 17"/>
          <p:cNvSpPr/>
          <p:nvPr/>
        </p:nvSpPr>
        <p:spPr>
          <a:xfrm>
            <a:off x="1600200" y="2560320"/>
            <a:ext cx="1554480" cy="320040"/>
          </a:xfrm>
          <a:prstGeom prst="rect">
            <a:avLst/>
          </a:prstGeom>
          <a:noFill/>
          <a:ln/>
        </p:spPr>
        <p:txBody>
          <a:bodyPr wrap="square" rtlCol="0" anchor="ctr"/>
          <a:lstStyle/>
          <a:p>
            <a:pPr marL="0" indent="0" algn="ctr">
              <a:buNone/>
            </a:pPr>
            <a:r>
              <a:rPr lang="en-US" sz="1000" dirty="0">
                <a:solidFill>
                  <a:srgbClr val="1F1F1F"/>
                </a:solidFill>
              </a:rPr>
              <a:t>Dupont</a:t>
            </a:r>
            <a:endParaRPr lang="en-US" sz="1000" dirty="0"/>
          </a:p>
        </p:txBody>
      </p:sp>
      <p:sp>
        <p:nvSpPr>
          <p:cNvPr id="20" name="Shape 18"/>
          <p:cNvSpPr/>
          <p:nvPr/>
        </p:nvSpPr>
        <p:spPr>
          <a:xfrm>
            <a:off x="3200400" y="2560320"/>
            <a:ext cx="1645920" cy="320040"/>
          </a:xfrm>
          <a:prstGeom prst="rect">
            <a:avLst/>
          </a:prstGeom>
          <a:solidFill>
            <a:srgbClr val="FFFFFF"/>
          </a:solidFill>
          <a:ln w="12700">
            <a:solidFill>
              <a:srgbClr val="E7E6E6"/>
            </a:solidFill>
            <a:prstDash val="solid"/>
          </a:ln>
        </p:spPr>
        <p:txBody>
          <a:bodyPr/>
          <a:lstStyle/>
          <a:p>
            <a:endParaRPr lang="fr-FR"/>
          </a:p>
        </p:txBody>
      </p:sp>
      <p:sp>
        <p:nvSpPr>
          <p:cNvPr id="21" name="Text 19"/>
          <p:cNvSpPr/>
          <p:nvPr/>
        </p:nvSpPr>
        <p:spPr>
          <a:xfrm>
            <a:off x="3246120" y="2560320"/>
            <a:ext cx="1554480" cy="320040"/>
          </a:xfrm>
          <a:prstGeom prst="rect">
            <a:avLst/>
          </a:prstGeom>
          <a:noFill/>
          <a:ln/>
        </p:spPr>
        <p:txBody>
          <a:bodyPr wrap="square" rtlCol="0" anchor="ctr"/>
          <a:lstStyle/>
          <a:p>
            <a:pPr marL="0" indent="0" algn="ctr">
              <a:buNone/>
            </a:pPr>
            <a:r>
              <a:rPr lang="en-US" sz="1000" dirty="0">
                <a:solidFill>
                  <a:srgbClr val="1F1F1F"/>
                </a:solidFill>
              </a:rPr>
              <a:t>Jean</a:t>
            </a:r>
            <a:endParaRPr lang="en-US" sz="1000" dirty="0"/>
          </a:p>
        </p:txBody>
      </p:sp>
      <p:sp>
        <p:nvSpPr>
          <p:cNvPr id="22" name="Shape 20"/>
          <p:cNvSpPr/>
          <p:nvPr/>
        </p:nvSpPr>
        <p:spPr>
          <a:xfrm>
            <a:off x="4846320" y="2560320"/>
            <a:ext cx="2743200" cy="320040"/>
          </a:xfrm>
          <a:prstGeom prst="rect">
            <a:avLst/>
          </a:prstGeom>
          <a:solidFill>
            <a:srgbClr val="FFFFFF"/>
          </a:solidFill>
          <a:ln w="12700">
            <a:solidFill>
              <a:srgbClr val="E7E6E6"/>
            </a:solidFill>
            <a:prstDash val="solid"/>
          </a:ln>
        </p:spPr>
        <p:txBody>
          <a:bodyPr/>
          <a:lstStyle/>
          <a:p>
            <a:endParaRPr lang="fr-FR"/>
          </a:p>
        </p:txBody>
      </p:sp>
      <p:sp>
        <p:nvSpPr>
          <p:cNvPr id="23" name="Text 21"/>
          <p:cNvSpPr/>
          <p:nvPr/>
        </p:nvSpPr>
        <p:spPr>
          <a:xfrm>
            <a:off x="4892040" y="2560320"/>
            <a:ext cx="2651760" cy="320040"/>
          </a:xfrm>
          <a:prstGeom prst="rect">
            <a:avLst/>
          </a:prstGeom>
          <a:noFill/>
          <a:ln/>
        </p:spPr>
        <p:txBody>
          <a:bodyPr wrap="square" rtlCol="0" anchor="ctr"/>
          <a:lstStyle/>
          <a:p>
            <a:pPr marL="0" indent="0" algn="ctr">
              <a:buNone/>
            </a:pPr>
            <a:r>
              <a:rPr lang="en-US" sz="1000" dirty="0">
                <a:solidFill>
                  <a:srgbClr val="1F1F1F"/>
                </a:solidFill>
              </a:rPr>
              <a:t>jean.dupont@univ.ca</a:t>
            </a:r>
            <a:endParaRPr lang="en-US" sz="1000" dirty="0"/>
          </a:p>
        </p:txBody>
      </p:sp>
      <p:sp>
        <p:nvSpPr>
          <p:cNvPr id="24" name="Shape 22"/>
          <p:cNvSpPr/>
          <p:nvPr/>
        </p:nvSpPr>
        <p:spPr>
          <a:xfrm>
            <a:off x="457200" y="2880360"/>
            <a:ext cx="1097280" cy="320040"/>
          </a:xfrm>
          <a:prstGeom prst="rect">
            <a:avLst/>
          </a:prstGeom>
          <a:solidFill>
            <a:srgbClr val="E7E6E6"/>
          </a:solidFill>
          <a:ln w="12700">
            <a:solidFill>
              <a:srgbClr val="E7E6E6"/>
            </a:solidFill>
            <a:prstDash val="solid"/>
          </a:ln>
        </p:spPr>
        <p:txBody>
          <a:bodyPr/>
          <a:lstStyle/>
          <a:p>
            <a:endParaRPr lang="fr-FR"/>
          </a:p>
        </p:txBody>
      </p:sp>
      <p:sp>
        <p:nvSpPr>
          <p:cNvPr id="25" name="Text 23"/>
          <p:cNvSpPr/>
          <p:nvPr/>
        </p:nvSpPr>
        <p:spPr>
          <a:xfrm>
            <a:off x="502920" y="2880360"/>
            <a:ext cx="1005840" cy="320040"/>
          </a:xfrm>
          <a:prstGeom prst="rect">
            <a:avLst/>
          </a:prstGeom>
          <a:noFill/>
          <a:ln/>
        </p:spPr>
        <p:txBody>
          <a:bodyPr wrap="square" rtlCol="0" anchor="ctr"/>
          <a:lstStyle/>
          <a:p>
            <a:pPr marL="0" indent="0" algn="ctr">
              <a:buNone/>
            </a:pPr>
            <a:r>
              <a:rPr lang="en-US" sz="1000" dirty="0">
                <a:solidFill>
                  <a:srgbClr val="1F1F1F"/>
                </a:solidFill>
              </a:rPr>
              <a:t>2</a:t>
            </a:r>
            <a:endParaRPr lang="en-US" sz="1000" dirty="0"/>
          </a:p>
        </p:txBody>
      </p:sp>
      <p:sp>
        <p:nvSpPr>
          <p:cNvPr id="26" name="Shape 24"/>
          <p:cNvSpPr/>
          <p:nvPr/>
        </p:nvSpPr>
        <p:spPr>
          <a:xfrm>
            <a:off x="1554480" y="2880360"/>
            <a:ext cx="1645920" cy="320040"/>
          </a:xfrm>
          <a:prstGeom prst="rect">
            <a:avLst/>
          </a:prstGeom>
          <a:solidFill>
            <a:srgbClr val="E7E6E6"/>
          </a:solidFill>
          <a:ln w="12700">
            <a:solidFill>
              <a:srgbClr val="E7E6E6"/>
            </a:solidFill>
            <a:prstDash val="solid"/>
          </a:ln>
        </p:spPr>
        <p:txBody>
          <a:bodyPr/>
          <a:lstStyle/>
          <a:p>
            <a:endParaRPr lang="fr-FR"/>
          </a:p>
        </p:txBody>
      </p:sp>
      <p:sp>
        <p:nvSpPr>
          <p:cNvPr id="27" name="Text 25"/>
          <p:cNvSpPr/>
          <p:nvPr/>
        </p:nvSpPr>
        <p:spPr>
          <a:xfrm>
            <a:off x="1600200" y="2880360"/>
            <a:ext cx="1554480" cy="320040"/>
          </a:xfrm>
          <a:prstGeom prst="rect">
            <a:avLst/>
          </a:prstGeom>
          <a:noFill/>
          <a:ln/>
        </p:spPr>
        <p:txBody>
          <a:bodyPr wrap="square" rtlCol="0" anchor="ctr"/>
          <a:lstStyle/>
          <a:p>
            <a:pPr marL="0" indent="0" algn="ctr">
              <a:buNone/>
            </a:pPr>
            <a:r>
              <a:rPr lang="en-US" sz="1000" dirty="0">
                <a:solidFill>
                  <a:srgbClr val="1F1F1F"/>
                </a:solidFill>
              </a:rPr>
              <a:t>Martin</a:t>
            </a:r>
            <a:endParaRPr lang="en-US" sz="1000" dirty="0"/>
          </a:p>
        </p:txBody>
      </p:sp>
      <p:sp>
        <p:nvSpPr>
          <p:cNvPr id="28" name="Shape 26"/>
          <p:cNvSpPr/>
          <p:nvPr/>
        </p:nvSpPr>
        <p:spPr>
          <a:xfrm>
            <a:off x="3200400" y="2880360"/>
            <a:ext cx="1645920" cy="320040"/>
          </a:xfrm>
          <a:prstGeom prst="rect">
            <a:avLst/>
          </a:prstGeom>
          <a:solidFill>
            <a:srgbClr val="E7E6E6"/>
          </a:solidFill>
          <a:ln w="12700">
            <a:solidFill>
              <a:srgbClr val="E7E6E6"/>
            </a:solidFill>
            <a:prstDash val="solid"/>
          </a:ln>
        </p:spPr>
        <p:txBody>
          <a:bodyPr/>
          <a:lstStyle/>
          <a:p>
            <a:endParaRPr lang="fr-FR"/>
          </a:p>
        </p:txBody>
      </p:sp>
      <p:sp>
        <p:nvSpPr>
          <p:cNvPr id="29" name="Text 27"/>
          <p:cNvSpPr/>
          <p:nvPr/>
        </p:nvSpPr>
        <p:spPr>
          <a:xfrm>
            <a:off x="3246120" y="2880360"/>
            <a:ext cx="1554480" cy="320040"/>
          </a:xfrm>
          <a:prstGeom prst="rect">
            <a:avLst/>
          </a:prstGeom>
          <a:noFill/>
          <a:ln/>
        </p:spPr>
        <p:txBody>
          <a:bodyPr wrap="square" rtlCol="0" anchor="ctr"/>
          <a:lstStyle/>
          <a:p>
            <a:pPr marL="0" indent="0" algn="ctr">
              <a:buNone/>
            </a:pPr>
            <a:r>
              <a:rPr lang="en-US" sz="1000" dirty="0">
                <a:solidFill>
                  <a:srgbClr val="1F1F1F"/>
                </a:solidFill>
              </a:rPr>
              <a:t>Marie</a:t>
            </a:r>
            <a:endParaRPr lang="en-US" sz="1000" dirty="0"/>
          </a:p>
        </p:txBody>
      </p:sp>
      <p:sp>
        <p:nvSpPr>
          <p:cNvPr id="30" name="Shape 28"/>
          <p:cNvSpPr/>
          <p:nvPr/>
        </p:nvSpPr>
        <p:spPr>
          <a:xfrm>
            <a:off x="4846320" y="2880360"/>
            <a:ext cx="2743200" cy="320040"/>
          </a:xfrm>
          <a:prstGeom prst="rect">
            <a:avLst/>
          </a:prstGeom>
          <a:solidFill>
            <a:srgbClr val="E7E6E6"/>
          </a:solidFill>
          <a:ln w="12700">
            <a:solidFill>
              <a:srgbClr val="E7E6E6"/>
            </a:solidFill>
            <a:prstDash val="solid"/>
          </a:ln>
        </p:spPr>
        <p:txBody>
          <a:bodyPr/>
          <a:lstStyle/>
          <a:p>
            <a:endParaRPr lang="fr-FR"/>
          </a:p>
        </p:txBody>
      </p:sp>
      <p:sp>
        <p:nvSpPr>
          <p:cNvPr id="31" name="Text 29"/>
          <p:cNvSpPr/>
          <p:nvPr/>
        </p:nvSpPr>
        <p:spPr>
          <a:xfrm>
            <a:off x="4892040" y="2880360"/>
            <a:ext cx="2651760" cy="320040"/>
          </a:xfrm>
          <a:prstGeom prst="rect">
            <a:avLst/>
          </a:prstGeom>
          <a:noFill/>
          <a:ln/>
        </p:spPr>
        <p:txBody>
          <a:bodyPr wrap="square" rtlCol="0" anchor="ctr"/>
          <a:lstStyle/>
          <a:p>
            <a:pPr marL="0" indent="0" algn="ctr">
              <a:buNone/>
            </a:pPr>
            <a:r>
              <a:rPr lang="en-US" sz="1000" dirty="0">
                <a:solidFill>
                  <a:srgbClr val="1F1F1F"/>
                </a:solidFill>
              </a:rPr>
              <a:t>marie.martin@univ.ca</a:t>
            </a:r>
            <a:endParaRPr lang="en-US" sz="1000" dirty="0"/>
          </a:p>
        </p:txBody>
      </p:sp>
      <p:sp>
        <p:nvSpPr>
          <p:cNvPr id="32" name="Shape 30"/>
          <p:cNvSpPr/>
          <p:nvPr/>
        </p:nvSpPr>
        <p:spPr>
          <a:xfrm>
            <a:off x="457200" y="3200400"/>
            <a:ext cx="1097280" cy="320040"/>
          </a:xfrm>
          <a:prstGeom prst="rect">
            <a:avLst/>
          </a:prstGeom>
          <a:solidFill>
            <a:srgbClr val="FFFFFF"/>
          </a:solidFill>
          <a:ln w="12700">
            <a:solidFill>
              <a:srgbClr val="E7E6E6"/>
            </a:solidFill>
            <a:prstDash val="solid"/>
          </a:ln>
        </p:spPr>
        <p:txBody>
          <a:bodyPr/>
          <a:lstStyle/>
          <a:p>
            <a:endParaRPr lang="fr-FR"/>
          </a:p>
        </p:txBody>
      </p:sp>
      <p:sp>
        <p:nvSpPr>
          <p:cNvPr id="33" name="Text 31"/>
          <p:cNvSpPr/>
          <p:nvPr/>
        </p:nvSpPr>
        <p:spPr>
          <a:xfrm>
            <a:off x="502920" y="3200400"/>
            <a:ext cx="1005840" cy="320040"/>
          </a:xfrm>
          <a:prstGeom prst="rect">
            <a:avLst/>
          </a:prstGeom>
          <a:noFill/>
          <a:ln/>
        </p:spPr>
        <p:txBody>
          <a:bodyPr wrap="square" rtlCol="0" anchor="ctr"/>
          <a:lstStyle/>
          <a:p>
            <a:pPr marL="0" indent="0" algn="ctr">
              <a:buNone/>
            </a:pPr>
            <a:r>
              <a:rPr lang="en-US" sz="1000" dirty="0">
                <a:solidFill>
                  <a:srgbClr val="1F1F1F"/>
                </a:solidFill>
              </a:rPr>
              <a:t>3</a:t>
            </a:r>
            <a:endParaRPr lang="en-US" sz="1000" dirty="0"/>
          </a:p>
        </p:txBody>
      </p:sp>
      <p:sp>
        <p:nvSpPr>
          <p:cNvPr id="34" name="Shape 32"/>
          <p:cNvSpPr/>
          <p:nvPr/>
        </p:nvSpPr>
        <p:spPr>
          <a:xfrm>
            <a:off x="1554480" y="3200400"/>
            <a:ext cx="1645920" cy="320040"/>
          </a:xfrm>
          <a:prstGeom prst="rect">
            <a:avLst/>
          </a:prstGeom>
          <a:solidFill>
            <a:srgbClr val="FFFFFF"/>
          </a:solidFill>
          <a:ln w="12700">
            <a:solidFill>
              <a:srgbClr val="E7E6E6"/>
            </a:solidFill>
            <a:prstDash val="solid"/>
          </a:ln>
        </p:spPr>
        <p:txBody>
          <a:bodyPr/>
          <a:lstStyle/>
          <a:p>
            <a:endParaRPr lang="fr-FR"/>
          </a:p>
        </p:txBody>
      </p:sp>
      <p:sp>
        <p:nvSpPr>
          <p:cNvPr id="35" name="Text 33"/>
          <p:cNvSpPr/>
          <p:nvPr/>
        </p:nvSpPr>
        <p:spPr>
          <a:xfrm>
            <a:off x="1600200" y="3200400"/>
            <a:ext cx="1554480" cy="320040"/>
          </a:xfrm>
          <a:prstGeom prst="rect">
            <a:avLst/>
          </a:prstGeom>
          <a:noFill/>
          <a:ln/>
        </p:spPr>
        <p:txBody>
          <a:bodyPr wrap="square" rtlCol="0" anchor="ctr"/>
          <a:lstStyle/>
          <a:p>
            <a:pPr marL="0" indent="0" algn="ctr">
              <a:buNone/>
            </a:pPr>
            <a:r>
              <a:rPr lang="en-US" sz="1000" dirty="0">
                <a:solidFill>
                  <a:srgbClr val="1F1F1F"/>
                </a:solidFill>
              </a:rPr>
              <a:t>Bernard</a:t>
            </a:r>
            <a:endParaRPr lang="en-US" sz="1000" dirty="0"/>
          </a:p>
        </p:txBody>
      </p:sp>
      <p:sp>
        <p:nvSpPr>
          <p:cNvPr id="36" name="Shape 34"/>
          <p:cNvSpPr/>
          <p:nvPr/>
        </p:nvSpPr>
        <p:spPr>
          <a:xfrm>
            <a:off x="3200400" y="3200400"/>
            <a:ext cx="1645920" cy="320040"/>
          </a:xfrm>
          <a:prstGeom prst="rect">
            <a:avLst/>
          </a:prstGeom>
          <a:solidFill>
            <a:srgbClr val="FFFFFF"/>
          </a:solidFill>
          <a:ln w="12700">
            <a:solidFill>
              <a:srgbClr val="E7E6E6"/>
            </a:solidFill>
            <a:prstDash val="solid"/>
          </a:ln>
        </p:spPr>
        <p:txBody>
          <a:bodyPr/>
          <a:lstStyle/>
          <a:p>
            <a:endParaRPr lang="fr-FR"/>
          </a:p>
        </p:txBody>
      </p:sp>
      <p:sp>
        <p:nvSpPr>
          <p:cNvPr id="37" name="Text 35"/>
          <p:cNvSpPr/>
          <p:nvPr/>
        </p:nvSpPr>
        <p:spPr>
          <a:xfrm>
            <a:off x="3246120" y="3200400"/>
            <a:ext cx="1554480" cy="320040"/>
          </a:xfrm>
          <a:prstGeom prst="rect">
            <a:avLst/>
          </a:prstGeom>
          <a:noFill/>
          <a:ln/>
        </p:spPr>
        <p:txBody>
          <a:bodyPr wrap="square" rtlCol="0" anchor="ctr"/>
          <a:lstStyle/>
          <a:p>
            <a:pPr marL="0" indent="0" algn="ctr">
              <a:buNone/>
            </a:pPr>
            <a:r>
              <a:rPr lang="en-US" sz="1000" dirty="0">
                <a:solidFill>
                  <a:srgbClr val="1F1F1F"/>
                </a:solidFill>
              </a:rPr>
              <a:t>Pierre</a:t>
            </a:r>
            <a:endParaRPr lang="en-US" sz="1000" dirty="0"/>
          </a:p>
        </p:txBody>
      </p:sp>
      <p:sp>
        <p:nvSpPr>
          <p:cNvPr id="38" name="Shape 36"/>
          <p:cNvSpPr/>
          <p:nvPr/>
        </p:nvSpPr>
        <p:spPr>
          <a:xfrm>
            <a:off x="4846320" y="3200400"/>
            <a:ext cx="2743200" cy="320040"/>
          </a:xfrm>
          <a:prstGeom prst="rect">
            <a:avLst/>
          </a:prstGeom>
          <a:solidFill>
            <a:srgbClr val="FFFFFF"/>
          </a:solidFill>
          <a:ln w="12700">
            <a:solidFill>
              <a:srgbClr val="E7E6E6"/>
            </a:solidFill>
            <a:prstDash val="solid"/>
          </a:ln>
        </p:spPr>
        <p:txBody>
          <a:bodyPr/>
          <a:lstStyle/>
          <a:p>
            <a:endParaRPr lang="fr-FR"/>
          </a:p>
        </p:txBody>
      </p:sp>
      <p:sp>
        <p:nvSpPr>
          <p:cNvPr id="39" name="Text 37"/>
          <p:cNvSpPr/>
          <p:nvPr/>
        </p:nvSpPr>
        <p:spPr>
          <a:xfrm>
            <a:off x="4892040" y="3200400"/>
            <a:ext cx="2651760" cy="320040"/>
          </a:xfrm>
          <a:prstGeom prst="rect">
            <a:avLst/>
          </a:prstGeom>
          <a:noFill/>
          <a:ln/>
        </p:spPr>
        <p:txBody>
          <a:bodyPr wrap="square" rtlCol="0" anchor="ctr"/>
          <a:lstStyle/>
          <a:p>
            <a:pPr marL="0" indent="0" algn="ctr">
              <a:buNone/>
            </a:pPr>
            <a:r>
              <a:rPr lang="en-US" sz="1000" dirty="0">
                <a:solidFill>
                  <a:srgbClr val="1F1F1F"/>
                </a:solidFill>
              </a:rPr>
              <a:t>pierre.bernard@univ.ca</a:t>
            </a:r>
            <a:endParaRPr lang="en-US" sz="1000" dirty="0"/>
          </a:p>
        </p:txBody>
      </p:sp>
      <p:sp>
        <p:nvSpPr>
          <p:cNvPr id="40" name="Text 38"/>
          <p:cNvSpPr/>
          <p:nvPr/>
        </p:nvSpPr>
        <p:spPr>
          <a:xfrm>
            <a:off x="457200" y="3383280"/>
            <a:ext cx="8229600" cy="548640"/>
          </a:xfrm>
          <a:prstGeom prst="rect">
            <a:avLst/>
          </a:prstGeom>
          <a:noFill/>
          <a:ln/>
        </p:spPr>
        <p:txBody>
          <a:bodyPr wrap="square" rtlCol="0" anchor="ctr"/>
          <a:lstStyle/>
          <a:p>
            <a:pPr marL="0" indent="0" algn="l">
              <a:buNone/>
            </a:pPr>
            <a:r>
              <a:rPr lang="en-US" sz="1100" dirty="0">
                <a:solidFill>
                  <a:srgbClr val="1F1F1F"/>
                </a:solidFill>
              </a:rPr>
              <a:t>Chaque ligne = un étudiant. Chaque colonne = une propriété. Chaque cellule = une valeur.</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Terminologie : Table, ligne, colonne</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19/40</a:t>
            </a:r>
            <a:endParaRPr lang="en-US" sz="1000" dirty="0"/>
          </a:p>
        </p:txBody>
      </p:sp>
      <p:sp>
        <p:nvSpPr>
          <p:cNvPr id="5" name="Shape 3"/>
          <p:cNvSpPr/>
          <p:nvPr/>
        </p:nvSpPr>
        <p:spPr>
          <a:xfrm>
            <a:off x="457200" y="1097280"/>
            <a:ext cx="1828800" cy="365760"/>
          </a:xfrm>
          <a:prstGeom prst="rect">
            <a:avLst/>
          </a:prstGeom>
          <a:solidFill>
            <a:srgbClr val="2E75B6"/>
          </a:solidFill>
          <a:ln w="12700">
            <a:solidFill>
              <a:srgbClr val="E7E6E6"/>
            </a:solidFill>
            <a:prstDash val="solid"/>
          </a:ln>
        </p:spPr>
        <p:txBody>
          <a:bodyPr/>
          <a:lstStyle/>
          <a:p>
            <a:endParaRPr lang="fr-FR"/>
          </a:p>
        </p:txBody>
      </p:sp>
      <p:sp>
        <p:nvSpPr>
          <p:cNvPr id="6" name="Text 4"/>
          <p:cNvSpPr/>
          <p:nvPr/>
        </p:nvSpPr>
        <p:spPr>
          <a:xfrm>
            <a:off x="548640" y="1097280"/>
            <a:ext cx="1645920" cy="365760"/>
          </a:xfrm>
          <a:prstGeom prst="rect">
            <a:avLst/>
          </a:prstGeom>
          <a:noFill/>
          <a:ln/>
        </p:spPr>
        <p:txBody>
          <a:bodyPr wrap="square" rtlCol="0" anchor="ctr"/>
          <a:lstStyle/>
          <a:p>
            <a:pPr marL="0" indent="0" algn="ctr">
              <a:buNone/>
            </a:pPr>
            <a:r>
              <a:rPr lang="en-US" sz="1000" b="1" dirty="0">
                <a:solidFill>
                  <a:srgbClr val="FFFFFF"/>
                </a:solidFill>
              </a:rPr>
              <a:t>id_etudiant</a:t>
            </a:r>
            <a:endParaRPr lang="en-US" sz="1000" dirty="0"/>
          </a:p>
        </p:txBody>
      </p:sp>
      <p:sp>
        <p:nvSpPr>
          <p:cNvPr id="7" name="Shape 5"/>
          <p:cNvSpPr/>
          <p:nvPr/>
        </p:nvSpPr>
        <p:spPr>
          <a:xfrm>
            <a:off x="2286000" y="1097280"/>
            <a:ext cx="1828800" cy="365760"/>
          </a:xfrm>
          <a:prstGeom prst="rect">
            <a:avLst/>
          </a:prstGeom>
          <a:solidFill>
            <a:srgbClr val="2E75B6"/>
          </a:solidFill>
          <a:ln w="12700">
            <a:solidFill>
              <a:srgbClr val="E7E6E6"/>
            </a:solidFill>
            <a:prstDash val="solid"/>
          </a:ln>
        </p:spPr>
        <p:txBody>
          <a:bodyPr/>
          <a:lstStyle/>
          <a:p>
            <a:endParaRPr lang="fr-FR"/>
          </a:p>
        </p:txBody>
      </p:sp>
      <p:sp>
        <p:nvSpPr>
          <p:cNvPr id="8" name="Text 6"/>
          <p:cNvSpPr/>
          <p:nvPr/>
        </p:nvSpPr>
        <p:spPr>
          <a:xfrm>
            <a:off x="2377440" y="1097280"/>
            <a:ext cx="1645920" cy="365760"/>
          </a:xfrm>
          <a:prstGeom prst="rect">
            <a:avLst/>
          </a:prstGeom>
          <a:noFill/>
          <a:ln/>
        </p:spPr>
        <p:txBody>
          <a:bodyPr wrap="square" rtlCol="0" anchor="ctr"/>
          <a:lstStyle/>
          <a:p>
            <a:pPr marL="0" indent="0" algn="ctr">
              <a:buNone/>
            </a:pPr>
            <a:r>
              <a:rPr lang="en-US" sz="1000" b="1" dirty="0">
                <a:solidFill>
                  <a:srgbClr val="FFFFFF"/>
                </a:solidFill>
              </a:rPr>
              <a:t>nom</a:t>
            </a:r>
            <a:endParaRPr lang="en-US" sz="1000" dirty="0"/>
          </a:p>
        </p:txBody>
      </p:sp>
      <p:sp>
        <p:nvSpPr>
          <p:cNvPr id="9" name="Shape 7"/>
          <p:cNvSpPr/>
          <p:nvPr/>
        </p:nvSpPr>
        <p:spPr>
          <a:xfrm>
            <a:off x="4114800" y="1097280"/>
            <a:ext cx="1828800" cy="365760"/>
          </a:xfrm>
          <a:prstGeom prst="rect">
            <a:avLst/>
          </a:prstGeom>
          <a:solidFill>
            <a:srgbClr val="2E75B6"/>
          </a:solidFill>
          <a:ln w="12700">
            <a:solidFill>
              <a:srgbClr val="E7E6E6"/>
            </a:solidFill>
            <a:prstDash val="solid"/>
          </a:ln>
        </p:spPr>
        <p:txBody>
          <a:bodyPr/>
          <a:lstStyle/>
          <a:p>
            <a:endParaRPr lang="fr-FR"/>
          </a:p>
        </p:txBody>
      </p:sp>
      <p:sp>
        <p:nvSpPr>
          <p:cNvPr id="10" name="Text 8"/>
          <p:cNvSpPr/>
          <p:nvPr/>
        </p:nvSpPr>
        <p:spPr>
          <a:xfrm>
            <a:off x="4206240" y="1097280"/>
            <a:ext cx="1645920" cy="365760"/>
          </a:xfrm>
          <a:prstGeom prst="rect">
            <a:avLst/>
          </a:prstGeom>
          <a:noFill/>
          <a:ln/>
        </p:spPr>
        <p:txBody>
          <a:bodyPr wrap="square" rtlCol="0" anchor="ctr"/>
          <a:lstStyle/>
          <a:p>
            <a:pPr marL="0" indent="0" algn="ctr">
              <a:buNone/>
            </a:pPr>
            <a:r>
              <a:rPr lang="en-US" sz="1000" b="1" dirty="0">
                <a:solidFill>
                  <a:srgbClr val="FFFFFF"/>
                </a:solidFill>
              </a:rPr>
              <a:t>prenom</a:t>
            </a:r>
            <a:endParaRPr lang="en-US" sz="1000" dirty="0"/>
          </a:p>
        </p:txBody>
      </p:sp>
      <p:sp>
        <p:nvSpPr>
          <p:cNvPr id="11" name="Shape 9"/>
          <p:cNvSpPr/>
          <p:nvPr/>
        </p:nvSpPr>
        <p:spPr>
          <a:xfrm>
            <a:off x="5943600" y="1097280"/>
            <a:ext cx="1828800" cy="365760"/>
          </a:xfrm>
          <a:prstGeom prst="rect">
            <a:avLst/>
          </a:prstGeom>
          <a:solidFill>
            <a:srgbClr val="2E75B6"/>
          </a:solidFill>
          <a:ln w="12700">
            <a:solidFill>
              <a:srgbClr val="E7E6E6"/>
            </a:solidFill>
            <a:prstDash val="solid"/>
          </a:ln>
        </p:spPr>
        <p:txBody>
          <a:bodyPr/>
          <a:lstStyle/>
          <a:p>
            <a:endParaRPr lang="fr-FR"/>
          </a:p>
        </p:txBody>
      </p:sp>
      <p:sp>
        <p:nvSpPr>
          <p:cNvPr id="12" name="Text 10"/>
          <p:cNvSpPr/>
          <p:nvPr/>
        </p:nvSpPr>
        <p:spPr>
          <a:xfrm>
            <a:off x="6035040" y="1097280"/>
            <a:ext cx="1645920" cy="365760"/>
          </a:xfrm>
          <a:prstGeom prst="rect">
            <a:avLst/>
          </a:prstGeom>
          <a:noFill/>
          <a:ln/>
        </p:spPr>
        <p:txBody>
          <a:bodyPr wrap="square" rtlCol="0" anchor="ctr"/>
          <a:lstStyle/>
          <a:p>
            <a:pPr marL="0" indent="0" algn="ctr">
              <a:buNone/>
            </a:pPr>
            <a:r>
              <a:rPr lang="en-US" sz="1000" b="1" dirty="0">
                <a:solidFill>
                  <a:srgbClr val="FFFFFF"/>
                </a:solidFill>
              </a:rPr>
              <a:t>email</a:t>
            </a:r>
            <a:endParaRPr lang="en-US" sz="1000" dirty="0"/>
          </a:p>
        </p:txBody>
      </p:sp>
      <p:sp>
        <p:nvSpPr>
          <p:cNvPr id="13" name="Shape 11"/>
          <p:cNvSpPr/>
          <p:nvPr/>
        </p:nvSpPr>
        <p:spPr>
          <a:xfrm>
            <a:off x="457200" y="1463040"/>
            <a:ext cx="1828800" cy="365760"/>
          </a:xfrm>
          <a:prstGeom prst="rect">
            <a:avLst/>
          </a:prstGeom>
          <a:solidFill>
            <a:srgbClr val="FFFFFF"/>
          </a:solidFill>
          <a:ln w="12700">
            <a:solidFill>
              <a:srgbClr val="E7E6E6"/>
            </a:solidFill>
            <a:prstDash val="solid"/>
          </a:ln>
        </p:spPr>
        <p:txBody>
          <a:bodyPr/>
          <a:lstStyle/>
          <a:p>
            <a:endParaRPr lang="fr-FR"/>
          </a:p>
        </p:txBody>
      </p:sp>
      <p:sp>
        <p:nvSpPr>
          <p:cNvPr id="14" name="Text 12"/>
          <p:cNvSpPr/>
          <p:nvPr/>
        </p:nvSpPr>
        <p:spPr>
          <a:xfrm>
            <a:off x="548640" y="1463040"/>
            <a:ext cx="1645920" cy="365760"/>
          </a:xfrm>
          <a:prstGeom prst="rect">
            <a:avLst/>
          </a:prstGeom>
          <a:noFill/>
          <a:ln/>
        </p:spPr>
        <p:txBody>
          <a:bodyPr wrap="square" rtlCol="0" anchor="ctr"/>
          <a:lstStyle/>
          <a:p>
            <a:pPr marL="0" indent="0" algn="ctr">
              <a:buNone/>
            </a:pPr>
            <a:r>
              <a:rPr lang="en-US" sz="1000" dirty="0">
                <a:solidFill>
                  <a:srgbClr val="1F1F1F"/>
                </a:solidFill>
              </a:rPr>
              <a:t>1</a:t>
            </a:r>
            <a:endParaRPr lang="en-US" sz="1000" dirty="0"/>
          </a:p>
        </p:txBody>
      </p:sp>
      <p:sp>
        <p:nvSpPr>
          <p:cNvPr id="15" name="Shape 13"/>
          <p:cNvSpPr/>
          <p:nvPr/>
        </p:nvSpPr>
        <p:spPr>
          <a:xfrm>
            <a:off x="2286000" y="1463040"/>
            <a:ext cx="1828800" cy="365760"/>
          </a:xfrm>
          <a:prstGeom prst="rect">
            <a:avLst/>
          </a:prstGeom>
          <a:solidFill>
            <a:srgbClr val="FFFFFF"/>
          </a:solidFill>
          <a:ln w="12700">
            <a:solidFill>
              <a:srgbClr val="E7E6E6"/>
            </a:solidFill>
            <a:prstDash val="solid"/>
          </a:ln>
        </p:spPr>
        <p:txBody>
          <a:bodyPr/>
          <a:lstStyle/>
          <a:p>
            <a:endParaRPr lang="fr-FR"/>
          </a:p>
        </p:txBody>
      </p:sp>
      <p:sp>
        <p:nvSpPr>
          <p:cNvPr id="16" name="Text 14"/>
          <p:cNvSpPr/>
          <p:nvPr/>
        </p:nvSpPr>
        <p:spPr>
          <a:xfrm>
            <a:off x="2377440" y="1463040"/>
            <a:ext cx="1645920" cy="365760"/>
          </a:xfrm>
          <a:prstGeom prst="rect">
            <a:avLst/>
          </a:prstGeom>
          <a:noFill/>
          <a:ln/>
        </p:spPr>
        <p:txBody>
          <a:bodyPr wrap="square" rtlCol="0" anchor="ctr"/>
          <a:lstStyle/>
          <a:p>
            <a:pPr marL="0" indent="0" algn="ctr">
              <a:buNone/>
            </a:pPr>
            <a:r>
              <a:rPr lang="en-US" sz="1000" dirty="0">
                <a:solidFill>
                  <a:srgbClr val="1F1F1F"/>
                </a:solidFill>
              </a:rPr>
              <a:t>Dupont</a:t>
            </a:r>
            <a:endParaRPr lang="en-US" sz="1000" dirty="0"/>
          </a:p>
        </p:txBody>
      </p:sp>
      <p:sp>
        <p:nvSpPr>
          <p:cNvPr id="17" name="Shape 15"/>
          <p:cNvSpPr/>
          <p:nvPr/>
        </p:nvSpPr>
        <p:spPr>
          <a:xfrm>
            <a:off x="4114800" y="1463040"/>
            <a:ext cx="1828800" cy="365760"/>
          </a:xfrm>
          <a:prstGeom prst="rect">
            <a:avLst/>
          </a:prstGeom>
          <a:solidFill>
            <a:srgbClr val="FFFFFF"/>
          </a:solidFill>
          <a:ln w="12700">
            <a:solidFill>
              <a:srgbClr val="E7E6E6"/>
            </a:solidFill>
            <a:prstDash val="solid"/>
          </a:ln>
        </p:spPr>
        <p:txBody>
          <a:bodyPr/>
          <a:lstStyle/>
          <a:p>
            <a:endParaRPr lang="fr-FR"/>
          </a:p>
        </p:txBody>
      </p:sp>
      <p:sp>
        <p:nvSpPr>
          <p:cNvPr id="18" name="Text 16"/>
          <p:cNvSpPr/>
          <p:nvPr/>
        </p:nvSpPr>
        <p:spPr>
          <a:xfrm>
            <a:off x="4206240" y="1463040"/>
            <a:ext cx="1645920" cy="365760"/>
          </a:xfrm>
          <a:prstGeom prst="rect">
            <a:avLst/>
          </a:prstGeom>
          <a:noFill/>
          <a:ln/>
        </p:spPr>
        <p:txBody>
          <a:bodyPr wrap="square" rtlCol="0" anchor="ctr"/>
          <a:lstStyle/>
          <a:p>
            <a:pPr marL="0" indent="0" algn="ctr">
              <a:buNone/>
            </a:pPr>
            <a:r>
              <a:rPr lang="en-US" sz="1000" dirty="0">
                <a:solidFill>
                  <a:srgbClr val="1F1F1F"/>
                </a:solidFill>
              </a:rPr>
              <a:t>Jean</a:t>
            </a:r>
            <a:endParaRPr lang="en-US" sz="1000" dirty="0"/>
          </a:p>
        </p:txBody>
      </p:sp>
      <p:sp>
        <p:nvSpPr>
          <p:cNvPr id="19" name="Shape 17"/>
          <p:cNvSpPr/>
          <p:nvPr/>
        </p:nvSpPr>
        <p:spPr>
          <a:xfrm>
            <a:off x="5943600" y="1463040"/>
            <a:ext cx="1828800" cy="365760"/>
          </a:xfrm>
          <a:prstGeom prst="rect">
            <a:avLst/>
          </a:prstGeom>
          <a:solidFill>
            <a:srgbClr val="FFFFFF"/>
          </a:solidFill>
          <a:ln w="12700">
            <a:solidFill>
              <a:srgbClr val="E7E6E6"/>
            </a:solidFill>
            <a:prstDash val="solid"/>
          </a:ln>
        </p:spPr>
        <p:txBody>
          <a:bodyPr/>
          <a:lstStyle/>
          <a:p>
            <a:endParaRPr lang="fr-FR"/>
          </a:p>
        </p:txBody>
      </p:sp>
      <p:sp>
        <p:nvSpPr>
          <p:cNvPr id="20" name="Text 18"/>
          <p:cNvSpPr/>
          <p:nvPr/>
        </p:nvSpPr>
        <p:spPr>
          <a:xfrm>
            <a:off x="6035040" y="1463040"/>
            <a:ext cx="1645920" cy="365760"/>
          </a:xfrm>
          <a:prstGeom prst="rect">
            <a:avLst/>
          </a:prstGeom>
          <a:noFill/>
          <a:ln/>
        </p:spPr>
        <p:txBody>
          <a:bodyPr wrap="square" rtlCol="0" anchor="ctr"/>
          <a:lstStyle/>
          <a:p>
            <a:pPr marL="0" indent="0" algn="ctr">
              <a:buNone/>
            </a:pPr>
            <a:r>
              <a:rPr lang="en-US" sz="1000" dirty="0">
                <a:solidFill>
                  <a:srgbClr val="1F1F1F"/>
                </a:solidFill>
              </a:rPr>
              <a:t>jean.dupont@univ.ca</a:t>
            </a:r>
            <a:endParaRPr lang="en-US" sz="1000" dirty="0"/>
          </a:p>
        </p:txBody>
      </p:sp>
      <p:sp>
        <p:nvSpPr>
          <p:cNvPr id="21" name="Shape 19"/>
          <p:cNvSpPr/>
          <p:nvPr/>
        </p:nvSpPr>
        <p:spPr>
          <a:xfrm>
            <a:off x="457200" y="1828800"/>
            <a:ext cx="1828800" cy="365760"/>
          </a:xfrm>
          <a:prstGeom prst="rect">
            <a:avLst/>
          </a:prstGeom>
          <a:solidFill>
            <a:srgbClr val="FFFFFF"/>
          </a:solidFill>
          <a:ln w="12700">
            <a:solidFill>
              <a:srgbClr val="E7E6E6"/>
            </a:solidFill>
            <a:prstDash val="solid"/>
          </a:ln>
        </p:spPr>
        <p:txBody>
          <a:bodyPr/>
          <a:lstStyle/>
          <a:p>
            <a:endParaRPr lang="fr-FR"/>
          </a:p>
        </p:txBody>
      </p:sp>
      <p:sp>
        <p:nvSpPr>
          <p:cNvPr id="22" name="Text 20"/>
          <p:cNvSpPr/>
          <p:nvPr/>
        </p:nvSpPr>
        <p:spPr>
          <a:xfrm>
            <a:off x="548640" y="1828800"/>
            <a:ext cx="1645920" cy="365760"/>
          </a:xfrm>
          <a:prstGeom prst="rect">
            <a:avLst/>
          </a:prstGeom>
          <a:noFill/>
          <a:ln/>
        </p:spPr>
        <p:txBody>
          <a:bodyPr wrap="square" rtlCol="0" anchor="ctr"/>
          <a:lstStyle/>
          <a:p>
            <a:pPr marL="0" indent="0" algn="ctr">
              <a:buNone/>
            </a:pPr>
            <a:r>
              <a:rPr lang="en-US" sz="1000" dirty="0">
                <a:solidFill>
                  <a:srgbClr val="1F1F1F"/>
                </a:solidFill>
              </a:rPr>
              <a:t>2</a:t>
            </a:r>
            <a:endParaRPr lang="en-US" sz="1000" dirty="0"/>
          </a:p>
        </p:txBody>
      </p:sp>
      <p:sp>
        <p:nvSpPr>
          <p:cNvPr id="23" name="Shape 21"/>
          <p:cNvSpPr/>
          <p:nvPr/>
        </p:nvSpPr>
        <p:spPr>
          <a:xfrm>
            <a:off x="2286000" y="1828800"/>
            <a:ext cx="1828800" cy="365760"/>
          </a:xfrm>
          <a:prstGeom prst="rect">
            <a:avLst/>
          </a:prstGeom>
          <a:solidFill>
            <a:srgbClr val="FFFFFF"/>
          </a:solidFill>
          <a:ln w="12700">
            <a:solidFill>
              <a:srgbClr val="E7E6E6"/>
            </a:solidFill>
            <a:prstDash val="solid"/>
          </a:ln>
        </p:spPr>
        <p:txBody>
          <a:bodyPr/>
          <a:lstStyle/>
          <a:p>
            <a:endParaRPr lang="fr-FR"/>
          </a:p>
        </p:txBody>
      </p:sp>
      <p:sp>
        <p:nvSpPr>
          <p:cNvPr id="24" name="Text 22"/>
          <p:cNvSpPr/>
          <p:nvPr/>
        </p:nvSpPr>
        <p:spPr>
          <a:xfrm>
            <a:off x="2377440" y="1828800"/>
            <a:ext cx="1645920" cy="365760"/>
          </a:xfrm>
          <a:prstGeom prst="rect">
            <a:avLst/>
          </a:prstGeom>
          <a:noFill/>
          <a:ln/>
        </p:spPr>
        <p:txBody>
          <a:bodyPr wrap="square" rtlCol="0" anchor="ctr"/>
          <a:lstStyle/>
          <a:p>
            <a:pPr marL="0" indent="0" algn="ctr">
              <a:buNone/>
            </a:pPr>
            <a:r>
              <a:rPr lang="en-US" sz="1000" dirty="0">
                <a:solidFill>
                  <a:srgbClr val="1F1F1F"/>
                </a:solidFill>
              </a:rPr>
              <a:t>Martin</a:t>
            </a:r>
            <a:endParaRPr lang="en-US" sz="1000" dirty="0"/>
          </a:p>
        </p:txBody>
      </p:sp>
      <p:sp>
        <p:nvSpPr>
          <p:cNvPr id="25" name="Shape 23"/>
          <p:cNvSpPr/>
          <p:nvPr/>
        </p:nvSpPr>
        <p:spPr>
          <a:xfrm>
            <a:off x="4114800" y="1828800"/>
            <a:ext cx="1828800" cy="365760"/>
          </a:xfrm>
          <a:prstGeom prst="rect">
            <a:avLst/>
          </a:prstGeom>
          <a:solidFill>
            <a:srgbClr val="FFFFFF"/>
          </a:solidFill>
          <a:ln w="12700">
            <a:solidFill>
              <a:srgbClr val="E7E6E6"/>
            </a:solidFill>
            <a:prstDash val="solid"/>
          </a:ln>
        </p:spPr>
        <p:txBody>
          <a:bodyPr/>
          <a:lstStyle/>
          <a:p>
            <a:endParaRPr lang="fr-FR"/>
          </a:p>
        </p:txBody>
      </p:sp>
      <p:sp>
        <p:nvSpPr>
          <p:cNvPr id="26" name="Text 24"/>
          <p:cNvSpPr/>
          <p:nvPr/>
        </p:nvSpPr>
        <p:spPr>
          <a:xfrm>
            <a:off x="4206240" y="1828800"/>
            <a:ext cx="1645920" cy="365760"/>
          </a:xfrm>
          <a:prstGeom prst="rect">
            <a:avLst/>
          </a:prstGeom>
          <a:noFill/>
          <a:ln/>
        </p:spPr>
        <p:txBody>
          <a:bodyPr wrap="square" rtlCol="0" anchor="ctr"/>
          <a:lstStyle/>
          <a:p>
            <a:pPr marL="0" indent="0" algn="ctr">
              <a:buNone/>
            </a:pPr>
            <a:r>
              <a:rPr lang="en-US" sz="1000" dirty="0">
                <a:solidFill>
                  <a:srgbClr val="1F1F1F"/>
                </a:solidFill>
              </a:rPr>
              <a:t>Marie</a:t>
            </a:r>
            <a:endParaRPr lang="en-US" sz="1000" dirty="0"/>
          </a:p>
        </p:txBody>
      </p:sp>
      <p:sp>
        <p:nvSpPr>
          <p:cNvPr id="27" name="Shape 25"/>
          <p:cNvSpPr/>
          <p:nvPr/>
        </p:nvSpPr>
        <p:spPr>
          <a:xfrm>
            <a:off x="5943600" y="1828800"/>
            <a:ext cx="1828800" cy="365760"/>
          </a:xfrm>
          <a:prstGeom prst="rect">
            <a:avLst/>
          </a:prstGeom>
          <a:solidFill>
            <a:srgbClr val="FFFFFF"/>
          </a:solidFill>
          <a:ln w="12700">
            <a:solidFill>
              <a:srgbClr val="E7E6E6"/>
            </a:solidFill>
            <a:prstDash val="solid"/>
          </a:ln>
        </p:spPr>
        <p:txBody>
          <a:bodyPr/>
          <a:lstStyle/>
          <a:p>
            <a:endParaRPr lang="fr-FR"/>
          </a:p>
        </p:txBody>
      </p:sp>
      <p:sp>
        <p:nvSpPr>
          <p:cNvPr id="28" name="Text 26"/>
          <p:cNvSpPr/>
          <p:nvPr/>
        </p:nvSpPr>
        <p:spPr>
          <a:xfrm>
            <a:off x="6035040" y="1828800"/>
            <a:ext cx="1645920" cy="365760"/>
          </a:xfrm>
          <a:prstGeom prst="rect">
            <a:avLst/>
          </a:prstGeom>
          <a:noFill/>
          <a:ln/>
        </p:spPr>
        <p:txBody>
          <a:bodyPr wrap="square" rtlCol="0" anchor="ctr"/>
          <a:lstStyle/>
          <a:p>
            <a:pPr marL="0" indent="0" algn="ctr">
              <a:buNone/>
            </a:pPr>
            <a:r>
              <a:rPr lang="en-US" sz="1000" dirty="0">
                <a:solidFill>
                  <a:srgbClr val="1F1F1F"/>
                </a:solidFill>
              </a:rPr>
              <a:t>marie.martin@univ.ca</a:t>
            </a:r>
            <a:endParaRPr lang="en-US" sz="1000" dirty="0"/>
          </a:p>
        </p:txBody>
      </p:sp>
      <p:sp>
        <p:nvSpPr>
          <p:cNvPr id="29" name="Shape 27"/>
          <p:cNvSpPr/>
          <p:nvPr/>
        </p:nvSpPr>
        <p:spPr>
          <a:xfrm>
            <a:off x="1371600" y="731520"/>
            <a:ext cx="0" cy="320040"/>
          </a:xfrm>
          <a:prstGeom prst="line">
            <a:avLst/>
          </a:prstGeom>
          <a:noFill/>
          <a:ln w="25400">
            <a:solidFill>
              <a:srgbClr val="F79646"/>
            </a:solidFill>
            <a:prstDash val="solid"/>
          </a:ln>
        </p:spPr>
        <p:txBody>
          <a:bodyPr/>
          <a:lstStyle/>
          <a:p>
            <a:endParaRPr lang="fr-FR"/>
          </a:p>
        </p:txBody>
      </p:sp>
      <p:sp>
        <p:nvSpPr>
          <p:cNvPr id="30" name="Text 28"/>
          <p:cNvSpPr/>
          <p:nvPr/>
        </p:nvSpPr>
        <p:spPr>
          <a:xfrm>
            <a:off x="274320" y="548640"/>
            <a:ext cx="1828800" cy="182880"/>
          </a:xfrm>
          <a:prstGeom prst="rect">
            <a:avLst/>
          </a:prstGeom>
          <a:noFill/>
          <a:ln/>
        </p:spPr>
        <p:txBody>
          <a:bodyPr wrap="square" rtlCol="0" anchor="ctr"/>
          <a:lstStyle/>
          <a:p>
            <a:pPr marL="0" indent="0" algn="ctr">
              <a:buNone/>
            </a:pPr>
            <a:r>
              <a:rPr lang="en-US" sz="1000" b="1" dirty="0">
                <a:solidFill>
                  <a:srgbClr val="F79646"/>
                </a:solidFill>
              </a:rPr>
              <a:t>Attribut (colonne)</a:t>
            </a:r>
            <a:endParaRPr lang="en-US" sz="1000" dirty="0"/>
          </a:p>
        </p:txBody>
      </p:sp>
      <p:sp>
        <p:nvSpPr>
          <p:cNvPr id="31" name="Shape 29"/>
          <p:cNvSpPr/>
          <p:nvPr/>
        </p:nvSpPr>
        <p:spPr>
          <a:xfrm>
            <a:off x="8412480" y="1463040"/>
            <a:ext cx="457200" cy="0"/>
          </a:xfrm>
          <a:prstGeom prst="line">
            <a:avLst/>
          </a:prstGeom>
          <a:noFill/>
          <a:ln w="25400">
            <a:solidFill>
              <a:srgbClr val="1F4E78"/>
            </a:solidFill>
            <a:prstDash val="solid"/>
          </a:ln>
        </p:spPr>
        <p:txBody>
          <a:bodyPr/>
          <a:lstStyle/>
          <a:p>
            <a:endParaRPr lang="fr-FR"/>
          </a:p>
        </p:txBody>
      </p:sp>
      <p:sp>
        <p:nvSpPr>
          <p:cNvPr id="32" name="Text 30"/>
          <p:cNvSpPr/>
          <p:nvPr/>
        </p:nvSpPr>
        <p:spPr>
          <a:xfrm>
            <a:off x="8412480" y="1280160"/>
            <a:ext cx="1371600" cy="182880"/>
          </a:xfrm>
          <a:prstGeom prst="rect">
            <a:avLst/>
          </a:prstGeom>
          <a:noFill/>
          <a:ln/>
        </p:spPr>
        <p:txBody>
          <a:bodyPr wrap="square" rtlCol="0" anchor="ctr"/>
          <a:lstStyle/>
          <a:p>
            <a:pPr marL="0" indent="0" algn="l">
              <a:buNone/>
            </a:pPr>
            <a:r>
              <a:rPr lang="en-US" sz="1000" b="1" dirty="0">
                <a:solidFill>
                  <a:srgbClr val="1F4E78"/>
                </a:solidFill>
              </a:rPr>
              <a:t>Tuple (ligne)</a:t>
            </a:r>
            <a:endParaRPr lang="en-US" sz="1000" dirty="0"/>
          </a:p>
        </p:txBody>
      </p:sp>
      <p:sp>
        <p:nvSpPr>
          <p:cNvPr id="33" name="Shape 31"/>
          <p:cNvSpPr/>
          <p:nvPr/>
        </p:nvSpPr>
        <p:spPr>
          <a:xfrm>
            <a:off x="457200" y="2011680"/>
            <a:ext cx="8229600" cy="1828800"/>
          </a:xfrm>
          <a:prstGeom prst="rect">
            <a:avLst/>
          </a:prstGeom>
          <a:solidFill>
            <a:srgbClr val="FFFACD"/>
          </a:solidFill>
          <a:ln w="12700">
            <a:solidFill>
              <a:srgbClr val="F79646"/>
            </a:solidFill>
            <a:prstDash val="solid"/>
          </a:ln>
        </p:spPr>
        <p:txBody>
          <a:bodyPr/>
          <a:lstStyle/>
          <a:p>
            <a:endParaRPr lang="fr-FR"/>
          </a:p>
        </p:txBody>
      </p:sp>
      <p:sp>
        <p:nvSpPr>
          <p:cNvPr id="34" name="Text 32"/>
          <p:cNvSpPr/>
          <p:nvPr/>
        </p:nvSpPr>
        <p:spPr>
          <a:xfrm>
            <a:off x="640080" y="2103120"/>
            <a:ext cx="7863840" cy="182880"/>
          </a:xfrm>
          <a:prstGeom prst="rect">
            <a:avLst/>
          </a:prstGeom>
          <a:noFill/>
          <a:ln/>
        </p:spPr>
        <p:txBody>
          <a:bodyPr wrap="square" rtlCol="0" anchor="ctr"/>
          <a:lstStyle/>
          <a:p>
            <a:pPr marL="0" indent="0">
              <a:buNone/>
            </a:pPr>
            <a:r>
              <a:rPr lang="en-US" sz="1100" b="1" dirty="0">
                <a:solidFill>
                  <a:srgbClr val="1F4E78"/>
                </a:solidFill>
              </a:rPr>
              <a:t>Vocabulaire clé</a:t>
            </a:r>
            <a:endParaRPr lang="en-US" sz="1100" dirty="0"/>
          </a:p>
        </p:txBody>
      </p:sp>
      <p:sp>
        <p:nvSpPr>
          <p:cNvPr id="35" name="Text 33"/>
          <p:cNvSpPr/>
          <p:nvPr/>
        </p:nvSpPr>
        <p:spPr>
          <a:xfrm>
            <a:off x="822960" y="2423160"/>
            <a:ext cx="7498080" cy="182880"/>
          </a:xfrm>
          <a:prstGeom prst="rect">
            <a:avLst/>
          </a:prstGeom>
          <a:noFill/>
          <a:ln/>
        </p:spPr>
        <p:txBody>
          <a:bodyPr wrap="square" rtlCol="0" anchor="ctr"/>
          <a:lstStyle/>
          <a:p>
            <a:pPr marL="0" indent="0">
              <a:buNone/>
            </a:pPr>
            <a:r>
              <a:rPr lang="en-US" sz="900" dirty="0">
                <a:solidFill>
                  <a:srgbClr val="1F1F1F"/>
                </a:solidFill>
              </a:rPr>
              <a:t>• Table : ensemble d'étudiants</a:t>
            </a:r>
            <a:endParaRPr lang="en-US" sz="900" dirty="0"/>
          </a:p>
        </p:txBody>
      </p:sp>
      <p:sp>
        <p:nvSpPr>
          <p:cNvPr id="36" name="Text 34"/>
          <p:cNvSpPr/>
          <p:nvPr/>
        </p:nvSpPr>
        <p:spPr>
          <a:xfrm>
            <a:off x="822960" y="2651760"/>
            <a:ext cx="7498080" cy="182880"/>
          </a:xfrm>
          <a:prstGeom prst="rect">
            <a:avLst/>
          </a:prstGeom>
          <a:noFill/>
          <a:ln/>
        </p:spPr>
        <p:txBody>
          <a:bodyPr wrap="square" rtlCol="0" anchor="ctr"/>
          <a:lstStyle/>
          <a:p>
            <a:pPr marL="0" indent="0">
              <a:buNone/>
            </a:pPr>
            <a:r>
              <a:rPr lang="en-US" sz="900" dirty="0">
                <a:solidFill>
                  <a:srgbClr val="1F1F1F"/>
                </a:solidFill>
              </a:rPr>
              <a:t>• Attribut (colonne) : propriété (id, nom, prenom, email)</a:t>
            </a:r>
            <a:endParaRPr lang="en-US" sz="900" dirty="0"/>
          </a:p>
        </p:txBody>
      </p:sp>
      <p:sp>
        <p:nvSpPr>
          <p:cNvPr id="37" name="Text 35"/>
          <p:cNvSpPr/>
          <p:nvPr/>
        </p:nvSpPr>
        <p:spPr>
          <a:xfrm>
            <a:off x="822960" y="2880360"/>
            <a:ext cx="7498080" cy="182880"/>
          </a:xfrm>
          <a:prstGeom prst="rect">
            <a:avLst/>
          </a:prstGeom>
          <a:noFill/>
          <a:ln/>
        </p:spPr>
        <p:txBody>
          <a:bodyPr wrap="square" rtlCol="0" anchor="ctr"/>
          <a:lstStyle/>
          <a:p>
            <a:pPr marL="0" indent="0">
              <a:buNone/>
            </a:pPr>
            <a:r>
              <a:rPr lang="en-US" sz="900" dirty="0">
                <a:solidFill>
                  <a:srgbClr val="1F1F1F"/>
                </a:solidFill>
              </a:rPr>
              <a:t>• Tuple (ligne) : un enregistrement (un étudiant)</a:t>
            </a:r>
            <a:endParaRPr lang="en-US" sz="900" dirty="0"/>
          </a:p>
        </p:txBody>
      </p:sp>
      <p:sp>
        <p:nvSpPr>
          <p:cNvPr id="38" name="Text 36"/>
          <p:cNvSpPr/>
          <p:nvPr/>
        </p:nvSpPr>
        <p:spPr>
          <a:xfrm>
            <a:off x="822960" y="3108960"/>
            <a:ext cx="7498080" cy="182880"/>
          </a:xfrm>
          <a:prstGeom prst="rect">
            <a:avLst/>
          </a:prstGeom>
          <a:noFill/>
          <a:ln/>
        </p:spPr>
        <p:txBody>
          <a:bodyPr wrap="square" rtlCol="0" anchor="ctr"/>
          <a:lstStyle/>
          <a:p>
            <a:pPr marL="0" indent="0">
              <a:buNone/>
            </a:pPr>
            <a:r>
              <a:rPr lang="en-US" sz="900" dirty="0">
                <a:solidFill>
                  <a:srgbClr val="1F1F1F"/>
                </a:solidFill>
              </a:rPr>
              <a:t>• Domaine : type de données (INT, VARCHAR, DATE)</a:t>
            </a:r>
            <a:endParaRPr lang="en-US" sz="900" dirty="0"/>
          </a:p>
        </p:txBody>
      </p:sp>
      <p:sp>
        <p:nvSpPr>
          <p:cNvPr id="39" name="Text 37"/>
          <p:cNvSpPr/>
          <p:nvPr/>
        </p:nvSpPr>
        <p:spPr>
          <a:xfrm>
            <a:off x="822960" y="3337560"/>
            <a:ext cx="7498080" cy="182880"/>
          </a:xfrm>
          <a:prstGeom prst="rect">
            <a:avLst/>
          </a:prstGeom>
          <a:noFill/>
          <a:ln/>
        </p:spPr>
        <p:txBody>
          <a:bodyPr wrap="square" rtlCol="0" anchor="ctr"/>
          <a:lstStyle/>
          <a:p>
            <a:pPr marL="0" indent="0">
              <a:buNone/>
            </a:pPr>
            <a:r>
              <a:rPr lang="en-US" sz="900" dirty="0">
                <a:solidFill>
                  <a:srgbClr val="1F1F1F"/>
                </a:solidFill>
              </a:rPr>
              <a:t>• Cardinalité : nombre de tuples dans la table</a:t>
            </a:r>
            <a:endParaRPr lang="en-US" sz="900" dirty="0"/>
          </a:p>
        </p:txBody>
      </p:sp>
      <p:sp>
        <p:nvSpPr>
          <p:cNvPr id="40" name="Text 38"/>
          <p:cNvSpPr/>
          <p:nvPr/>
        </p:nvSpPr>
        <p:spPr>
          <a:xfrm>
            <a:off x="822960" y="3566160"/>
            <a:ext cx="7498080" cy="182880"/>
          </a:xfrm>
          <a:prstGeom prst="rect">
            <a:avLst/>
          </a:prstGeom>
          <a:noFill/>
          <a:ln/>
        </p:spPr>
        <p:txBody>
          <a:bodyPr wrap="square" rtlCol="0" anchor="ctr"/>
          <a:lstStyle/>
          <a:p>
            <a:pPr marL="0" indent="0">
              <a:buNone/>
            </a:pPr>
            <a:r>
              <a:rPr lang="en-US" sz="900" dirty="0">
                <a:solidFill>
                  <a:srgbClr val="1F1F1F"/>
                </a:solidFill>
              </a:rPr>
              <a:t>• Arité : nombre d'attributs (ici 4)</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Clé primaire</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20/40</a:t>
            </a:r>
            <a:endParaRPr lang="en-US" sz="1000" dirty="0"/>
          </a:p>
        </p:txBody>
      </p:sp>
      <p:sp>
        <p:nvSpPr>
          <p:cNvPr id="5" name="Text 3"/>
          <p:cNvSpPr/>
          <p:nvPr/>
        </p:nvSpPr>
        <p:spPr>
          <a:xfrm>
            <a:off x="457200" y="822960"/>
            <a:ext cx="8229600" cy="274320"/>
          </a:xfrm>
          <a:prstGeom prst="rect">
            <a:avLst/>
          </a:prstGeom>
          <a:noFill/>
          <a:ln/>
        </p:spPr>
        <p:txBody>
          <a:bodyPr wrap="square" rtlCol="0" anchor="ctr"/>
          <a:lstStyle/>
          <a:p>
            <a:pPr marL="0" indent="0">
              <a:buNone/>
            </a:pPr>
            <a:r>
              <a:rPr lang="en-US" sz="1400" b="1" dirty="0">
                <a:solidFill>
                  <a:srgbClr val="1F4E78"/>
                </a:solidFill>
              </a:rPr>
              <a:t>PRIMARY KEY (Clé primaire)</a:t>
            </a:r>
            <a:endParaRPr lang="en-US" sz="1400" dirty="0"/>
          </a:p>
        </p:txBody>
      </p:sp>
      <p:sp>
        <p:nvSpPr>
          <p:cNvPr id="6" name="Text 4"/>
          <p:cNvSpPr/>
          <p:nvPr/>
        </p:nvSpPr>
        <p:spPr>
          <a:xfrm>
            <a:off x="457200" y="1188720"/>
            <a:ext cx="8229600" cy="457200"/>
          </a:xfrm>
          <a:prstGeom prst="rect">
            <a:avLst/>
          </a:prstGeom>
          <a:noFill/>
          <a:ln/>
        </p:spPr>
        <p:txBody>
          <a:bodyPr wrap="square" rtlCol="0" anchor="ctr"/>
          <a:lstStyle/>
          <a:p>
            <a:pPr marL="0" indent="0">
              <a:buNone/>
            </a:pPr>
            <a:r>
              <a:rPr lang="en-US" sz="1200" b="1" dirty="0">
                <a:solidFill>
                  <a:srgbClr val="1F1F1F"/>
                </a:solidFill>
              </a:rPr>
              <a:t>Attribut (ou combinaison d'attributs) qui identifie de manière unique chaque tuple dans une table.</a:t>
            </a:r>
            <a:endParaRPr lang="en-US" sz="1200" dirty="0"/>
          </a:p>
        </p:txBody>
      </p:sp>
      <p:sp>
        <p:nvSpPr>
          <p:cNvPr id="7" name="Text 5"/>
          <p:cNvSpPr/>
          <p:nvPr/>
        </p:nvSpPr>
        <p:spPr>
          <a:xfrm>
            <a:off x="457200" y="1828800"/>
            <a:ext cx="8229600" cy="228600"/>
          </a:xfrm>
          <a:prstGeom prst="rect">
            <a:avLst/>
          </a:prstGeom>
          <a:noFill/>
          <a:ln/>
        </p:spPr>
        <p:txBody>
          <a:bodyPr wrap="square" rtlCol="0" anchor="ctr"/>
          <a:lstStyle/>
          <a:p>
            <a:pPr marL="0" indent="0">
              <a:buNone/>
            </a:pPr>
            <a:r>
              <a:rPr lang="en-US" sz="1200" b="1" dirty="0">
                <a:solidFill>
                  <a:srgbClr val="1F4E78"/>
                </a:solidFill>
              </a:rPr>
              <a:t>Exemple : ETUDIANT</a:t>
            </a:r>
            <a:endParaRPr lang="en-US" sz="1200" dirty="0"/>
          </a:p>
        </p:txBody>
      </p:sp>
      <p:sp>
        <p:nvSpPr>
          <p:cNvPr id="8" name="Shape 6"/>
          <p:cNvSpPr/>
          <p:nvPr/>
        </p:nvSpPr>
        <p:spPr>
          <a:xfrm>
            <a:off x="457200" y="2148840"/>
            <a:ext cx="731520" cy="365760"/>
          </a:xfrm>
          <a:prstGeom prst="rect">
            <a:avLst/>
          </a:prstGeom>
          <a:solidFill>
            <a:srgbClr val="2E75B6"/>
          </a:solidFill>
          <a:ln w="12700">
            <a:solidFill>
              <a:srgbClr val="E7E6E6"/>
            </a:solidFill>
            <a:prstDash val="solid"/>
          </a:ln>
        </p:spPr>
        <p:txBody>
          <a:bodyPr/>
          <a:lstStyle/>
          <a:p>
            <a:endParaRPr lang="fr-FR"/>
          </a:p>
        </p:txBody>
      </p:sp>
      <p:sp>
        <p:nvSpPr>
          <p:cNvPr id="9" name="Text 7"/>
          <p:cNvSpPr/>
          <p:nvPr/>
        </p:nvSpPr>
        <p:spPr>
          <a:xfrm>
            <a:off x="502920" y="2148840"/>
            <a:ext cx="640080" cy="365760"/>
          </a:xfrm>
          <a:prstGeom prst="rect">
            <a:avLst/>
          </a:prstGeom>
          <a:noFill/>
          <a:ln/>
        </p:spPr>
        <p:txBody>
          <a:bodyPr wrap="square" rtlCol="0" anchor="ctr"/>
          <a:lstStyle/>
          <a:p>
            <a:pPr marL="0" indent="0" algn="ctr">
              <a:buNone/>
            </a:pPr>
            <a:r>
              <a:rPr lang="en-US" sz="1000" b="1" dirty="0">
                <a:solidFill>
                  <a:srgbClr val="FFFFFF"/>
                </a:solidFill>
              </a:rPr>
              <a:t>PK</a:t>
            </a:r>
            <a:endParaRPr lang="en-US" sz="1000" dirty="0"/>
          </a:p>
        </p:txBody>
      </p:sp>
      <p:sp>
        <p:nvSpPr>
          <p:cNvPr id="10" name="Shape 8"/>
          <p:cNvSpPr/>
          <p:nvPr/>
        </p:nvSpPr>
        <p:spPr>
          <a:xfrm>
            <a:off x="1188720" y="2148840"/>
            <a:ext cx="1828800" cy="365760"/>
          </a:xfrm>
          <a:prstGeom prst="rect">
            <a:avLst/>
          </a:prstGeom>
          <a:solidFill>
            <a:srgbClr val="2E75B6"/>
          </a:solidFill>
          <a:ln w="12700">
            <a:solidFill>
              <a:srgbClr val="E7E6E6"/>
            </a:solidFill>
            <a:prstDash val="solid"/>
          </a:ln>
        </p:spPr>
        <p:txBody>
          <a:bodyPr/>
          <a:lstStyle/>
          <a:p>
            <a:endParaRPr lang="fr-FR"/>
          </a:p>
        </p:txBody>
      </p:sp>
      <p:sp>
        <p:nvSpPr>
          <p:cNvPr id="11" name="Text 9"/>
          <p:cNvSpPr/>
          <p:nvPr/>
        </p:nvSpPr>
        <p:spPr>
          <a:xfrm>
            <a:off x="1234440" y="2148840"/>
            <a:ext cx="1737360" cy="365760"/>
          </a:xfrm>
          <a:prstGeom prst="rect">
            <a:avLst/>
          </a:prstGeom>
          <a:noFill/>
          <a:ln/>
        </p:spPr>
        <p:txBody>
          <a:bodyPr wrap="square" rtlCol="0" anchor="ctr"/>
          <a:lstStyle/>
          <a:p>
            <a:pPr marL="0" indent="0" algn="ctr">
              <a:buNone/>
            </a:pPr>
            <a:r>
              <a:rPr lang="en-US" sz="1000" b="1" dirty="0">
                <a:solidFill>
                  <a:srgbClr val="FFFFFF"/>
                </a:solidFill>
              </a:rPr>
              <a:t>id_etudiant</a:t>
            </a:r>
            <a:endParaRPr lang="en-US" sz="1000" dirty="0"/>
          </a:p>
        </p:txBody>
      </p:sp>
      <p:sp>
        <p:nvSpPr>
          <p:cNvPr id="12" name="Shape 10"/>
          <p:cNvSpPr/>
          <p:nvPr/>
        </p:nvSpPr>
        <p:spPr>
          <a:xfrm>
            <a:off x="3017520" y="2148840"/>
            <a:ext cx="1828800" cy="365760"/>
          </a:xfrm>
          <a:prstGeom prst="rect">
            <a:avLst/>
          </a:prstGeom>
          <a:solidFill>
            <a:srgbClr val="2E75B6"/>
          </a:solidFill>
          <a:ln w="12700">
            <a:solidFill>
              <a:srgbClr val="E7E6E6"/>
            </a:solidFill>
            <a:prstDash val="solid"/>
          </a:ln>
        </p:spPr>
        <p:txBody>
          <a:bodyPr/>
          <a:lstStyle/>
          <a:p>
            <a:endParaRPr lang="fr-FR"/>
          </a:p>
        </p:txBody>
      </p:sp>
      <p:sp>
        <p:nvSpPr>
          <p:cNvPr id="13" name="Text 11"/>
          <p:cNvSpPr/>
          <p:nvPr/>
        </p:nvSpPr>
        <p:spPr>
          <a:xfrm>
            <a:off x="3063240" y="2148840"/>
            <a:ext cx="1737360" cy="365760"/>
          </a:xfrm>
          <a:prstGeom prst="rect">
            <a:avLst/>
          </a:prstGeom>
          <a:noFill/>
          <a:ln/>
        </p:spPr>
        <p:txBody>
          <a:bodyPr wrap="square" rtlCol="0" anchor="ctr"/>
          <a:lstStyle/>
          <a:p>
            <a:pPr marL="0" indent="0" algn="ctr">
              <a:buNone/>
            </a:pPr>
            <a:r>
              <a:rPr lang="en-US" sz="1000" b="1" dirty="0">
                <a:solidFill>
                  <a:srgbClr val="FFFFFF"/>
                </a:solidFill>
              </a:rPr>
              <a:t>nom</a:t>
            </a:r>
            <a:endParaRPr lang="en-US" sz="1000" dirty="0"/>
          </a:p>
        </p:txBody>
      </p:sp>
      <p:sp>
        <p:nvSpPr>
          <p:cNvPr id="14" name="Shape 12"/>
          <p:cNvSpPr/>
          <p:nvPr/>
        </p:nvSpPr>
        <p:spPr>
          <a:xfrm>
            <a:off x="4846320" y="2148840"/>
            <a:ext cx="1828800" cy="365760"/>
          </a:xfrm>
          <a:prstGeom prst="rect">
            <a:avLst/>
          </a:prstGeom>
          <a:solidFill>
            <a:srgbClr val="2E75B6"/>
          </a:solidFill>
          <a:ln w="12700">
            <a:solidFill>
              <a:srgbClr val="E7E6E6"/>
            </a:solidFill>
            <a:prstDash val="solid"/>
          </a:ln>
        </p:spPr>
        <p:txBody>
          <a:bodyPr/>
          <a:lstStyle/>
          <a:p>
            <a:endParaRPr lang="fr-FR"/>
          </a:p>
        </p:txBody>
      </p:sp>
      <p:sp>
        <p:nvSpPr>
          <p:cNvPr id="15" name="Text 13"/>
          <p:cNvSpPr/>
          <p:nvPr/>
        </p:nvSpPr>
        <p:spPr>
          <a:xfrm>
            <a:off x="4892040" y="2148840"/>
            <a:ext cx="1737360" cy="365760"/>
          </a:xfrm>
          <a:prstGeom prst="rect">
            <a:avLst/>
          </a:prstGeom>
          <a:noFill/>
          <a:ln/>
        </p:spPr>
        <p:txBody>
          <a:bodyPr wrap="square" rtlCol="0" anchor="ctr"/>
          <a:lstStyle/>
          <a:p>
            <a:pPr marL="0" indent="0" algn="ctr">
              <a:buNone/>
            </a:pPr>
            <a:r>
              <a:rPr lang="en-US" sz="1000" b="1" dirty="0">
                <a:solidFill>
                  <a:srgbClr val="FFFFFF"/>
                </a:solidFill>
              </a:rPr>
              <a:t>email</a:t>
            </a:r>
            <a:endParaRPr lang="en-US" sz="1000" dirty="0"/>
          </a:p>
        </p:txBody>
      </p:sp>
      <p:sp>
        <p:nvSpPr>
          <p:cNvPr id="16" name="Shape 14"/>
          <p:cNvSpPr/>
          <p:nvPr/>
        </p:nvSpPr>
        <p:spPr>
          <a:xfrm>
            <a:off x="457200" y="2514600"/>
            <a:ext cx="731520" cy="365760"/>
          </a:xfrm>
          <a:prstGeom prst="rect">
            <a:avLst/>
          </a:prstGeom>
          <a:solidFill>
            <a:srgbClr val="FFFFFF"/>
          </a:solidFill>
          <a:ln w="12700">
            <a:solidFill>
              <a:srgbClr val="E7E6E6"/>
            </a:solidFill>
            <a:prstDash val="solid"/>
          </a:ln>
        </p:spPr>
        <p:txBody>
          <a:bodyPr/>
          <a:lstStyle/>
          <a:p>
            <a:endParaRPr lang="fr-FR"/>
          </a:p>
        </p:txBody>
      </p:sp>
      <p:sp>
        <p:nvSpPr>
          <p:cNvPr id="17" name="Text 15"/>
          <p:cNvSpPr/>
          <p:nvPr/>
        </p:nvSpPr>
        <p:spPr>
          <a:xfrm>
            <a:off x="502920" y="2514600"/>
            <a:ext cx="640080" cy="365760"/>
          </a:xfrm>
          <a:prstGeom prst="rect">
            <a:avLst/>
          </a:prstGeom>
          <a:noFill/>
          <a:ln/>
        </p:spPr>
        <p:txBody>
          <a:bodyPr wrap="square" rtlCol="0" anchor="ctr"/>
          <a:lstStyle/>
          <a:p>
            <a:pPr marL="0" indent="0" algn="ctr">
              <a:buNone/>
            </a:pPr>
            <a:endParaRPr lang="en-US" sz="1000" dirty="0"/>
          </a:p>
        </p:txBody>
      </p:sp>
      <p:sp>
        <p:nvSpPr>
          <p:cNvPr id="18" name="Shape 16"/>
          <p:cNvSpPr/>
          <p:nvPr/>
        </p:nvSpPr>
        <p:spPr>
          <a:xfrm>
            <a:off x="1188720" y="2514600"/>
            <a:ext cx="1828800" cy="365760"/>
          </a:xfrm>
          <a:prstGeom prst="rect">
            <a:avLst/>
          </a:prstGeom>
          <a:solidFill>
            <a:srgbClr val="FFFFFF"/>
          </a:solidFill>
          <a:ln w="12700">
            <a:solidFill>
              <a:srgbClr val="E7E6E6"/>
            </a:solidFill>
            <a:prstDash val="solid"/>
          </a:ln>
        </p:spPr>
        <p:txBody>
          <a:bodyPr/>
          <a:lstStyle/>
          <a:p>
            <a:endParaRPr lang="fr-FR"/>
          </a:p>
        </p:txBody>
      </p:sp>
      <p:sp>
        <p:nvSpPr>
          <p:cNvPr id="19" name="Text 17"/>
          <p:cNvSpPr/>
          <p:nvPr/>
        </p:nvSpPr>
        <p:spPr>
          <a:xfrm>
            <a:off x="1234440" y="2514600"/>
            <a:ext cx="1737360" cy="365760"/>
          </a:xfrm>
          <a:prstGeom prst="rect">
            <a:avLst/>
          </a:prstGeom>
          <a:noFill/>
          <a:ln/>
        </p:spPr>
        <p:txBody>
          <a:bodyPr wrap="square" rtlCol="0" anchor="ctr"/>
          <a:lstStyle/>
          <a:p>
            <a:pPr marL="0" indent="0" algn="ctr">
              <a:buNone/>
            </a:pPr>
            <a:r>
              <a:rPr lang="en-US" sz="1000" dirty="0">
                <a:solidFill>
                  <a:srgbClr val="1F1F1F"/>
                </a:solidFill>
              </a:rPr>
              <a:t>1</a:t>
            </a:r>
            <a:endParaRPr lang="en-US" sz="1000" dirty="0"/>
          </a:p>
        </p:txBody>
      </p:sp>
      <p:sp>
        <p:nvSpPr>
          <p:cNvPr id="20" name="Shape 18"/>
          <p:cNvSpPr/>
          <p:nvPr/>
        </p:nvSpPr>
        <p:spPr>
          <a:xfrm>
            <a:off x="3017520" y="2514600"/>
            <a:ext cx="1828800" cy="365760"/>
          </a:xfrm>
          <a:prstGeom prst="rect">
            <a:avLst/>
          </a:prstGeom>
          <a:solidFill>
            <a:srgbClr val="FFFFFF"/>
          </a:solidFill>
          <a:ln w="12700">
            <a:solidFill>
              <a:srgbClr val="E7E6E6"/>
            </a:solidFill>
            <a:prstDash val="solid"/>
          </a:ln>
        </p:spPr>
        <p:txBody>
          <a:bodyPr/>
          <a:lstStyle/>
          <a:p>
            <a:endParaRPr lang="fr-FR"/>
          </a:p>
        </p:txBody>
      </p:sp>
      <p:sp>
        <p:nvSpPr>
          <p:cNvPr id="21" name="Text 19"/>
          <p:cNvSpPr/>
          <p:nvPr/>
        </p:nvSpPr>
        <p:spPr>
          <a:xfrm>
            <a:off x="3063240" y="2514600"/>
            <a:ext cx="1737360" cy="365760"/>
          </a:xfrm>
          <a:prstGeom prst="rect">
            <a:avLst/>
          </a:prstGeom>
          <a:noFill/>
          <a:ln/>
        </p:spPr>
        <p:txBody>
          <a:bodyPr wrap="square" rtlCol="0" anchor="ctr"/>
          <a:lstStyle/>
          <a:p>
            <a:pPr marL="0" indent="0" algn="ctr">
              <a:buNone/>
            </a:pPr>
            <a:r>
              <a:rPr lang="en-US" sz="1000" dirty="0">
                <a:solidFill>
                  <a:srgbClr val="1F1F1F"/>
                </a:solidFill>
              </a:rPr>
              <a:t>Dupont</a:t>
            </a:r>
            <a:endParaRPr lang="en-US" sz="1000" dirty="0"/>
          </a:p>
        </p:txBody>
      </p:sp>
      <p:sp>
        <p:nvSpPr>
          <p:cNvPr id="22" name="Shape 20"/>
          <p:cNvSpPr/>
          <p:nvPr/>
        </p:nvSpPr>
        <p:spPr>
          <a:xfrm>
            <a:off x="4846320" y="2514600"/>
            <a:ext cx="1828800" cy="365760"/>
          </a:xfrm>
          <a:prstGeom prst="rect">
            <a:avLst/>
          </a:prstGeom>
          <a:solidFill>
            <a:srgbClr val="FFFFFF"/>
          </a:solidFill>
          <a:ln w="12700">
            <a:solidFill>
              <a:srgbClr val="E7E6E6"/>
            </a:solidFill>
            <a:prstDash val="solid"/>
          </a:ln>
        </p:spPr>
        <p:txBody>
          <a:bodyPr/>
          <a:lstStyle/>
          <a:p>
            <a:endParaRPr lang="fr-FR"/>
          </a:p>
        </p:txBody>
      </p:sp>
      <p:sp>
        <p:nvSpPr>
          <p:cNvPr id="23" name="Text 21"/>
          <p:cNvSpPr/>
          <p:nvPr/>
        </p:nvSpPr>
        <p:spPr>
          <a:xfrm>
            <a:off x="4892040" y="2514600"/>
            <a:ext cx="1737360" cy="365760"/>
          </a:xfrm>
          <a:prstGeom prst="rect">
            <a:avLst/>
          </a:prstGeom>
          <a:noFill/>
          <a:ln/>
        </p:spPr>
        <p:txBody>
          <a:bodyPr wrap="square" rtlCol="0" anchor="ctr"/>
          <a:lstStyle/>
          <a:p>
            <a:pPr marL="0" indent="0" algn="ctr">
              <a:buNone/>
            </a:pPr>
            <a:r>
              <a:rPr lang="en-US" sz="1000" dirty="0">
                <a:solidFill>
                  <a:srgbClr val="1F1F1F"/>
                </a:solidFill>
              </a:rPr>
              <a:t>jean.dupont@univ.ca</a:t>
            </a:r>
            <a:endParaRPr lang="en-US" sz="1000" dirty="0"/>
          </a:p>
        </p:txBody>
      </p:sp>
      <p:sp>
        <p:nvSpPr>
          <p:cNvPr id="24" name="Shape 22"/>
          <p:cNvSpPr/>
          <p:nvPr/>
        </p:nvSpPr>
        <p:spPr>
          <a:xfrm>
            <a:off x="457200" y="2880360"/>
            <a:ext cx="731520" cy="365760"/>
          </a:xfrm>
          <a:prstGeom prst="rect">
            <a:avLst/>
          </a:prstGeom>
          <a:solidFill>
            <a:srgbClr val="FFFFFF"/>
          </a:solidFill>
          <a:ln w="12700">
            <a:solidFill>
              <a:srgbClr val="E7E6E6"/>
            </a:solidFill>
            <a:prstDash val="solid"/>
          </a:ln>
        </p:spPr>
        <p:txBody>
          <a:bodyPr/>
          <a:lstStyle/>
          <a:p>
            <a:endParaRPr lang="fr-FR"/>
          </a:p>
        </p:txBody>
      </p:sp>
      <p:sp>
        <p:nvSpPr>
          <p:cNvPr id="25" name="Text 23"/>
          <p:cNvSpPr/>
          <p:nvPr/>
        </p:nvSpPr>
        <p:spPr>
          <a:xfrm>
            <a:off x="502920" y="2880360"/>
            <a:ext cx="640080" cy="365760"/>
          </a:xfrm>
          <a:prstGeom prst="rect">
            <a:avLst/>
          </a:prstGeom>
          <a:noFill/>
          <a:ln/>
        </p:spPr>
        <p:txBody>
          <a:bodyPr wrap="square" rtlCol="0" anchor="ctr"/>
          <a:lstStyle/>
          <a:p>
            <a:pPr marL="0" indent="0" algn="ctr">
              <a:buNone/>
            </a:pPr>
            <a:endParaRPr lang="en-US" sz="1000" dirty="0"/>
          </a:p>
        </p:txBody>
      </p:sp>
      <p:sp>
        <p:nvSpPr>
          <p:cNvPr id="26" name="Shape 24"/>
          <p:cNvSpPr/>
          <p:nvPr/>
        </p:nvSpPr>
        <p:spPr>
          <a:xfrm>
            <a:off x="1188720" y="2880360"/>
            <a:ext cx="1828800" cy="365760"/>
          </a:xfrm>
          <a:prstGeom prst="rect">
            <a:avLst/>
          </a:prstGeom>
          <a:solidFill>
            <a:srgbClr val="FFFFFF"/>
          </a:solidFill>
          <a:ln w="12700">
            <a:solidFill>
              <a:srgbClr val="E7E6E6"/>
            </a:solidFill>
            <a:prstDash val="solid"/>
          </a:ln>
        </p:spPr>
        <p:txBody>
          <a:bodyPr/>
          <a:lstStyle/>
          <a:p>
            <a:endParaRPr lang="fr-FR"/>
          </a:p>
        </p:txBody>
      </p:sp>
      <p:sp>
        <p:nvSpPr>
          <p:cNvPr id="27" name="Text 25"/>
          <p:cNvSpPr/>
          <p:nvPr/>
        </p:nvSpPr>
        <p:spPr>
          <a:xfrm>
            <a:off x="1234440" y="2880360"/>
            <a:ext cx="1737360" cy="365760"/>
          </a:xfrm>
          <a:prstGeom prst="rect">
            <a:avLst/>
          </a:prstGeom>
          <a:noFill/>
          <a:ln/>
        </p:spPr>
        <p:txBody>
          <a:bodyPr wrap="square" rtlCol="0" anchor="ctr"/>
          <a:lstStyle/>
          <a:p>
            <a:pPr marL="0" indent="0" algn="ctr">
              <a:buNone/>
            </a:pPr>
            <a:r>
              <a:rPr lang="en-US" sz="1000" dirty="0">
                <a:solidFill>
                  <a:srgbClr val="1F1F1F"/>
                </a:solidFill>
              </a:rPr>
              <a:t>2</a:t>
            </a:r>
            <a:endParaRPr lang="en-US" sz="1000" dirty="0"/>
          </a:p>
        </p:txBody>
      </p:sp>
      <p:sp>
        <p:nvSpPr>
          <p:cNvPr id="28" name="Shape 26"/>
          <p:cNvSpPr/>
          <p:nvPr/>
        </p:nvSpPr>
        <p:spPr>
          <a:xfrm>
            <a:off x="3017520" y="2880360"/>
            <a:ext cx="1828800" cy="365760"/>
          </a:xfrm>
          <a:prstGeom prst="rect">
            <a:avLst/>
          </a:prstGeom>
          <a:solidFill>
            <a:srgbClr val="FFFFFF"/>
          </a:solidFill>
          <a:ln w="12700">
            <a:solidFill>
              <a:srgbClr val="E7E6E6"/>
            </a:solidFill>
            <a:prstDash val="solid"/>
          </a:ln>
        </p:spPr>
        <p:txBody>
          <a:bodyPr/>
          <a:lstStyle/>
          <a:p>
            <a:endParaRPr lang="fr-FR"/>
          </a:p>
        </p:txBody>
      </p:sp>
      <p:sp>
        <p:nvSpPr>
          <p:cNvPr id="29" name="Text 27"/>
          <p:cNvSpPr/>
          <p:nvPr/>
        </p:nvSpPr>
        <p:spPr>
          <a:xfrm>
            <a:off x="3063240" y="2880360"/>
            <a:ext cx="1737360" cy="365760"/>
          </a:xfrm>
          <a:prstGeom prst="rect">
            <a:avLst/>
          </a:prstGeom>
          <a:noFill/>
          <a:ln/>
        </p:spPr>
        <p:txBody>
          <a:bodyPr wrap="square" rtlCol="0" anchor="ctr"/>
          <a:lstStyle/>
          <a:p>
            <a:pPr marL="0" indent="0" algn="ctr">
              <a:buNone/>
            </a:pPr>
            <a:r>
              <a:rPr lang="en-US" sz="1000" dirty="0">
                <a:solidFill>
                  <a:srgbClr val="1F1F1F"/>
                </a:solidFill>
              </a:rPr>
              <a:t>Martin</a:t>
            </a:r>
            <a:endParaRPr lang="en-US" sz="1000" dirty="0"/>
          </a:p>
        </p:txBody>
      </p:sp>
      <p:sp>
        <p:nvSpPr>
          <p:cNvPr id="30" name="Shape 28"/>
          <p:cNvSpPr/>
          <p:nvPr/>
        </p:nvSpPr>
        <p:spPr>
          <a:xfrm>
            <a:off x="4846320" y="2880360"/>
            <a:ext cx="1828800" cy="365760"/>
          </a:xfrm>
          <a:prstGeom prst="rect">
            <a:avLst/>
          </a:prstGeom>
          <a:solidFill>
            <a:srgbClr val="FFFFFF"/>
          </a:solidFill>
          <a:ln w="12700">
            <a:solidFill>
              <a:srgbClr val="E7E6E6"/>
            </a:solidFill>
            <a:prstDash val="solid"/>
          </a:ln>
        </p:spPr>
        <p:txBody>
          <a:bodyPr/>
          <a:lstStyle/>
          <a:p>
            <a:endParaRPr lang="fr-FR"/>
          </a:p>
        </p:txBody>
      </p:sp>
      <p:sp>
        <p:nvSpPr>
          <p:cNvPr id="31" name="Text 29"/>
          <p:cNvSpPr/>
          <p:nvPr/>
        </p:nvSpPr>
        <p:spPr>
          <a:xfrm>
            <a:off x="4892040" y="2880360"/>
            <a:ext cx="1737360" cy="365760"/>
          </a:xfrm>
          <a:prstGeom prst="rect">
            <a:avLst/>
          </a:prstGeom>
          <a:noFill/>
          <a:ln/>
        </p:spPr>
        <p:txBody>
          <a:bodyPr wrap="square" rtlCol="0" anchor="ctr"/>
          <a:lstStyle/>
          <a:p>
            <a:pPr marL="0" indent="0" algn="ctr">
              <a:buNone/>
            </a:pPr>
            <a:r>
              <a:rPr lang="en-US" sz="1000" dirty="0">
                <a:solidFill>
                  <a:srgbClr val="1F1F1F"/>
                </a:solidFill>
              </a:rPr>
              <a:t>marie.martin@univ.ca</a:t>
            </a:r>
            <a:endParaRPr lang="en-US" sz="1000" dirty="0"/>
          </a:p>
        </p:txBody>
      </p:sp>
      <p:sp>
        <p:nvSpPr>
          <p:cNvPr id="32" name="Text 30"/>
          <p:cNvSpPr/>
          <p:nvPr/>
        </p:nvSpPr>
        <p:spPr>
          <a:xfrm>
            <a:off x="457200" y="3108960"/>
            <a:ext cx="8229600" cy="228600"/>
          </a:xfrm>
          <a:prstGeom prst="rect">
            <a:avLst/>
          </a:prstGeom>
          <a:noFill/>
          <a:ln/>
        </p:spPr>
        <p:txBody>
          <a:bodyPr wrap="square" rtlCol="0" anchor="ctr"/>
          <a:lstStyle/>
          <a:p>
            <a:pPr marL="0" indent="0">
              <a:buNone/>
            </a:pPr>
            <a:r>
              <a:rPr lang="en-US" sz="1200" b="1" dirty="0">
                <a:solidFill>
                  <a:srgbClr val="1F4E78"/>
                </a:solidFill>
              </a:rPr>
              <a:t>Propriétés d'une clé primaire</a:t>
            </a:r>
            <a:endParaRPr lang="en-US" sz="1200" dirty="0"/>
          </a:p>
        </p:txBody>
      </p:sp>
      <p:sp>
        <p:nvSpPr>
          <p:cNvPr id="33" name="Text 31"/>
          <p:cNvSpPr/>
          <p:nvPr/>
        </p:nvSpPr>
        <p:spPr>
          <a:xfrm>
            <a:off x="731520" y="3474720"/>
            <a:ext cx="7955280" cy="228600"/>
          </a:xfrm>
          <a:prstGeom prst="rect">
            <a:avLst/>
          </a:prstGeom>
          <a:noFill/>
          <a:ln/>
        </p:spPr>
        <p:txBody>
          <a:bodyPr wrap="square" rtlCol="0" anchor="ctr"/>
          <a:lstStyle/>
          <a:p>
            <a:pPr marL="0" indent="0">
              <a:buNone/>
            </a:pPr>
            <a:r>
              <a:rPr lang="en-US" sz="1000" dirty="0">
                <a:solidFill>
                  <a:srgbClr val="1F1F1F"/>
                </a:solidFill>
              </a:rPr>
              <a:t>• Unicité : chaque id_etudiant apparaît une seule fois</a:t>
            </a:r>
            <a:endParaRPr lang="en-US" sz="1000" dirty="0"/>
          </a:p>
        </p:txBody>
      </p:sp>
      <p:sp>
        <p:nvSpPr>
          <p:cNvPr id="34" name="Text 32"/>
          <p:cNvSpPr/>
          <p:nvPr/>
        </p:nvSpPr>
        <p:spPr>
          <a:xfrm>
            <a:off x="731520" y="3749040"/>
            <a:ext cx="7955280" cy="228600"/>
          </a:xfrm>
          <a:prstGeom prst="rect">
            <a:avLst/>
          </a:prstGeom>
          <a:noFill/>
          <a:ln/>
        </p:spPr>
        <p:txBody>
          <a:bodyPr wrap="square" rtlCol="0" anchor="ctr"/>
          <a:lstStyle/>
          <a:p>
            <a:pPr marL="0" indent="0">
              <a:buNone/>
            </a:pPr>
            <a:r>
              <a:rPr lang="en-US" sz="1000" dirty="0">
                <a:solidFill>
                  <a:srgbClr val="1F1F1F"/>
                </a:solidFill>
              </a:rPr>
              <a:t>• Non-nullité : chaque étudiant doit avoir un id_etudiant</a:t>
            </a:r>
            <a:endParaRPr lang="en-US" sz="1000" dirty="0"/>
          </a:p>
        </p:txBody>
      </p:sp>
      <p:sp>
        <p:nvSpPr>
          <p:cNvPr id="35" name="Text 33"/>
          <p:cNvSpPr/>
          <p:nvPr/>
        </p:nvSpPr>
        <p:spPr>
          <a:xfrm>
            <a:off x="731520" y="4023360"/>
            <a:ext cx="7955280" cy="228600"/>
          </a:xfrm>
          <a:prstGeom prst="rect">
            <a:avLst/>
          </a:prstGeom>
          <a:noFill/>
          <a:ln/>
        </p:spPr>
        <p:txBody>
          <a:bodyPr wrap="square" rtlCol="0" anchor="ctr"/>
          <a:lstStyle/>
          <a:p>
            <a:pPr marL="0" indent="0">
              <a:buNone/>
            </a:pPr>
            <a:r>
              <a:rPr lang="en-US" sz="1000" dirty="0">
                <a:solidFill>
                  <a:srgbClr val="1F1F1F"/>
                </a:solidFill>
              </a:rPr>
              <a:t>• Stabilité : la clé ne change pas au fil du temps</a:t>
            </a:r>
            <a:endParaRPr lang="en-US" sz="1000" dirty="0"/>
          </a:p>
        </p:txBody>
      </p:sp>
      <p:sp>
        <p:nvSpPr>
          <p:cNvPr id="36" name="Text 34"/>
          <p:cNvSpPr/>
          <p:nvPr/>
        </p:nvSpPr>
        <p:spPr>
          <a:xfrm>
            <a:off x="731520" y="4297680"/>
            <a:ext cx="7955280" cy="228600"/>
          </a:xfrm>
          <a:prstGeom prst="rect">
            <a:avLst/>
          </a:prstGeom>
          <a:noFill/>
          <a:ln/>
        </p:spPr>
        <p:txBody>
          <a:bodyPr wrap="square" rtlCol="0" anchor="ctr"/>
          <a:lstStyle/>
          <a:p>
            <a:pPr marL="0" indent="0">
              <a:buNone/>
            </a:pPr>
            <a:r>
              <a:rPr lang="en-US" sz="1000" dirty="0">
                <a:solidFill>
                  <a:srgbClr val="1F1F1F"/>
                </a:solidFill>
              </a:rPr>
              <a:t>• Minimalité : pas d'attribut superflu dans la clé</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Clé étrangère</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21/40</a:t>
            </a:r>
            <a:endParaRPr lang="en-US" sz="1000" dirty="0"/>
          </a:p>
        </p:txBody>
      </p:sp>
      <p:sp>
        <p:nvSpPr>
          <p:cNvPr id="5" name="Text 3"/>
          <p:cNvSpPr/>
          <p:nvPr/>
        </p:nvSpPr>
        <p:spPr>
          <a:xfrm>
            <a:off x="457200" y="822960"/>
            <a:ext cx="8229600" cy="274320"/>
          </a:xfrm>
          <a:prstGeom prst="rect">
            <a:avLst/>
          </a:prstGeom>
          <a:noFill/>
          <a:ln/>
        </p:spPr>
        <p:txBody>
          <a:bodyPr wrap="square" rtlCol="0" anchor="ctr"/>
          <a:lstStyle/>
          <a:p>
            <a:pPr marL="0" indent="0">
              <a:buNone/>
            </a:pPr>
            <a:r>
              <a:rPr lang="en-US" sz="1400" b="1" dirty="0">
                <a:solidFill>
                  <a:srgbClr val="1F4E78"/>
                </a:solidFill>
              </a:rPr>
              <a:t>FOREIGN KEY (Clé étrangère)</a:t>
            </a:r>
            <a:endParaRPr lang="en-US" sz="1400" dirty="0"/>
          </a:p>
        </p:txBody>
      </p:sp>
      <p:sp>
        <p:nvSpPr>
          <p:cNvPr id="6" name="Text 4"/>
          <p:cNvSpPr/>
          <p:nvPr/>
        </p:nvSpPr>
        <p:spPr>
          <a:xfrm>
            <a:off x="457200" y="1188720"/>
            <a:ext cx="8229600" cy="457200"/>
          </a:xfrm>
          <a:prstGeom prst="rect">
            <a:avLst/>
          </a:prstGeom>
          <a:noFill/>
          <a:ln/>
        </p:spPr>
        <p:txBody>
          <a:bodyPr wrap="square" rtlCol="0" anchor="ctr"/>
          <a:lstStyle/>
          <a:p>
            <a:pPr marL="0" indent="0">
              <a:buNone/>
            </a:pPr>
            <a:r>
              <a:rPr lang="en-US" sz="1200" b="1" dirty="0">
                <a:solidFill>
                  <a:srgbClr val="1F1F1F"/>
                </a:solidFill>
              </a:rPr>
              <a:t>Attribut qui référence la clé primaire d'une autre table. Elle crée une relation entre deux tables.</a:t>
            </a:r>
            <a:endParaRPr lang="en-US" sz="1200" dirty="0"/>
          </a:p>
        </p:txBody>
      </p:sp>
      <p:sp>
        <p:nvSpPr>
          <p:cNvPr id="7" name="Text 5"/>
          <p:cNvSpPr/>
          <p:nvPr/>
        </p:nvSpPr>
        <p:spPr>
          <a:xfrm>
            <a:off x="457200" y="1874520"/>
            <a:ext cx="3840480" cy="182880"/>
          </a:xfrm>
          <a:prstGeom prst="rect">
            <a:avLst/>
          </a:prstGeom>
          <a:noFill/>
          <a:ln/>
        </p:spPr>
        <p:txBody>
          <a:bodyPr wrap="square" rtlCol="0" anchor="ctr"/>
          <a:lstStyle/>
          <a:p>
            <a:pPr marL="0" indent="0">
              <a:buNone/>
            </a:pPr>
            <a:r>
              <a:rPr lang="en-US" sz="1100" b="1" dirty="0">
                <a:solidFill>
                  <a:srgbClr val="1F4E78"/>
                </a:solidFill>
              </a:rPr>
              <a:t>Table ETUDIANT</a:t>
            </a:r>
            <a:endParaRPr lang="en-US" sz="1100" dirty="0"/>
          </a:p>
        </p:txBody>
      </p:sp>
      <p:sp>
        <p:nvSpPr>
          <p:cNvPr id="8" name="Shape 6"/>
          <p:cNvSpPr/>
          <p:nvPr/>
        </p:nvSpPr>
        <p:spPr>
          <a:xfrm>
            <a:off x="457200" y="2103120"/>
            <a:ext cx="548640" cy="274320"/>
          </a:xfrm>
          <a:prstGeom prst="rect">
            <a:avLst/>
          </a:prstGeom>
          <a:solidFill>
            <a:srgbClr val="2E75B6"/>
          </a:solidFill>
          <a:ln w="12700">
            <a:solidFill>
              <a:srgbClr val="E7E6E6"/>
            </a:solidFill>
            <a:prstDash val="solid"/>
          </a:ln>
        </p:spPr>
        <p:txBody>
          <a:bodyPr/>
          <a:lstStyle/>
          <a:p>
            <a:endParaRPr lang="fr-FR"/>
          </a:p>
        </p:txBody>
      </p:sp>
      <p:sp>
        <p:nvSpPr>
          <p:cNvPr id="9" name="Text 7"/>
          <p:cNvSpPr/>
          <p:nvPr/>
        </p:nvSpPr>
        <p:spPr>
          <a:xfrm>
            <a:off x="502920" y="2103120"/>
            <a:ext cx="457200" cy="274320"/>
          </a:xfrm>
          <a:prstGeom prst="rect">
            <a:avLst/>
          </a:prstGeom>
          <a:noFill/>
          <a:ln/>
        </p:spPr>
        <p:txBody>
          <a:bodyPr wrap="square" rtlCol="0" anchor="ctr"/>
          <a:lstStyle/>
          <a:p>
            <a:pPr marL="0" indent="0" algn="ctr">
              <a:buNone/>
            </a:pPr>
            <a:r>
              <a:rPr lang="en-US" sz="900" b="1" dirty="0">
                <a:solidFill>
                  <a:srgbClr val="FFFFFF"/>
                </a:solidFill>
              </a:rPr>
              <a:t>PK</a:t>
            </a:r>
            <a:endParaRPr lang="en-US" sz="900" dirty="0"/>
          </a:p>
        </p:txBody>
      </p:sp>
      <p:sp>
        <p:nvSpPr>
          <p:cNvPr id="10" name="Shape 8"/>
          <p:cNvSpPr/>
          <p:nvPr/>
        </p:nvSpPr>
        <p:spPr>
          <a:xfrm>
            <a:off x="1005840" y="2103120"/>
            <a:ext cx="1645920" cy="274320"/>
          </a:xfrm>
          <a:prstGeom prst="rect">
            <a:avLst/>
          </a:prstGeom>
          <a:solidFill>
            <a:srgbClr val="2E75B6"/>
          </a:solidFill>
          <a:ln w="12700">
            <a:solidFill>
              <a:srgbClr val="E7E6E6"/>
            </a:solidFill>
            <a:prstDash val="solid"/>
          </a:ln>
        </p:spPr>
        <p:txBody>
          <a:bodyPr/>
          <a:lstStyle/>
          <a:p>
            <a:endParaRPr lang="fr-FR"/>
          </a:p>
        </p:txBody>
      </p:sp>
      <p:sp>
        <p:nvSpPr>
          <p:cNvPr id="11" name="Text 9"/>
          <p:cNvSpPr/>
          <p:nvPr/>
        </p:nvSpPr>
        <p:spPr>
          <a:xfrm>
            <a:off x="1051560" y="2103120"/>
            <a:ext cx="1554480" cy="274320"/>
          </a:xfrm>
          <a:prstGeom prst="rect">
            <a:avLst/>
          </a:prstGeom>
          <a:noFill/>
          <a:ln/>
        </p:spPr>
        <p:txBody>
          <a:bodyPr wrap="square" rtlCol="0" anchor="ctr"/>
          <a:lstStyle/>
          <a:p>
            <a:pPr marL="0" indent="0" algn="ctr">
              <a:buNone/>
            </a:pPr>
            <a:r>
              <a:rPr lang="en-US" sz="900" b="1" dirty="0">
                <a:solidFill>
                  <a:srgbClr val="FFFFFF"/>
                </a:solidFill>
              </a:rPr>
              <a:t>id_etudiant</a:t>
            </a:r>
            <a:endParaRPr lang="en-US" sz="900" dirty="0"/>
          </a:p>
        </p:txBody>
      </p:sp>
      <p:sp>
        <p:nvSpPr>
          <p:cNvPr id="12" name="Shape 10"/>
          <p:cNvSpPr/>
          <p:nvPr/>
        </p:nvSpPr>
        <p:spPr>
          <a:xfrm>
            <a:off x="2651760" y="2103120"/>
            <a:ext cx="1645920" cy="274320"/>
          </a:xfrm>
          <a:prstGeom prst="rect">
            <a:avLst/>
          </a:prstGeom>
          <a:solidFill>
            <a:srgbClr val="2E75B6"/>
          </a:solidFill>
          <a:ln w="12700">
            <a:solidFill>
              <a:srgbClr val="E7E6E6"/>
            </a:solidFill>
            <a:prstDash val="solid"/>
          </a:ln>
        </p:spPr>
        <p:txBody>
          <a:bodyPr/>
          <a:lstStyle/>
          <a:p>
            <a:endParaRPr lang="fr-FR"/>
          </a:p>
        </p:txBody>
      </p:sp>
      <p:sp>
        <p:nvSpPr>
          <p:cNvPr id="13" name="Text 11"/>
          <p:cNvSpPr/>
          <p:nvPr/>
        </p:nvSpPr>
        <p:spPr>
          <a:xfrm>
            <a:off x="2697480" y="2103120"/>
            <a:ext cx="1554480" cy="274320"/>
          </a:xfrm>
          <a:prstGeom prst="rect">
            <a:avLst/>
          </a:prstGeom>
          <a:noFill/>
          <a:ln/>
        </p:spPr>
        <p:txBody>
          <a:bodyPr wrap="square" rtlCol="0" anchor="ctr"/>
          <a:lstStyle/>
          <a:p>
            <a:pPr marL="0" indent="0" algn="ctr">
              <a:buNone/>
            </a:pPr>
            <a:r>
              <a:rPr lang="en-US" sz="900" b="1" dirty="0">
                <a:solidFill>
                  <a:srgbClr val="FFFFFF"/>
                </a:solidFill>
              </a:rPr>
              <a:t>nom</a:t>
            </a:r>
            <a:endParaRPr lang="en-US" sz="900" dirty="0"/>
          </a:p>
        </p:txBody>
      </p:sp>
      <p:sp>
        <p:nvSpPr>
          <p:cNvPr id="14" name="Shape 12"/>
          <p:cNvSpPr/>
          <p:nvPr/>
        </p:nvSpPr>
        <p:spPr>
          <a:xfrm>
            <a:off x="457200" y="2377440"/>
            <a:ext cx="548640" cy="274320"/>
          </a:xfrm>
          <a:prstGeom prst="rect">
            <a:avLst/>
          </a:prstGeom>
          <a:solidFill>
            <a:srgbClr val="FFFFFF"/>
          </a:solidFill>
          <a:ln w="12700">
            <a:solidFill>
              <a:srgbClr val="E7E6E6"/>
            </a:solidFill>
            <a:prstDash val="solid"/>
          </a:ln>
        </p:spPr>
        <p:txBody>
          <a:bodyPr/>
          <a:lstStyle/>
          <a:p>
            <a:endParaRPr lang="fr-FR"/>
          </a:p>
        </p:txBody>
      </p:sp>
      <p:sp>
        <p:nvSpPr>
          <p:cNvPr id="15" name="Text 13"/>
          <p:cNvSpPr/>
          <p:nvPr/>
        </p:nvSpPr>
        <p:spPr>
          <a:xfrm>
            <a:off x="502920" y="2377440"/>
            <a:ext cx="457200" cy="274320"/>
          </a:xfrm>
          <a:prstGeom prst="rect">
            <a:avLst/>
          </a:prstGeom>
          <a:noFill/>
          <a:ln/>
        </p:spPr>
        <p:txBody>
          <a:bodyPr wrap="square" rtlCol="0" anchor="ctr"/>
          <a:lstStyle/>
          <a:p>
            <a:pPr marL="0" indent="0" algn="ctr">
              <a:buNone/>
            </a:pPr>
            <a:endParaRPr lang="en-US" sz="900" dirty="0"/>
          </a:p>
        </p:txBody>
      </p:sp>
      <p:sp>
        <p:nvSpPr>
          <p:cNvPr id="16" name="Shape 14"/>
          <p:cNvSpPr/>
          <p:nvPr/>
        </p:nvSpPr>
        <p:spPr>
          <a:xfrm>
            <a:off x="1005840" y="2377440"/>
            <a:ext cx="1645920" cy="274320"/>
          </a:xfrm>
          <a:prstGeom prst="rect">
            <a:avLst/>
          </a:prstGeom>
          <a:solidFill>
            <a:srgbClr val="FFFFFF"/>
          </a:solidFill>
          <a:ln w="12700">
            <a:solidFill>
              <a:srgbClr val="E7E6E6"/>
            </a:solidFill>
            <a:prstDash val="solid"/>
          </a:ln>
        </p:spPr>
        <p:txBody>
          <a:bodyPr/>
          <a:lstStyle/>
          <a:p>
            <a:endParaRPr lang="fr-FR"/>
          </a:p>
        </p:txBody>
      </p:sp>
      <p:sp>
        <p:nvSpPr>
          <p:cNvPr id="17" name="Text 15"/>
          <p:cNvSpPr/>
          <p:nvPr/>
        </p:nvSpPr>
        <p:spPr>
          <a:xfrm>
            <a:off x="1051560" y="2377440"/>
            <a:ext cx="1554480" cy="274320"/>
          </a:xfrm>
          <a:prstGeom prst="rect">
            <a:avLst/>
          </a:prstGeom>
          <a:noFill/>
          <a:ln/>
        </p:spPr>
        <p:txBody>
          <a:bodyPr wrap="square" rtlCol="0" anchor="ctr"/>
          <a:lstStyle/>
          <a:p>
            <a:pPr marL="0" indent="0" algn="ctr">
              <a:buNone/>
            </a:pPr>
            <a:r>
              <a:rPr lang="en-US" sz="900" dirty="0">
                <a:solidFill>
                  <a:srgbClr val="1F1F1F"/>
                </a:solidFill>
              </a:rPr>
              <a:t>1</a:t>
            </a:r>
            <a:endParaRPr lang="en-US" sz="900" dirty="0"/>
          </a:p>
        </p:txBody>
      </p:sp>
      <p:sp>
        <p:nvSpPr>
          <p:cNvPr id="18" name="Shape 16"/>
          <p:cNvSpPr/>
          <p:nvPr/>
        </p:nvSpPr>
        <p:spPr>
          <a:xfrm>
            <a:off x="2651760" y="2377440"/>
            <a:ext cx="1645920" cy="274320"/>
          </a:xfrm>
          <a:prstGeom prst="rect">
            <a:avLst/>
          </a:prstGeom>
          <a:solidFill>
            <a:srgbClr val="FFFFFF"/>
          </a:solidFill>
          <a:ln w="12700">
            <a:solidFill>
              <a:srgbClr val="E7E6E6"/>
            </a:solidFill>
            <a:prstDash val="solid"/>
          </a:ln>
        </p:spPr>
        <p:txBody>
          <a:bodyPr/>
          <a:lstStyle/>
          <a:p>
            <a:endParaRPr lang="fr-FR"/>
          </a:p>
        </p:txBody>
      </p:sp>
      <p:sp>
        <p:nvSpPr>
          <p:cNvPr id="19" name="Text 17"/>
          <p:cNvSpPr/>
          <p:nvPr/>
        </p:nvSpPr>
        <p:spPr>
          <a:xfrm>
            <a:off x="2697480" y="2377440"/>
            <a:ext cx="1554480" cy="274320"/>
          </a:xfrm>
          <a:prstGeom prst="rect">
            <a:avLst/>
          </a:prstGeom>
          <a:noFill/>
          <a:ln/>
        </p:spPr>
        <p:txBody>
          <a:bodyPr wrap="square" rtlCol="0" anchor="ctr"/>
          <a:lstStyle/>
          <a:p>
            <a:pPr marL="0" indent="0" algn="ctr">
              <a:buNone/>
            </a:pPr>
            <a:r>
              <a:rPr lang="en-US" sz="900" dirty="0">
                <a:solidFill>
                  <a:srgbClr val="1F1F1F"/>
                </a:solidFill>
              </a:rPr>
              <a:t>Dupont</a:t>
            </a:r>
            <a:endParaRPr lang="en-US" sz="900" dirty="0"/>
          </a:p>
        </p:txBody>
      </p:sp>
      <p:sp>
        <p:nvSpPr>
          <p:cNvPr id="20" name="Shape 18"/>
          <p:cNvSpPr/>
          <p:nvPr/>
        </p:nvSpPr>
        <p:spPr>
          <a:xfrm>
            <a:off x="457200" y="2651760"/>
            <a:ext cx="548640" cy="274320"/>
          </a:xfrm>
          <a:prstGeom prst="rect">
            <a:avLst/>
          </a:prstGeom>
          <a:solidFill>
            <a:srgbClr val="FFFFFF"/>
          </a:solidFill>
          <a:ln w="12700">
            <a:solidFill>
              <a:srgbClr val="E7E6E6"/>
            </a:solidFill>
            <a:prstDash val="solid"/>
          </a:ln>
        </p:spPr>
        <p:txBody>
          <a:bodyPr/>
          <a:lstStyle/>
          <a:p>
            <a:endParaRPr lang="fr-FR"/>
          </a:p>
        </p:txBody>
      </p:sp>
      <p:sp>
        <p:nvSpPr>
          <p:cNvPr id="21" name="Text 19"/>
          <p:cNvSpPr/>
          <p:nvPr/>
        </p:nvSpPr>
        <p:spPr>
          <a:xfrm>
            <a:off x="502920" y="2651760"/>
            <a:ext cx="457200" cy="274320"/>
          </a:xfrm>
          <a:prstGeom prst="rect">
            <a:avLst/>
          </a:prstGeom>
          <a:noFill/>
          <a:ln/>
        </p:spPr>
        <p:txBody>
          <a:bodyPr wrap="square" rtlCol="0" anchor="ctr"/>
          <a:lstStyle/>
          <a:p>
            <a:pPr marL="0" indent="0" algn="ctr">
              <a:buNone/>
            </a:pPr>
            <a:endParaRPr lang="en-US" sz="900" dirty="0"/>
          </a:p>
        </p:txBody>
      </p:sp>
      <p:sp>
        <p:nvSpPr>
          <p:cNvPr id="22" name="Shape 20"/>
          <p:cNvSpPr/>
          <p:nvPr/>
        </p:nvSpPr>
        <p:spPr>
          <a:xfrm>
            <a:off x="1005840" y="2651760"/>
            <a:ext cx="1645920" cy="274320"/>
          </a:xfrm>
          <a:prstGeom prst="rect">
            <a:avLst/>
          </a:prstGeom>
          <a:solidFill>
            <a:srgbClr val="FFFFFF"/>
          </a:solidFill>
          <a:ln w="12700">
            <a:solidFill>
              <a:srgbClr val="E7E6E6"/>
            </a:solidFill>
            <a:prstDash val="solid"/>
          </a:ln>
        </p:spPr>
        <p:txBody>
          <a:bodyPr/>
          <a:lstStyle/>
          <a:p>
            <a:endParaRPr lang="fr-FR"/>
          </a:p>
        </p:txBody>
      </p:sp>
      <p:sp>
        <p:nvSpPr>
          <p:cNvPr id="23" name="Text 21"/>
          <p:cNvSpPr/>
          <p:nvPr/>
        </p:nvSpPr>
        <p:spPr>
          <a:xfrm>
            <a:off x="1051560" y="2651760"/>
            <a:ext cx="1554480" cy="274320"/>
          </a:xfrm>
          <a:prstGeom prst="rect">
            <a:avLst/>
          </a:prstGeom>
          <a:noFill/>
          <a:ln/>
        </p:spPr>
        <p:txBody>
          <a:bodyPr wrap="square" rtlCol="0" anchor="ctr"/>
          <a:lstStyle/>
          <a:p>
            <a:pPr marL="0" indent="0" algn="ctr">
              <a:buNone/>
            </a:pPr>
            <a:r>
              <a:rPr lang="en-US" sz="900" dirty="0">
                <a:solidFill>
                  <a:srgbClr val="1F1F1F"/>
                </a:solidFill>
              </a:rPr>
              <a:t>2</a:t>
            </a:r>
            <a:endParaRPr lang="en-US" sz="900" dirty="0"/>
          </a:p>
        </p:txBody>
      </p:sp>
      <p:sp>
        <p:nvSpPr>
          <p:cNvPr id="24" name="Shape 22"/>
          <p:cNvSpPr/>
          <p:nvPr/>
        </p:nvSpPr>
        <p:spPr>
          <a:xfrm>
            <a:off x="2651760" y="2651760"/>
            <a:ext cx="1645920" cy="274320"/>
          </a:xfrm>
          <a:prstGeom prst="rect">
            <a:avLst/>
          </a:prstGeom>
          <a:solidFill>
            <a:srgbClr val="FFFFFF"/>
          </a:solidFill>
          <a:ln w="12700">
            <a:solidFill>
              <a:srgbClr val="E7E6E6"/>
            </a:solidFill>
            <a:prstDash val="solid"/>
          </a:ln>
        </p:spPr>
        <p:txBody>
          <a:bodyPr/>
          <a:lstStyle/>
          <a:p>
            <a:endParaRPr lang="fr-FR"/>
          </a:p>
        </p:txBody>
      </p:sp>
      <p:sp>
        <p:nvSpPr>
          <p:cNvPr id="25" name="Text 23"/>
          <p:cNvSpPr/>
          <p:nvPr/>
        </p:nvSpPr>
        <p:spPr>
          <a:xfrm>
            <a:off x="2697480" y="2651760"/>
            <a:ext cx="1554480" cy="274320"/>
          </a:xfrm>
          <a:prstGeom prst="rect">
            <a:avLst/>
          </a:prstGeom>
          <a:noFill/>
          <a:ln/>
        </p:spPr>
        <p:txBody>
          <a:bodyPr wrap="square" rtlCol="0" anchor="ctr"/>
          <a:lstStyle/>
          <a:p>
            <a:pPr marL="0" indent="0" algn="ctr">
              <a:buNone/>
            </a:pPr>
            <a:r>
              <a:rPr lang="en-US" sz="900" dirty="0">
                <a:solidFill>
                  <a:srgbClr val="1F1F1F"/>
                </a:solidFill>
              </a:rPr>
              <a:t>Martin</a:t>
            </a:r>
            <a:endParaRPr lang="en-US" sz="900" dirty="0"/>
          </a:p>
        </p:txBody>
      </p:sp>
      <p:sp>
        <p:nvSpPr>
          <p:cNvPr id="26" name="Text 24"/>
          <p:cNvSpPr/>
          <p:nvPr/>
        </p:nvSpPr>
        <p:spPr>
          <a:xfrm>
            <a:off x="4754880" y="1874520"/>
            <a:ext cx="3931920" cy="182880"/>
          </a:xfrm>
          <a:prstGeom prst="rect">
            <a:avLst/>
          </a:prstGeom>
          <a:noFill/>
          <a:ln/>
        </p:spPr>
        <p:txBody>
          <a:bodyPr wrap="square" rtlCol="0" anchor="ctr"/>
          <a:lstStyle/>
          <a:p>
            <a:pPr marL="0" indent="0">
              <a:buNone/>
            </a:pPr>
            <a:r>
              <a:rPr lang="en-US" sz="1100" b="1" dirty="0">
                <a:solidFill>
                  <a:srgbClr val="1F4E78"/>
                </a:solidFill>
              </a:rPr>
              <a:t>Table INSCRIPTION</a:t>
            </a:r>
            <a:endParaRPr lang="en-US" sz="1100" dirty="0"/>
          </a:p>
        </p:txBody>
      </p:sp>
      <p:sp>
        <p:nvSpPr>
          <p:cNvPr id="27" name="Shape 25"/>
          <p:cNvSpPr/>
          <p:nvPr/>
        </p:nvSpPr>
        <p:spPr>
          <a:xfrm>
            <a:off x="4754880" y="2103120"/>
            <a:ext cx="548640" cy="274320"/>
          </a:xfrm>
          <a:prstGeom prst="rect">
            <a:avLst/>
          </a:prstGeom>
          <a:solidFill>
            <a:srgbClr val="2E75B6"/>
          </a:solidFill>
          <a:ln w="12700">
            <a:solidFill>
              <a:srgbClr val="E7E6E6"/>
            </a:solidFill>
            <a:prstDash val="solid"/>
          </a:ln>
        </p:spPr>
        <p:txBody>
          <a:bodyPr/>
          <a:lstStyle/>
          <a:p>
            <a:endParaRPr lang="fr-FR"/>
          </a:p>
        </p:txBody>
      </p:sp>
      <p:sp>
        <p:nvSpPr>
          <p:cNvPr id="28" name="Text 26"/>
          <p:cNvSpPr/>
          <p:nvPr/>
        </p:nvSpPr>
        <p:spPr>
          <a:xfrm>
            <a:off x="4800600" y="2103120"/>
            <a:ext cx="457200" cy="274320"/>
          </a:xfrm>
          <a:prstGeom prst="rect">
            <a:avLst/>
          </a:prstGeom>
          <a:noFill/>
          <a:ln/>
        </p:spPr>
        <p:txBody>
          <a:bodyPr wrap="square" rtlCol="0" anchor="ctr"/>
          <a:lstStyle/>
          <a:p>
            <a:pPr marL="0" indent="0" algn="ctr">
              <a:buNone/>
            </a:pPr>
            <a:r>
              <a:rPr lang="en-US" sz="900" b="1" dirty="0">
                <a:solidFill>
                  <a:srgbClr val="FFFFFF"/>
                </a:solidFill>
              </a:rPr>
              <a:t>PK</a:t>
            </a:r>
            <a:endParaRPr lang="en-US" sz="900" dirty="0"/>
          </a:p>
        </p:txBody>
      </p:sp>
      <p:sp>
        <p:nvSpPr>
          <p:cNvPr id="29" name="Shape 27"/>
          <p:cNvSpPr/>
          <p:nvPr/>
        </p:nvSpPr>
        <p:spPr>
          <a:xfrm>
            <a:off x="5303520" y="2103120"/>
            <a:ext cx="1691640" cy="274320"/>
          </a:xfrm>
          <a:prstGeom prst="rect">
            <a:avLst/>
          </a:prstGeom>
          <a:solidFill>
            <a:srgbClr val="2E75B6"/>
          </a:solidFill>
          <a:ln w="12700">
            <a:solidFill>
              <a:srgbClr val="E7E6E6"/>
            </a:solidFill>
            <a:prstDash val="solid"/>
          </a:ln>
        </p:spPr>
        <p:txBody>
          <a:bodyPr/>
          <a:lstStyle/>
          <a:p>
            <a:endParaRPr lang="fr-FR"/>
          </a:p>
        </p:txBody>
      </p:sp>
      <p:sp>
        <p:nvSpPr>
          <p:cNvPr id="30" name="Text 28"/>
          <p:cNvSpPr/>
          <p:nvPr/>
        </p:nvSpPr>
        <p:spPr>
          <a:xfrm>
            <a:off x="5349240" y="2103120"/>
            <a:ext cx="1600200" cy="274320"/>
          </a:xfrm>
          <a:prstGeom prst="rect">
            <a:avLst/>
          </a:prstGeom>
          <a:noFill/>
          <a:ln/>
        </p:spPr>
        <p:txBody>
          <a:bodyPr wrap="square" rtlCol="0" anchor="ctr"/>
          <a:lstStyle/>
          <a:p>
            <a:pPr marL="0" indent="0" algn="ctr">
              <a:buNone/>
            </a:pPr>
            <a:r>
              <a:rPr lang="en-US" sz="900" b="1" dirty="0">
                <a:solidFill>
                  <a:srgbClr val="FFFFFF"/>
                </a:solidFill>
              </a:rPr>
              <a:t>id_etudiant</a:t>
            </a:r>
            <a:endParaRPr lang="en-US" sz="900" dirty="0"/>
          </a:p>
        </p:txBody>
      </p:sp>
      <p:sp>
        <p:nvSpPr>
          <p:cNvPr id="31" name="Shape 29"/>
          <p:cNvSpPr/>
          <p:nvPr/>
        </p:nvSpPr>
        <p:spPr>
          <a:xfrm>
            <a:off x="6995160" y="2103120"/>
            <a:ext cx="548640" cy="274320"/>
          </a:xfrm>
          <a:prstGeom prst="rect">
            <a:avLst/>
          </a:prstGeom>
          <a:solidFill>
            <a:srgbClr val="2E75B6"/>
          </a:solidFill>
          <a:ln w="12700">
            <a:solidFill>
              <a:srgbClr val="E7E6E6"/>
            </a:solidFill>
            <a:prstDash val="solid"/>
          </a:ln>
        </p:spPr>
        <p:txBody>
          <a:bodyPr/>
          <a:lstStyle/>
          <a:p>
            <a:endParaRPr lang="fr-FR"/>
          </a:p>
        </p:txBody>
      </p:sp>
      <p:sp>
        <p:nvSpPr>
          <p:cNvPr id="32" name="Text 30"/>
          <p:cNvSpPr/>
          <p:nvPr/>
        </p:nvSpPr>
        <p:spPr>
          <a:xfrm>
            <a:off x="7040880" y="2103120"/>
            <a:ext cx="457200" cy="274320"/>
          </a:xfrm>
          <a:prstGeom prst="rect">
            <a:avLst/>
          </a:prstGeom>
          <a:noFill/>
          <a:ln/>
        </p:spPr>
        <p:txBody>
          <a:bodyPr wrap="square" rtlCol="0" anchor="ctr"/>
          <a:lstStyle/>
          <a:p>
            <a:pPr marL="0" indent="0" algn="ctr">
              <a:buNone/>
            </a:pPr>
            <a:r>
              <a:rPr lang="en-US" sz="900" b="1" dirty="0">
                <a:solidFill>
                  <a:srgbClr val="FFFFFF"/>
                </a:solidFill>
              </a:rPr>
              <a:t>FK</a:t>
            </a:r>
            <a:endParaRPr lang="en-US" sz="900" dirty="0"/>
          </a:p>
        </p:txBody>
      </p:sp>
      <p:sp>
        <p:nvSpPr>
          <p:cNvPr id="33" name="Shape 31"/>
          <p:cNvSpPr/>
          <p:nvPr/>
        </p:nvSpPr>
        <p:spPr>
          <a:xfrm>
            <a:off x="7543800" y="2103120"/>
            <a:ext cx="1691640" cy="274320"/>
          </a:xfrm>
          <a:prstGeom prst="rect">
            <a:avLst/>
          </a:prstGeom>
          <a:solidFill>
            <a:srgbClr val="2E75B6"/>
          </a:solidFill>
          <a:ln w="12700">
            <a:solidFill>
              <a:srgbClr val="E7E6E6"/>
            </a:solidFill>
            <a:prstDash val="solid"/>
          </a:ln>
        </p:spPr>
        <p:txBody>
          <a:bodyPr/>
          <a:lstStyle/>
          <a:p>
            <a:endParaRPr lang="fr-FR"/>
          </a:p>
        </p:txBody>
      </p:sp>
      <p:sp>
        <p:nvSpPr>
          <p:cNvPr id="34" name="Text 32"/>
          <p:cNvSpPr/>
          <p:nvPr/>
        </p:nvSpPr>
        <p:spPr>
          <a:xfrm>
            <a:off x="7589520" y="2103120"/>
            <a:ext cx="1600200" cy="274320"/>
          </a:xfrm>
          <a:prstGeom prst="rect">
            <a:avLst/>
          </a:prstGeom>
          <a:noFill/>
          <a:ln/>
        </p:spPr>
        <p:txBody>
          <a:bodyPr wrap="square" rtlCol="0" anchor="ctr"/>
          <a:lstStyle/>
          <a:p>
            <a:pPr marL="0" indent="0" algn="ctr">
              <a:buNone/>
            </a:pPr>
            <a:r>
              <a:rPr lang="en-US" sz="900" b="1" dirty="0">
                <a:solidFill>
                  <a:srgbClr val="FFFFFF"/>
                </a:solidFill>
              </a:rPr>
              <a:t>id_cours</a:t>
            </a:r>
            <a:endParaRPr lang="en-US" sz="900" dirty="0"/>
          </a:p>
        </p:txBody>
      </p:sp>
      <p:sp>
        <p:nvSpPr>
          <p:cNvPr id="35" name="Shape 33"/>
          <p:cNvSpPr/>
          <p:nvPr/>
        </p:nvSpPr>
        <p:spPr>
          <a:xfrm>
            <a:off x="4754880" y="2377440"/>
            <a:ext cx="548640" cy="274320"/>
          </a:xfrm>
          <a:prstGeom prst="rect">
            <a:avLst/>
          </a:prstGeom>
          <a:solidFill>
            <a:srgbClr val="FFFFFF"/>
          </a:solidFill>
          <a:ln w="12700">
            <a:solidFill>
              <a:srgbClr val="E7E6E6"/>
            </a:solidFill>
            <a:prstDash val="solid"/>
          </a:ln>
        </p:spPr>
        <p:txBody>
          <a:bodyPr/>
          <a:lstStyle/>
          <a:p>
            <a:endParaRPr lang="fr-FR"/>
          </a:p>
        </p:txBody>
      </p:sp>
      <p:sp>
        <p:nvSpPr>
          <p:cNvPr id="36" name="Text 34"/>
          <p:cNvSpPr/>
          <p:nvPr/>
        </p:nvSpPr>
        <p:spPr>
          <a:xfrm>
            <a:off x="4800600" y="2377440"/>
            <a:ext cx="457200" cy="274320"/>
          </a:xfrm>
          <a:prstGeom prst="rect">
            <a:avLst/>
          </a:prstGeom>
          <a:noFill/>
          <a:ln/>
        </p:spPr>
        <p:txBody>
          <a:bodyPr wrap="square" rtlCol="0" anchor="ctr"/>
          <a:lstStyle/>
          <a:p>
            <a:pPr marL="0" indent="0" algn="ctr">
              <a:buNone/>
            </a:pPr>
            <a:endParaRPr lang="en-US" sz="900" dirty="0"/>
          </a:p>
        </p:txBody>
      </p:sp>
      <p:sp>
        <p:nvSpPr>
          <p:cNvPr id="37" name="Shape 35"/>
          <p:cNvSpPr/>
          <p:nvPr/>
        </p:nvSpPr>
        <p:spPr>
          <a:xfrm>
            <a:off x="5303520" y="2377440"/>
            <a:ext cx="1691640" cy="274320"/>
          </a:xfrm>
          <a:prstGeom prst="rect">
            <a:avLst/>
          </a:prstGeom>
          <a:solidFill>
            <a:srgbClr val="FFFFFF"/>
          </a:solidFill>
          <a:ln w="12700">
            <a:solidFill>
              <a:srgbClr val="E7E6E6"/>
            </a:solidFill>
            <a:prstDash val="solid"/>
          </a:ln>
        </p:spPr>
        <p:txBody>
          <a:bodyPr/>
          <a:lstStyle/>
          <a:p>
            <a:endParaRPr lang="fr-FR"/>
          </a:p>
        </p:txBody>
      </p:sp>
      <p:sp>
        <p:nvSpPr>
          <p:cNvPr id="38" name="Text 36"/>
          <p:cNvSpPr/>
          <p:nvPr/>
        </p:nvSpPr>
        <p:spPr>
          <a:xfrm>
            <a:off x="5349240" y="2377440"/>
            <a:ext cx="1600200" cy="274320"/>
          </a:xfrm>
          <a:prstGeom prst="rect">
            <a:avLst/>
          </a:prstGeom>
          <a:noFill/>
          <a:ln/>
        </p:spPr>
        <p:txBody>
          <a:bodyPr wrap="square" rtlCol="0" anchor="ctr"/>
          <a:lstStyle/>
          <a:p>
            <a:pPr marL="0" indent="0" algn="ctr">
              <a:buNone/>
            </a:pPr>
            <a:r>
              <a:rPr lang="en-US" sz="900" dirty="0">
                <a:solidFill>
                  <a:srgbClr val="1F1F1F"/>
                </a:solidFill>
              </a:rPr>
              <a:t>1</a:t>
            </a:r>
            <a:endParaRPr lang="en-US" sz="900" dirty="0"/>
          </a:p>
        </p:txBody>
      </p:sp>
      <p:sp>
        <p:nvSpPr>
          <p:cNvPr id="39" name="Shape 37"/>
          <p:cNvSpPr/>
          <p:nvPr/>
        </p:nvSpPr>
        <p:spPr>
          <a:xfrm>
            <a:off x="6995160" y="2377440"/>
            <a:ext cx="548640" cy="274320"/>
          </a:xfrm>
          <a:prstGeom prst="rect">
            <a:avLst/>
          </a:prstGeom>
          <a:solidFill>
            <a:srgbClr val="FFFFFF"/>
          </a:solidFill>
          <a:ln w="12700">
            <a:solidFill>
              <a:srgbClr val="E7E6E6"/>
            </a:solidFill>
            <a:prstDash val="solid"/>
          </a:ln>
        </p:spPr>
        <p:txBody>
          <a:bodyPr/>
          <a:lstStyle/>
          <a:p>
            <a:endParaRPr lang="fr-FR"/>
          </a:p>
        </p:txBody>
      </p:sp>
      <p:sp>
        <p:nvSpPr>
          <p:cNvPr id="40" name="Text 38"/>
          <p:cNvSpPr/>
          <p:nvPr/>
        </p:nvSpPr>
        <p:spPr>
          <a:xfrm>
            <a:off x="7040880" y="2377440"/>
            <a:ext cx="457200" cy="274320"/>
          </a:xfrm>
          <a:prstGeom prst="rect">
            <a:avLst/>
          </a:prstGeom>
          <a:noFill/>
          <a:ln/>
        </p:spPr>
        <p:txBody>
          <a:bodyPr wrap="square" rtlCol="0" anchor="ctr"/>
          <a:lstStyle/>
          <a:p>
            <a:pPr marL="0" indent="0" algn="ctr">
              <a:buNone/>
            </a:pPr>
            <a:endParaRPr lang="en-US" sz="900" dirty="0"/>
          </a:p>
        </p:txBody>
      </p:sp>
      <p:sp>
        <p:nvSpPr>
          <p:cNvPr id="41" name="Shape 39"/>
          <p:cNvSpPr/>
          <p:nvPr/>
        </p:nvSpPr>
        <p:spPr>
          <a:xfrm>
            <a:off x="7543800" y="2377440"/>
            <a:ext cx="1691640" cy="274320"/>
          </a:xfrm>
          <a:prstGeom prst="rect">
            <a:avLst/>
          </a:prstGeom>
          <a:solidFill>
            <a:srgbClr val="FFFFFF"/>
          </a:solidFill>
          <a:ln w="12700">
            <a:solidFill>
              <a:srgbClr val="E7E6E6"/>
            </a:solidFill>
            <a:prstDash val="solid"/>
          </a:ln>
        </p:spPr>
        <p:txBody>
          <a:bodyPr/>
          <a:lstStyle/>
          <a:p>
            <a:endParaRPr lang="fr-FR"/>
          </a:p>
        </p:txBody>
      </p:sp>
      <p:sp>
        <p:nvSpPr>
          <p:cNvPr id="42" name="Text 40"/>
          <p:cNvSpPr/>
          <p:nvPr/>
        </p:nvSpPr>
        <p:spPr>
          <a:xfrm>
            <a:off x="7589520" y="2377440"/>
            <a:ext cx="1600200" cy="274320"/>
          </a:xfrm>
          <a:prstGeom prst="rect">
            <a:avLst/>
          </a:prstGeom>
          <a:noFill/>
          <a:ln/>
        </p:spPr>
        <p:txBody>
          <a:bodyPr wrap="square" rtlCol="0" anchor="ctr"/>
          <a:lstStyle/>
          <a:p>
            <a:pPr marL="0" indent="0" algn="ctr">
              <a:buNone/>
            </a:pPr>
            <a:r>
              <a:rPr lang="en-US" sz="900" dirty="0">
                <a:solidFill>
                  <a:srgbClr val="1F1F1F"/>
                </a:solidFill>
              </a:rPr>
              <a:t>101</a:t>
            </a:r>
            <a:endParaRPr lang="en-US" sz="900" dirty="0"/>
          </a:p>
        </p:txBody>
      </p:sp>
      <p:sp>
        <p:nvSpPr>
          <p:cNvPr id="43" name="Shape 41"/>
          <p:cNvSpPr/>
          <p:nvPr/>
        </p:nvSpPr>
        <p:spPr>
          <a:xfrm>
            <a:off x="4754880" y="2651760"/>
            <a:ext cx="548640" cy="274320"/>
          </a:xfrm>
          <a:prstGeom prst="rect">
            <a:avLst/>
          </a:prstGeom>
          <a:solidFill>
            <a:srgbClr val="FFFFFF"/>
          </a:solidFill>
          <a:ln w="12700">
            <a:solidFill>
              <a:srgbClr val="E7E6E6"/>
            </a:solidFill>
            <a:prstDash val="solid"/>
          </a:ln>
        </p:spPr>
        <p:txBody>
          <a:bodyPr/>
          <a:lstStyle/>
          <a:p>
            <a:endParaRPr lang="fr-FR"/>
          </a:p>
        </p:txBody>
      </p:sp>
      <p:sp>
        <p:nvSpPr>
          <p:cNvPr id="44" name="Text 42"/>
          <p:cNvSpPr/>
          <p:nvPr/>
        </p:nvSpPr>
        <p:spPr>
          <a:xfrm>
            <a:off x="4800600" y="2651760"/>
            <a:ext cx="457200" cy="274320"/>
          </a:xfrm>
          <a:prstGeom prst="rect">
            <a:avLst/>
          </a:prstGeom>
          <a:noFill/>
          <a:ln/>
        </p:spPr>
        <p:txBody>
          <a:bodyPr wrap="square" rtlCol="0" anchor="ctr"/>
          <a:lstStyle/>
          <a:p>
            <a:pPr marL="0" indent="0" algn="ctr">
              <a:buNone/>
            </a:pPr>
            <a:endParaRPr lang="en-US" sz="900" dirty="0"/>
          </a:p>
        </p:txBody>
      </p:sp>
      <p:sp>
        <p:nvSpPr>
          <p:cNvPr id="45" name="Shape 43"/>
          <p:cNvSpPr/>
          <p:nvPr/>
        </p:nvSpPr>
        <p:spPr>
          <a:xfrm>
            <a:off x="5303520" y="2651760"/>
            <a:ext cx="1691640" cy="274320"/>
          </a:xfrm>
          <a:prstGeom prst="rect">
            <a:avLst/>
          </a:prstGeom>
          <a:solidFill>
            <a:srgbClr val="FFFFFF"/>
          </a:solidFill>
          <a:ln w="12700">
            <a:solidFill>
              <a:srgbClr val="E7E6E6"/>
            </a:solidFill>
            <a:prstDash val="solid"/>
          </a:ln>
        </p:spPr>
        <p:txBody>
          <a:bodyPr/>
          <a:lstStyle/>
          <a:p>
            <a:endParaRPr lang="fr-FR"/>
          </a:p>
        </p:txBody>
      </p:sp>
      <p:sp>
        <p:nvSpPr>
          <p:cNvPr id="46" name="Text 44"/>
          <p:cNvSpPr/>
          <p:nvPr/>
        </p:nvSpPr>
        <p:spPr>
          <a:xfrm>
            <a:off x="5349240" y="2651760"/>
            <a:ext cx="1600200" cy="274320"/>
          </a:xfrm>
          <a:prstGeom prst="rect">
            <a:avLst/>
          </a:prstGeom>
          <a:noFill/>
          <a:ln/>
        </p:spPr>
        <p:txBody>
          <a:bodyPr wrap="square" rtlCol="0" anchor="ctr"/>
          <a:lstStyle/>
          <a:p>
            <a:pPr marL="0" indent="0" algn="ctr">
              <a:buNone/>
            </a:pPr>
            <a:r>
              <a:rPr lang="en-US" sz="900" dirty="0">
                <a:solidFill>
                  <a:srgbClr val="1F1F1F"/>
                </a:solidFill>
              </a:rPr>
              <a:t>2</a:t>
            </a:r>
            <a:endParaRPr lang="en-US" sz="900" dirty="0"/>
          </a:p>
        </p:txBody>
      </p:sp>
      <p:sp>
        <p:nvSpPr>
          <p:cNvPr id="47" name="Shape 45"/>
          <p:cNvSpPr/>
          <p:nvPr/>
        </p:nvSpPr>
        <p:spPr>
          <a:xfrm>
            <a:off x="6995160" y="2651760"/>
            <a:ext cx="548640" cy="274320"/>
          </a:xfrm>
          <a:prstGeom prst="rect">
            <a:avLst/>
          </a:prstGeom>
          <a:solidFill>
            <a:srgbClr val="FFFFFF"/>
          </a:solidFill>
          <a:ln w="12700">
            <a:solidFill>
              <a:srgbClr val="E7E6E6"/>
            </a:solidFill>
            <a:prstDash val="solid"/>
          </a:ln>
        </p:spPr>
        <p:txBody>
          <a:bodyPr/>
          <a:lstStyle/>
          <a:p>
            <a:endParaRPr lang="fr-FR"/>
          </a:p>
        </p:txBody>
      </p:sp>
      <p:sp>
        <p:nvSpPr>
          <p:cNvPr id="48" name="Text 46"/>
          <p:cNvSpPr/>
          <p:nvPr/>
        </p:nvSpPr>
        <p:spPr>
          <a:xfrm>
            <a:off x="7040880" y="2651760"/>
            <a:ext cx="457200" cy="274320"/>
          </a:xfrm>
          <a:prstGeom prst="rect">
            <a:avLst/>
          </a:prstGeom>
          <a:noFill/>
          <a:ln/>
        </p:spPr>
        <p:txBody>
          <a:bodyPr wrap="square" rtlCol="0" anchor="ctr"/>
          <a:lstStyle/>
          <a:p>
            <a:pPr marL="0" indent="0" algn="ctr">
              <a:buNone/>
            </a:pPr>
            <a:endParaRPr lang="en-US" sz="900" dirty="0"/>
          </a:p>
        </p:txBody>
      </p:sp>
      <p:sp>
        <p:nvSpPr>
          <p:cNvPr id="49" name="Shape 47"/>
          <p:cNvSpPr/>
          <p:nvPr/>
        </p:nvSpPr>
        <p:spPr>
          <a:xfrm>
            <a:off x="7543800" y="2651760"/>
            <a:ext cx="1691640" cy="274320"/>
          </a:xfrm>
          <a:prstGeom prst="rect">
            <a:avLst/>
          </a:prstGeom>
          <a:solidFill>
            <a:srgbClr val="FFFFFF"/>
          </a:solidFill>
          <a:ln w="12700">
            <a:solidFill>
              <a:srgbClr val="E7E6E6"/>
            </a:solidFill>
            <a:prstDash val="solid"/>
          </a:ln>
        </p:spPr>
        <p:txBody>
          <a:bodyPr/>
          <a:lstStyle/>
          <a:p>
            <a:endParaRPr lang="fr-FR"/>
          </a:p>
        </p:txBody>
      </p:sp>
      <p:sp>
        <p:nvSpPr>
          <p:cNvPr id="50" name="Text 48"/>
          <p:cNvSpPr/>
          <p:nvPr/>
        </p:nvSpPr>
        <p:spPr>
          <a:xfrm>
            <a:off x="7589520" y="2651760"/>
            <a:ext cx="1600200" cy="274320"/>
          </a:xfrm>
          <a:prstGeom prst="rect">
            <a:avLst/>
          </a:prstGeom>
          <a:noFill/>
          <a:ln/>
        </p:spPr>
        <p:txBody>
          <a:bodyPr wrap="square" rtlCol="0" anchor="ctr"/>
          <a:lstStyle/>
          <a:p>
            <a:pPr marL="0" indent="0" algn="ctr">
              <a:buNone/>
            </a:pPr>
            <a:r>
              <a:rPr lang="en-US" sz="900" dirty="0">
                <a:solidFill>
                  <a:srgbClr val="1F1F1F"/>
                </a:solidFill>
              </a:rPr>
              <a:t>102</a:t>
            </a:r>
            <a:endParaRPr lang="en-US" sz="900" dirty="0"/>
          </a:p>
        </p:txBody>
      </p:sp>
      <p:sp>
        <p:nvSpPr>
          <p:cNvPr id="51" name="Shape 49"/>
          <p:cNvSpPr/>
          <p:nvPr/>
        </p:nvSpPr>
        <p:spPr>
          <a:xfrm>
            <a:off x="2194560" y="2377440"/>
            <a:ext cx="2286000" cy="0"/>
          </a:xfrm>
          <a:prstGeom prst="line">
            <a:avLst/>
          </a:prstGeom>
          <a:noFill/>
          <a:ln w="25400">
            <a:solidFill>
              <a:srgbClr val="F79646"/>
            </a:solidFill>
            <a:prstDash val="solid"/>
          </a:ln>
        </p:spPr>
        <p:txBody>
          <a:bodyPr/>
          <a:lstStyle/>
          <a:p>
            <a:endParaRPr lang="fr-FR"/>
          </a:p>
        </p:txBody>
      </p:sp>
      <p:sp>
        <p:nvSpPr>
          <p:cNvPr id="52" name="Shape 50"/>
          <p:cNvSpPr/>
          <p:nvPr/>
        </p:nvSpPr>
        <p:spPr>
          <a:xfrm>
            <a:off x="457200" y="2926080"/>
            <a:ext cx="8229600" cy="1645920"/>
          </a:xfrm>
          <a:prstGeom prst="rect">
            <a:avLst/>
          </a:prstGeom>
          <a:solidFill>
            <a:srgbClr val="E7E6E6"/>
          </a:solidFill>
          <a:ln w="25400">
            <a:solidFill>
              <a:srgbClr val="F79646"/>
            </a:solidFill>
            <a:prstDash val="solid"/>
          </a:ln>
        </p:spPr>
        <p:txBody>
          <a:bodyPr/>
          <a:lstStyle/>
          <a:p>
            <a:endParaRPr lang="fr-FR"/>
          </a:p>
        </p:txBody>
      </p:sp>
      <p:sp>
        <p:nvSpPr>
          <p:cNvPr id="53" name="Text 51"/>
          <p:cNvSpPr/>
          <p:nvPr/>
        </p:nvSpPr>
        <p:spPr>
          <a:xfrm>
            <a:off x="640080" y="3017520"/>
            <a:ext cx="7863840" cy="182880"/>
          </a:xfrm>
          <a:prstGeom prst="rect">
            <a:avLst/>
          </a:prstGeom>
          <a:noFill/>
          <a:ln/>
        </p:spPr>
        <p:txBody>
          <a:bodyPr wrap="square" rtlCol="0" anchor="ctr"/>
          <a:lstStyle/>
          <a:p>
            <a:pPr marL="0" indent="0">
              <a:buNone/>
            </a:pPr>
            <a:r>
              <a:rPr lang="en-US" sz="1100" b="1" dirty="0">
                <a:solidFill>
                  <a:srgbClr val="1F4E78"/>
                </a:solidFill>
              </a:rPr>
              <a:t>Interprétation :</a:t>
            </a:r>
            <a:endParaRPr lang="en-US" sz="1100" dirty="0"/>
          </a:p>
        </p:txBody>
      </p:sp>
      <p:sp>
        <p:nvSpPr>
          <p:cNvPr id="54" name="Text 52"/>
          <p:cNvSpPr/>
          <p:nvPr/>
        </p:nvSpPr>
        <p:spPr>
          <a:xfrm>
            <a:off x="822960" y="3337560"/>
            <a:ext cx="7498080" cy="182880"/>
          </a:xfrm>
          <a:prstGeom prst="rect">
            <a:avLst/>
          </a:prstGeom>
          <a:noFill/>
          <a:ln/>
        </p:spPr>
        <p:txBody>
          <a:bodyPr wrap="square" rtlCol="0" anchor="ctr"/>
          <a:lstStyle/>
          <a:p>
            <a:pPr marL="0" indent="0">
              <a:buNone/>
            </a:pPr>
            <a:r>
              <a:rPr lang="en-US" sz="900" dirty="0">
                <a:solidFill>
                  <a:srgbClr val="1F1F1F"/>
                </a:solidFill>
              </a:rPr>
              <a:t>• id_étudiant dans INSCRIPTION est une clé étrangère</a:t>
            </a:r>
            <a:endParaRPr lang="en-US" sz="900" dirty="0"/>
          </a:p>
        </p:txBody>
      </p:sp>
      <p:sp>
        <p:nvSpPr>
          <p:cNvPr id="55" name="Text 53"/>
          <p:cNvSpPr/>
          <p:nvPr/>
        </p:nvSpPr>
        <p:spPr>
          <a:xfrm>
            <a:off x="822960" y="3547872"/>
            <a:ext cx="7498080" cy="182880"/>
          </a:xfrm>
          <a:prstGeom prst="rect">
            <a:avLst/>
          </a:prstGeom>
          <a:noFill/>
          <a:ln/>
        </p:spPr>
        <p:txBody>
          <a:bodyPr wrap="square" rtlCol="0" anchor="ctr"/>
          <a:lstStyle/>
          <a:p>
            <a:pPr marL="0" indent="0">
              <a:buNone/>
            </a:pPr>
            <a:r>
              <a:rPr lang="en-US" sz="900" dirty="0">
                <a:solidFill>
                  <a:srgbClr val="1F1F1F"/>
                </a:solidFill>
              </a:rPr>
              <a:t>• Elle référence id_étudiant dans ETUDIANT</a:t>
            </a:r>
            <a:endParaRPr lang="en-US" sz="900" dirty="0"/>
          </a:p>
        </p:txBody>
      </p:sp>
      <p:sp>
        <p:nvSpPr>
          <p:cNvPr id="56" name="Text 54"/>
          <p:cNvSpPr/>
          <p:nvPr/>
        </p:nvSpPr>
        <p:spPr>
          <a:xfrm>
            <a:off x="822960" y="3758184"/>
            <a:ext cx="7498080" cy="182880"/>
          </a:xfrm>
          <a:prstGeom prst="rect">
            <a:avLst/>
          </a:prstGeom>
          <a:noFill/>
          <a:ln/>
        </p:spPr>
        <p:txBody>
          <a:bodyPr wrap="square" rtlCol="0" anchor="ctr"/>
          <a:lstStyle/>
          <a:p>
            <a:pPr marL="0" indent="0">
              <a:buNone/>
            </a:pPr>
            <a:r>
              <a:rPr lang="en-US" sz="900" dirty="0">
                <a:solidFill>
                  <a:srgbClr val="1F1F1F"/>
                </a:solidFill>
              </a:rPr>
              <a:t>• Chaque inscription est liée à un étudiant réel</a:t>
            </a:r>
            <a:endParaRPr lang="en-US" sz="900" dirty="0"/>
          </a:p>
        </p:txBody>
      </p:sp>
      <p:sp>
        <p:nvSpPr>
          <p:cNvPr id="57" name="Text 55"/>
          <p:cNvSpPr/>
          <p:nvPr/>
        </p:nvSpPr>
        <p:spPr>
          <a:xfrm>
            <a:off x="822960" y="3968496"/>
            <a:ext cx="7498080" cy="182880"/>
          </a:xfrm>
          <a:prstGeom prst="rect">
            <a:avLst/>
          </a:prstGeom>
          <a:noFill/>
          <a:ln/>
        </p:spPr>
        <p:txBody>
          <a:bodyPr wrap="square" rtlCol="0" anchor="ctr"/>
          <a:lstStyle/>
          <a:p>
            <a:pPr marL="0" indent="0">
              <a:buNone/>
            </a:pPr>
            <a:r>
              <a:rPr lang="en-US" sz="900" dirty="0">
                <a:solidFill>
                  <a:srgbClr val="1F1F1F"/>
                </a:solidFill>
              </a:rPr>
              <a:t>• On ne peut pas inscrire un étudiant qui n'existe pas (intégrité référentielle)</a:t>
            </a:r>
            <a:endParaRPr lang="en-US" sz="900" dirty="0"/>
          </a:p>
        </p:txBody>
      </p:sp>
      <p:sp>
        <p:nvSpPr>
          <p:cNvPr id="58" name="Text 56"/>
          <p:cNvSpPr/>
          <p:nvPr/>
        </p:nvSpPr>
        <p:spPr>
          <a:xfrm>
            <a:off x="822960" y="4178808"/>
            <a:ext cx="7498080" cy="182880"/>
          </a:xfrm>
          <a:prstGeom prst="rect">
            <a:avLst/>
          </a:prstGeom>
          <a:noFill/>
          <a:ln/>
        </p:spPr>
        <p:txBody>
          <a:bodyPr wrap="square" rtlCol="0" anchor="ctr"/>
          <a:lstStyle/>
          <a:p>
            <a:pPr marL="0" indent="0">
              <a:buNone/>
            </a:pPr>
            <a:r>
              <a:rPr lang="en-US" sz="900" dirty="0">
                <a:solidFill>
                  <a:srgbClr val="1F1F1F"/>
                </a:solidFill>
              </a:rPr>
              <a:t>• Si on supprime un étudiant, ses inscriptions doivent être gérées (DELETE CASCADE ou SET NULL)</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Relations et cardinalités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22/40</a:t>
            </a:r>
            <a:endParaRPr lang="en-US" sz="1000" dirty="0"/>
          </a:p>
        </p:txBody>
      </p:sp>
      <p:sp>
        <p:nvSpPr>
          <p:cNvPr id="5" name="Text 3"/>
          <p:cNvSpPr/>
          <p:nvPr/>
        </p:nvSpPr>
        <p:spPr>
          <a:xfrm>
            <a:off x="457200" y="822960"/>
            <a:ext cx="8229600" cy="274320"/>
          </a:xfrm>
          <a:prstGeom prst="rect">
            <a:avLst/>
          </a:prstGeom>
          <a:noFill/>
          <a:ln/>
        </p:spPr>
        <p:txBody>
          <a:bodyPr wrap="square" rtlCol="0" anchor="ctr"/>
          <a:lstStyle/>
          <a:p>
            <a:pPr marL="0" indent="0">
              <a:buNone/>
            </a:pPr>
            <a:r>
              <a:rPr lang="en-US" sz="1400" b="1" dirty="0">
                <a:solidFill>
                  <a:srgbClr val="1F4E78"/>
                </a:solidFill>
              </a:rPr>
              <a:t>Trois types de relations</a:t>
            </a:r>
            <a:endParaRPr lang="en-US" sz="1400" dirty="0"/>
          </a:p>
        </p:txBody>
      </p:sp>
      <p:sp>
        <p:nvSpPr>
          <p:cNvPr id="6" name="Shape 4"/>
          <p:cNvSpPr/>
          <p:nvPr/>
        </p:nvSpPr>
        <p:spPr>
          <a:xfrm>
            <a:off x="457200" y="1280160"/>
            <a:ext cx="2560320" cy="1645920"/>
          </a:xfrm>
          <a:prstGeom prst="rect">
            <a:avLst/>
          </a:prstGeom>
          <a:solidFill>
            <a:srgbClr val="E7E6E6"/>
          </a:solidFill>
          <a:ln w="25400">
            <a:solidFill>
              <a:srgbClr val="F79646"/>
            </a:solidFill>
            <a:prstDash val="solid"/>
          </a:ln>
        </p:spPr>
        <p:txBody>
          <a:bodyPr/>
          <a:lstStyle/>
          <a:p>
            <a:endParaRPr lang="fr-FR"/>
          </a:p>
        </p:txBody>
      </p:sp>
      <p:sp>
        <p:nvSpPr>
          <p:cNvPr id="7" name="Text 5"/>
          <p:cNvSpPr/>
          <p:nvPr/>
        </p:nvSpPr>
        <p:spPr>
          <a:xfrm>
            <a:off x="457200" y="1280160"/>
            <a:ext cx="2560320" cy="274320"/>
          </a:xfrm>
          <a:prstGeom prst="rect">
            <a:avLst/>
          </a:prstGeom>
          <a:noFill/>
          <a:ln/>
        </p:spPr>
        <p:txBody>
          <a:bodyPr wrap="square" rtlCol="0" anchor="ctr"/>
          <a:lstStyle/>
          <a:p>
            <a:pPr marL="0" indent="0" algn="ctr">
              <a:buNone/>
            </a:pPr>
            <a:r>
              <a:rPr lang="en-US" sz="1100" b="1" dirty="0">
                <a:solidFill>
                  <a:srgbClr val="F79646"/>
                </a:solidFill>
              </a:rPr>
              <a:t>1:1 (Un-à-Un)</a:t>
            </a:r>
            <a:endParaRPr lang="en-US" sz="1100" dirty="0"/>
          </a:p>
        </p:txBody>
      </p:sp>
      <p:sp>
        <p:nvSpPr>
          <p:cNvPr id="8" name="Text 6"/>
          <p:cNvSpPr/>
          <p:nvPr/>
        </p:nvSpPr>
        <p:spPr>
          <a:xfrm>
            <a:off x="640080" y="1691640"/>
            <a:ext cx="2194560" cy="731520"/>
          </a:xfrm>
          <a:prstGeom prst="rect">
            <a:avLst/>
          </a:prstGeom>
          <a:noFill/>
          <a:ln/>
        </p:spPr>
        <p:txBody>
          <a:bodyPr wrap="square" rtlCol="0" anchor="ctr"/>
          <a:lstStyle/>
          <a:p>
            <a:pPr marL="0" indent="0" algn="l">
              <a:buNone/>
            </a:pPr>
            <a:r>
              <a:rPr lang="en-US" sz="900" dirty="0">
                <a:solidFill>
                  <a:srgbClr val="1F1F1F"/>
                </a:solidFill>
              </a:rPr>
              <a:t>Un étudiant = un passeport</a:t>
            </a:r>
            <a:endParaRPr lang="en-US" sz="900" dirty="0"/>
          </a:p>
          <a:p>
            <a:pPr marL="0" indent="0" algn="l">
              <a:buNone/>
            </a:pPr>
            <a:r>
              <a:rPr lang="en-US" sz="900" dirty="0">
                <a:solidFill>
                  <a:srgbClr val="1F1F1F"/>
                </a:solidFill>
              </a:rPr>
              <a:t>Un employé = un bureau</a:t>
            </a:r>
            <a:endParaRPr lang="en-US" sz="900" dirty="0"/>
          </a:p>
        </p:txBody>
      </p:sp>
      <p:sp>
        <p:nvSpPr>
          <p:cNvPr id="9" name="Shape 7"/>
          <p:cNvSpPr/>
          <p:nvPr/>
        </p:nvSpPr>
        <p:spPr>
          <a:xfrm>
            <a:off x="3291840" y="1280160"/>
            <a:ext cx="2560320" cy="1645920"/>
          </a:xfrm>
          <a:prstGeom prst="rect">
            <a:avLst/>
          </a:prstGeom>
          <a:solidFill>
            <a:srgbClr val="E7E6E6"/>
          </a:solidFill>
          <a:ln w="25400">
            <a:solidFill>
              <a:srgbClr val="1F4E78"/>
            </a:solidFill>
            <a:prstDash val="solid"/>
          </a:ln>
        </p:spPr>
        <p:txBody>
          <a:bodyPr/>
          <a:lstStyle/>
          <a:p>
            <a:endParaRPr lang="fr-FR"/>
          </a:p>
        </p:txBody>
      </p:sp>
      <p:sp>
        <p:nvSpPr>
          <p:cNvPr id="10" name="Text 8"/>
          <p:cNvSpPr/>
          <p:nvPr/>
        </p:nvSpPr>
        <p:spPr>
          <a:xfrm>
            <a:off x="3291840" y="1280160"/>
            <a:ext cx="2560320" cy="274320"/>
          </a:xfrm>
          <a:prstGeom prst="rect">
            <a:avLst/>
          </a:prstGeom>
          <a:noFill/>
          <a:ln/>
        </p:spPr>
        <p:txBody>
          <a:bodyPr wrap="square" rtlCol="0" anchor="ctr"/>
          <a:lstStyle/>
          <a:p>
            <a:pPr marL="0" indent="0" algn="ctr">
              <a:buNone/>
            </a:pPr>
            <a:r>
              <a:rPr lang="en-US" sz="1100" b="1" dirty="0">
                <a:solidFill>
                  <a:srgbClr val="1F4E78"/>
                </a:solidFill>
              </a:rPr>
              <a:t>1:N (Un-à-Plusieurs)</a:t>
            </a:r>
            <a:endParaRPr lang="en-US" sz="1100" dirty="0"/>
          </a:p>
        </p:txBody>
      </p:sp>
      <p:sp>
        <p:nvSpPr>
          <p:cNvPr id="11" name="Text 9"/>
          <p:cNvSpPr/>
          <p:nvPr/>
        </p:nvSpPr>
        <p:spPr>
          <a:xfrm>
            <a:off x="3474720" y="1691640"/>
            <a:ext cx="2194560" cy="731520"/>
          </a:xfrm>
          <a:prstGeom prst="rect">
            <a:avLst/>
          </a:prstGeom>
          <a:noFill/>
          <a:ln/>
        </p:spPr>
        <p:txBody>
          <a:bodyPr wrap="square" rtlCol="0" anchor="ctr"/>
          <a:lstStyle/>
          <a:p>
            <a:pPr marL="0" indent="0" algn="l">
              <a:buNone/>
            </a:pPr>
            <a:r>
              <a:rPr lang="en-US" sz="900" dirty="0">
                <a:solidFill>
                  <a:srgbClr val="1F1F1F"/>
                </a:solidFill>
              </a:rPr>
              <a:t>Un enseignant = plusieurs cours</a:t>
            </a:r>
            <a:endParaRPr lang="en-US" sz="900" dirty="0"/>
          </a:p>
          <a:p>
            <a:pPr marL="0" indent="0" algn="l">
              <a:buNone/>
            </a:pPr>
            <a:r>
              <a:rPr lang="en-US" sz="900" dirty="0">
                <a:solidFill>
                  <a:srgbClr val="1F1F1F"/>
                </a:solidFill>
              </a:rPr>
              <a:t>Un étudiant = plusieurs inscriptions</a:t>
            </a:r>
            <a:endParaRPr lang="en-US" sz="900" dirty="0"/>
          </a:p>
        </p:txBody>
      </p:sp>
      <p:sp>
        <p:nvSpPr>
          <p:cNvPr id="12" name="Shape 10"/>
          <p:cNvSpPr/>
          <p:nvPr/>
        </p:nvSpPr>
        <p:spPr>
          <a:xfrm>
            <a:off x="6126480" y="1280160"/>
            <a:ext cx="2560320" cy="1645920"/>
          </a:xfrm>
          <a:prstGeom prst="rect">
            <a:avLst/>
          </a:prstGeom>
          <a:solidFill>
            <a:srgbClr val="E7E6E6"/>
          </a:solidFill>
          <a:ln w="25400">
            <a:solidFill>
              <a:srgbClr val="F79646"/>
            </a:solidFill>
            <a:prstDash val="solid"/>
          </a:ln>
        </p:spPr>
        <p:txBody>
          <a:bodyPr/>
          <a:lstStyle/>
          <a:p>
            <a:endParaRPr lang="fr-FR"/>
          </a:p>
        </p:txBody>
      </p:sp>
      <p:sp>
        <p:nvSpPr>
          <p:cNvPr id="13" name="Text 11"/>
          <p:cNvSpPr/>
          <p:nvPr/>
        </p:nvSpPr>
        <p:spPr>
          <a:xfrm>
            <a:off x="6126480" y="1280160"/>
            <a:ext cx="2560320" cy="274320"/>
          </a:xfrm>
          <a:prstGeom prst="rect">
            <a:avLst/>
          </a:prstGeom>
          <a:noFill/>
          <a:ln/>
        </p:spPr>
        <p:txBody>
          <a:bodyPr wrap="square" rtlCol="0" anchor="ctr"/>
          <a:lstStyle/>
          <a:p>
            <a:pPr marL="0" indent="0" algn="ctr">
              <a:buNone/>
            </a:pPr>
            <a:r>
              <a:rPr lang="en-US" sz="1100" b="1" dirty="0">
                <a:solidFill>
                  <a:srgbClr val="F79646"/>
                </a:solidFill>
              </a:rPr>
              <a:t>N:M (Plusieurs-à-Plusieurs)</a:t>
            </a:r>
            <a:endParaRPr lang="en-US" sz="1100" dirty="0"/>
          </a:p>
        </p:txBody>
      </p:sp>
      <p:sp>
        <p:nvSpPr>
          <p:cNvPr id="14" name="Text 12"/>
          <p:cNvSpPr/>
          <p:nvPr/>
        </p:nvSpPr>
        <p:spPr>
          <a:xfrm>
            <a:off x="6309360" y="1691640"/>
            <a:ext cx="2194560" cy="731520"/>
          </a:xfrm>
          <a:prstGeom prst="rect">
            <a:avLst/>
          </a:prstGeom>
          <a:noFill/>
          <a:ln/>
        </p:spPr>
        <p:txBody>
          <a:bodyPr wrap="square" rtlCol="0" anchor="ctr"/>
          <a:lstStyle/>
          <a:p>
            <a:pPr marL="0" indent="0" algn="l">
              <a:buNone/>
            </a:pPr>
            <a:r>
              <a:rPr lang="en-US" sz="900" dirty="0">
                <a:solidFill>
                  <a:srgbClr val="1F1F1F"/>
                </a:solidFill>
              </a:rPr>
              <a:t>Un étudiant = plusieurs cours</a:t>
            </a:r>
            <a:endParaRPr lang="en-US" sz="900" dirty="0"/>
          </a:p>
          <a:p>
            <a:pPr marL="0" indent="0" algn="l">
              <a:buNone/>
            </a:pPr>
            <a:r>
              <a:rPr lang="en-US" sz="900" dirty="0">
                <a:solidFill>
                  <a:srgbClr val="1F1F1F"/>
                </a:solidFill>
              </a:rPr>
              <a:t>Un cours = plusieurs étudiants</a:t>
            </a:r>
            <a:endParaRPr lang="en-US" sz="900" dirty="0"/>
          </a:p>
        </p:txBody>
      </p:sp>
      <p:sp>
        <p:nvSpPr>
          <p:cNvPr id="15" name="Text 13"/>
          <p:cNvSpPr/>
          <p:nvPr/>
        </p:nvSpPr>
        <p:spPr>
          <a:xfrm>
            <a:off x="457200" y="3200400"/>
            <a:ext cx="8229600" cy="228600"/>
          </a:xfrm>
          <a:prstGeom prst="rect">
            <a:avLst/>
          </a:prstGeom>
          <a:noFill/>
          <a:ln/>
        </p:spPr>
        <p:txBody>
          <a:bodyPr wrap="square" rtlCol="0" anchor="ctr"/>
          <a:lstStyle/>
          <a:p>
            <a:pPr marL="0" indent="0">
              <a:buNone/>
            </a:pPr>
            <a:r>
              <a:rPr lang="en-US" sz="1100" b="1" dirty="0">
                <a:solidFill>
                  <a:srgbClr val="1F4E78"/>
                </a:solidFill>
              </a:rPr>
              <a:t>Représentation N:M (table d'association)</a:t>
            </a:r>
            <a:endParaRPr lang="en-US" sz="1100" dirty="0"/>
          </a:p>
        </p:txBody>
      </p:sp>
      <p:sp>
        <p:nvSpPr>
          <p:cNvPr id="16" name="Shape 14"/>
          <p:cNvSpPr/>
          <p:nvPr/>
        </p:nvSpPr>
        <p:spPr>
          <a:xfrm>
            <a:off x="457200" y="3566160"/>
            <a:ext cx="1371600" cy="274320"/>
          </a:xfrm>
          <a:prstGeom prst="rect">
            <a:avLst/>
          </a:prstGeom>
          <a:solidFill>
            <a:srgbClr val="E7E6E6"/>
          </a:solidFill>
          <a:ln w="12700">
            <a:solidFill>
              <a:srgbClr val="E7E6E6"/>
            </a:solidFill>
            <a:prstDash val="solid"/>
          </a:ln>
        </p:spPr>
        <p:txBody>
          <a:bodyPr/>
          <a:lstStyle/>
          <a:p>
            <a:endParaRPr lang="fr-FR"/>
          </a:p>
        </p:txBody>
      </p:sp>
      <p:sp>
        <p:nvSpPr>
          <p:cNvPr id="17" name="Text 15"/>
          <p:cNvSpPr/>
          <p:nvPr/>
        </p:nvSpPr>
        <p:spPr>
          <a:xfrm>
            <a:off x="502920" y="3566160"/>
            <a:ext cx="1280160" cy="274320"/>
          </a:xfrm>
          <a:prstGeom prst="rect">
            <a:avLst/>
          </a:prstGeom>
          <a:noFill/>
          <a:ln/>
        </p:spPr>
        <p:txBody>
          <a:bodyPr wrap="square" rtlCol="0" anchor="ctr"/>
          <a:lstStyle/>
          <a:p>
            <a:pPr marL="0" indent="0" algn="ctr">
              <a:buNone/>
            </a:pPr>
            <a:r>
              <a:rPr lang="en-US" sz="900" dirty="0">
                <a:solidFill>
                  <a:srgbClr val="1F1F1F"/>
                </a:solidFill>
              </a:rPr>
              <a:t>ETUDIANT</a:t>
            </a:r>
            <a:endParaRPr lang="en-US" sz="900" dirty="0"/>
          </a:p>
        </p:txBody>
      </p:sp>
      <p:sp>
        <p:nvSpPr>
          <p:cNvPr id="18" name="Text 16"/>
          <p:cNvSpPr/>
          <p:nvPr/>
        </p:nvSpPr>
        <p:spPr>
          <a:xfrm>
            <a:off x="1828800" y="3566160"/>
            <a:ext cx="914400" cy="274320"/>
          </a:xfrm>
          <a:prstGeom prst="rect">
            <a:avLst/>
          </a:prstGeom>
          <a:noFill/>
          <a:ln/>
        </p:spPr>
        <p:txBody>
          <a:bodyPr wrap="square" rtlCol="0" anchor="ctr"/>
          <a:lstStyle/>
          <a:p>
            <a:pPr marL="0" indent="0" algn="ctr">
              <a:buNone/>
            </a:pPr>
            <a:endParaRPr lang="en-US" sz="900" dirty="0"/>
          </a:p>
        </p:txBody>
      </p:sp>
      <p:sp>
        <p:nvSpPr>
          <p:cNvPr id="19" name="Shape 17"/>
          <p:cNvSpPr/>
          <p:nvPr/>
        </p:nvSpPr>
        <p:spPr>
          <a:xfrm>
            <a:off x="2743200" y="3566160"/>
            <a:ext cx="1371600" cy="274320"/>
          </a:xfrm>
          <a:prstGeom prst="rect">
            <a:avLst/>
          </a:prstGeom>
          <a:solidFill>
            <a:srgbClr val="E7E6E6"/>
          </a:solidFill>
          <a:ln w="12700">
            <a:solidFill>
              <a:srgbClr val="E7E6E6"/>
            </a:solidFill>
            <a:prstDash val="solid"/>
          </a:ln>
        </p:spPr>
        <p:txBody>
          <a:bodyPr/>
          <a:lstStyle/>
          <a:p>
            <a:endParaRPr lang="fr-FR"/>
          </a:p>
        </p:txBody>
      </p:sp>
      <p:sp>
        <p:nvSpPr>
          <p:cNvPr id="20" name="Text 18"/>
          <p:cNvSpPr/>
          <p:nvPr/>
        </p:nvSpPr>
        <p:spPr>
          <a:xfrm>
            <a:off x="2788920" y="3566160"/>
            <a:ext cx="1280160" cy="274320"/>
          </a:xfrm>
          <a:prstGeom prst="rect">
            <a:avLst/>
          </a:prstGeom>
          <a:noFill/>
          <a:ln/>
        </p:spPr>
        <p:txBody>
          <a:bodyPr wrap="square" rtlCol="0" anchor="ctr"/>
          <a:lstStyle/>
          <a:p>
            <a:pPr marL="0" indent="0" algn="ctr">
              <a:buNone/>
            </a:pPr>
            <a:r>
              <a:rPr lang="en-US" sz="900" dirty="0">
                <a:solidFill>
                  <a:srgbClr val="1F1F1F"/>
                </a:solidFill>
              </a:rPr>
              <a:t>INSCRIPTION</a:t>
            </a:r>
            <a:endParaRPr lang="en-US" sz="900" dirty="0"/>
          </a:p>
        </p:txBody>
      </p:sp>
      <p:sp>
        <p:nvSpPr>
          <p:cNvPr id="21" name="Text 19"/>
          <p:cNvSpPr/>
          <p:nvPr/>
        </p:nvSpPr>
        <p:spPr>
          <a:xfrm>
            <a:off x="4114800" y="3566160"/>
            <a:ext cx="914400" cy="274320"/>
          </a:xfrm>
          <a:prstGeom prst="rect">
            <a:avLst/>
          </a:prstGeom>
          <a:noFill/>
          <a:ln/>
        </p:spPr>
        <p:txBody>
          <a:bodyPr wrap="square" rtlCol="0" anchor="ctr"/>
          <a:lstStyle/>
          <a:p>
            <a:pPr marL="0" indent="0" algn="ctr">
              <a:buNone/>
            </a:pPr>
            <a:endParaRPr lang="en-US" sz="900" dirty="0"/>
          </a:p>
        </p:txBody>
      </p:sp>
      <p:sp>
        <p:nvSpPr>
          <p:cNvPr id="22" name="Shape 20"/>
          <p:cNvSpPr/>
          <p:nvPr/>
        </p:nvSpPr>
        <p:spPr>
          <a:xfrm>
            <a:off x="5029200" y="3566160"/>
            <a:ext cx="1371600" cy="274320"/>
          </a:xfrm>
          <a:prstGeom prst="rect">
            <a:avLst/>
          </a:prstGeom>
          <a:solidFill>
            <a:srgbClr val="E7E6E6"/>
          </a:solidFill>
          <a:ln w="12700">
            <a:solidFill>
              <a:srgbClr val="E7E6E6"/>
            </a:solidFill>
            <a:prstDash val="solid"/>
          </a:ln>
        </p:spPr>
        <p:txBody>
          <a:bodyPr/>
          <a:lstStyle/>
          <a:p>
            <a:endParaRPr lang="fr-FR"/>
          </a:p>
        </p:txBody>
      </p:sp>
      <p:sp>
        <p:nvSpPr>
          <p:cNvPr id="23" name="Text 21"/>
          <p:cNvSpPr/>
          <p:nvPr/>
        </p:nvSpPr>
        <p:spPr>
          <a:xfrm>
            <a:off x="5074920" y="3566160"/>
            <a:ext cx="1280160" cy="274320"/>
          </a:xfrm>
          <a:prstGeom prst="rect">
            <a:avLst/>
          </a:prstGeom>
          <a:noFill/>
          <a:ln/>
        </p:spPr>
        <p:txBody>
          <a:bodyPr wrap="square" rtlCol="0" anchor="ctr"/>
          <a:lstStyle/>
          <a:p>
            <a:pPr marL="0" indent="0" algn="ctr">
              <a:buNone/>
            </a:pPr>
            <a:r>
              <a:rPr lang="en-US" sz="900" dirty="0">
                <a:solidFill>
                  <a:srgbClr val="1F1F1F"/>
                </a:solidFill>
              </a:rPr>
              <a:t>COURS</a:t>
            </a:r>
            <a:endParaRPr lang="en-US" sz="900" dirty="0"/>
          </a:p>
        </p:txBody>
      </p:sp>
      <p:sp>
        <p:nvSpPr>
          <p:cNvPr id="24" name="Shape 22"/>
          <p:cNvSpPr/>
          <p:nvPr/>
        </p:nvSpPr>
        <p:spPr>
          <a:xfrm>
            <a:off x="457200" y="3886200"/>
            <a:ext cx="1371600" cy="274320"/>
          </a:xfrm>
          <a:prstGeom prst="rect">
            <a:avLst/>
          </a:prstGeom>
          <a:solidFill>
            <a:srgbClr val="E7E6E6"/>
          </a:solidFill>
          <a:ln w="12700">
            <a:solidFill>
              <a:srgbClr val="E7E6E6"/>
            </a:solidFill>
            <a:prstDash val="solid"/>
          </a:ln>
        </p:spPr>
        <p:txBody>
          <a:bodyPr/>
          <a:lstStyle/>
          <a:p>
            <a:endParaRPr lang="fr-FR"/>
          </a:p>
        </p:txBody>
      </p:sp>
      <p:sp>
        <p:nvSpPr>
          <p:cNvPr id="25" name="Text 23"/>
          <p:cNvSpPr/>
          <p:nvPr/>
        </p:nvSpPr>
        <p:spPr>
          <a:xfrm>
            <a:off x="502920" y="3886200"/>
            <a:ext cx="1280160" cy="274320"/>
          </a:xfrm>
          <a:prstGeom prst="rect">
            <a:avLst/>
          </a:prstGeom>
          <a:noFill/>
          <a:ln/>
        </p:spPr>
        <p:txBody>
          <a:bodyPr wrap="square" rtlCol="0" anchor="ctr"/>
          <a:lstStyle/>
          <a:p>
            <a:pPr marL="0" indent="0" algn="ctr">
              <a:buNone/>
            </a:pPr>
            <a:r>
              <a:rPr lang="en-US" sz="900" dirty="0">
                <a:solidFill>
                  <a:srgbClr val="1F1F1F"/>
                </a:solidFill>
              </a:rPr>
              <a:t>id_et (PK)</a:t>
            </a:r>
            <a:endParaRPr lang="en-US" sz="900" dirty="0"/>
          </a:p>
        </p:txBody>
      </p:sp>
      <p:sp>
        <p:nvSpPr>
          <p:cNvPr id="26" name="Text 24"/>
          <p:cNvSpPr/>
          <p:nvPr/>
        </p:nvSpPr>
        <p:spPr>
          <a:xfrm>
            <a:off x="1828800" y="3886200"/>
            <a:ext cx="914400" cy="274320"/>
          </a:xfrm>
          <a:prstGeom prst="rect">
            <a:avLst/>
          </a:prstGeom>
          <a:noFill/>
          <a:ln/>
        </p:spPr>
        <p:txBody>
          <a:bodyPr wrap="square" rtlCol="0" anchor="ctr"/>
          <a:lstStyle/>
          <a:p>
            <a:pPr marL="0" indent="0" algn="ctr">
              <a:buNone/>
            </a:pPr>
            <a:r>
              <a:rPr lang="en-US" sz="900" dirty="0">
                <a:solidFill>
                  <a:srgbClr val="1F1F1F"/>
                </a:solidFill>
              </a:rPr>
              <a:t>1 →</a:t>
            </a:r>
            <a:endParaRPr lang="en-US" sz="900" dirty="0"/>
          </a:p>
        </p:txBody>
      </p:sp>
      <p:sp>
        <p:nvSpPr>
          <p:cNvPr id="27" name="Text 25"/>
          <p:cNvSpPr/>
          <p:nvPr/>
        </p:nvSpPr>
        <p:spPr>
          <a:xfrm>
            <a:off x="2743200" y="3886200"/>
            <a:ext cx="914400" cy="274320"/>
          </a:xfrm>
          <a:prstGeom prst="rect">
            <a:avLst/>
          </a:prstGeom>
          <a:noFill/>
          <a:ln/>
        </p:spPr>
        <p:txBody>
          <a:bodyPr wrap="square" rtlCol="0" anchor="ctr"/>
          <a:lstStyle/>
          <a:p>
            <a:pPr marL="0" indent="0" algn="ctr">
              <a:buNone/>
            </a:pPr>
            <a:r>
              <a:rPr lang="en-US" sz="900" dirty="0">
                <a:solidFill>
                  <a:srgbClr val="1F1F1F"/>
                </a:solidFill>
              </a:rPr>
              <a:t>← N</a:t>
            </a:r>
            <a:endParaRPr lang="en-US" sz="900" dirty="0"/>
          </a:p>
        </p:txBody>
      </p:sp>
      <p:sp>
        <p:nvSpPr>
          <p:cNvPr id="28" name="Shape 26"/>
          <p:cNvSpPr/>
          <p:nvPr/>
        </p:nvSpPr>
        <p:spPr>
          <a:xfrm>
            <a:off x="3657600" y="3886200"/>
            <a:ext cx="1371600" cy="274320"/>
          </a:xfrm>
          <a:prstGeom prst="rect">
            <a:avLst/>
          </a:prstGeom>
          <a:solidFill>
            <a:srgbClr val="E7E6E6"/>
          </a:solidFill>
          <a:ln w="12700">
            <a:solidFill>
              <a:srgbClr val="E7E6E6"/>
            </a:solidFill>
            <a:prstDash val="solid"/>
          </a:ln>
        </p:spPr>
        <p:txBody>
          <a:bodyPr/>
          <a:lstStyle/>
          <a:p>
            <a:endParaRPr lang="fr-FR"/>
          </a:p>
        </p:txBody>
      </p:sp>
      <p:sp>
        <p:nvSpPr>
          <p:cNvPr id="29" name="Text 27"/>
          <p:cNvSpPr/>
          <p:nvPr/>
        </p:nvSpPr>
        <p:spPr>
          <a:xfrm>
            <a:off x="3703320" y="3886200"/>
            <a:ext cx="1280160" cy="274320"/>
          </a:xfrm>
          <a:prstGeom prst="rect">
            <a:avLst/>
          </a:prstGeom>
          <a:noFill/>
          <a:ln/>
        </p:spPr>
        <p:txBody>
          <a:bodyPr wrap="square" rtlCol="0" anchor="ctr"/>
          <a:lstStyle/>
          <a:p>
            <a:pPr marL="0" indent="0" algn="ctr">
              <a:buNone/>
            </a:pPr>
            <a:r>
              <a:rPr lang="en-US" sz="900" dirty="0">
                <a:solidFill>
                  <a:srgbClr val="1F1F1F"/>
                </a:solidFill>
              </a:rPr>
              <a:t>id_et (FK)</a:t>
            </a:r>
            <a:endParaRPr lang="en-US" sz="900" dirty="0"/>
          </a:p>
        </p:txBody>
      </p:sp>
      <p:sp>
        <p:nvSpPr>
          <p:cNvPr id="30" name="Text 28"/>
          <p:cNvSpPr/>
          <p:nvPr/>
        </p:nvSpPr>
        <p:spPr>
          <a:xfrm>
            <a:off x="5029200" y="3886200"/>
            <a:ext cx="914400" cy="274320"/>
          </a:xfrm>
          <a:prstGeom prst="rect">
            <a:avLst/>
          </a:prstGeom>
          <a:noFill/>
          <a:ln/>
        </p:spPr>
        <p:txBody>
          <a:bodyPr wrap="square" rtlCol="0" anchor="ctr"/>
          <a:lstStyle/>
          <a:p>
            <a:pPr marL="0" indent="0" algn="ctr">
              <a:buNone/>
            </a:pPr>
            <a:endParaRPr lang="en-US" sz="900" dirty="0"/>
          </a:p>
        </p:txBody>
      </p:sp>
      <p:sp>
        <p:nvSpPr>
          <p:cNvPr id="31" name="Text 29"/>
          <p:cNvSpPr/>
          <p:nvPr/>
        </p:nvSpPr>
        <p:spPr>
          <a:xfrm>
            <a:off x="457200" y="4206240"/>
            <a:ext cx="914400" cy="274320"/>
          </a:xfrm>
          <a:prstGeom prst="rect">
            <a:avLst/>
          </a:prstGeom>
          <a:noFill/>
          <a:ln/>
        </p:spPr>
        <p:txBody>
          <a:bodyPr wrap="square" rtlCol="0" anchor="ctr"/>
          <a:lstStyle/>
          <a:p>
            <a:pPr marL="0" indent="0" algn="ctr">
              <a:buNone/>
            </a:pPr>
            <a:endParaRPr lang="en-US" sz="900" dirty="0"/>
          </a:p>
        </p:txBody>
      </p:sp>
      <p:sp>
        <p:nvSpPr>
          <p:cNvPr id="32" name="Text 30"/>
          <p:cNvSpPr/>
          <p:nvPr/>
        </p:nvSpPr>
        <p:spPr>
          <a:xfrm>
            <a:off x="1371600" y="4206240"/>
            <a:ext cx="914400" cy="274320"/>
          </a:xfrm>
          <a:prstGeom prst="rect">
            <a:avLst/>
          </a:prstGeom>
          <a:noFill/>
          <a:ln/>
        </p:spPr>
        <p:txBody>
          <a:bodyPr wrap="square" rtlCol="0" anchor="ctr"/>
          <a:lstStyle/>
          <a:p>
            <a:pPr marL="0" indent="0" algn="ctr">
              <a:buNone/>
            </a:pPr>
            <a:endParaRPr lang="en-US" sz="900" dirty="0"/>
          </a:p>
        </p:txBody>
      </p:sp>
      <p:sp>
        <p:nvSpPr>
          <p:cNvPr id="33" name="Shape 31"/>
          <p:cNvSpPr/>
          <p:nvPr/>
        </p:nvSpPr>
        <p:spPr>
          <a:xfrm>
            <a:off x="2286000" y="4206240"/>
            <a:ext cx="1371600" cy="274320"/>
          </a:xfrm>
          <a:prstGeom prst="rect">
            <a:avLst/>
          </a:prstGeom>
          <a:solidFill>
            <a:srgbClr val="E7E6E6"/>
          </a:solidFill>
          <a:ln w="12700">
            <a:solidFill>
              <a:srgbClr val="E7E6E6"/>
            </a:solidFill>
            <a:prstDash val="solid"/>
          </a:ln>
        </p:spPr>
        <p:txBody>
          <a:bodyPr/>
          <a:lstStyle/>
          <a:p>
            <a:endParaRPr lang="fr-FR"/>
          </a:p>
        </p:txBody>
      </p:sp>
      <p:sp>
        <p:nvSpPr>
          <p:cNvPr id="34" name="Text 32"/>
          <p:cNvSpPr/>
          <p:nvPr/>
        </p:nvSpPr>
        <p:spPr>
          <a:xfrm>
            <a:off x="2331720" y="4206240"/>
            <a:ext cx="1280160" cy="274320"/>
          </a:xfrm>
          <a:prstGeom prst="rect">
            <a:avLst/>
          </a:prstGeom>
          <a:noFill/>
          <a:ln/>
        </p:spPr>
        <p:txBody>
          <a:bodyPr wrap="square" rtlCol="0" anchor="ctr"/>
          <a:lstStyle/>
          <a:p>
            <a:pPr marL="0" indent="0" algn="ctr">
              <a:buNone/>
            </a:pPr>
            <a:r>
              <a:rPr lang="en-US" sz="900" dirty="0">
                <a:solidFill>
                  <a:srgbClr val="1F1F1F"/>
                </a:solidFill>
              </a:rPr>
              <a:t>id_cours (FK)</a:t>
            </a:r>
            <a:endParaRPr lang="en-US" sz="900" dirty="0"/>
          </a:p>
        </p:txBody>
      </p:sp>
      <p:sp>
        <p:nvSpPr>
          <p:cNvPr id="35" name="Text 33"/>
          <p:cNvSpPr/>
          <p:nvPr/>
        </p:nvSpPr>
        <p:spPr>
          <a:xfrm>
            <a:off x="3657600" y="4206240"/>
            <a:ext cx="914400" cy="274320"/>
          </a:xfrm>
          <a:prstGeom prst="rect">
            <a:avLst/>
          </a:prstGeom>
          <a:noFill/>
          <a:ln/>
        </p:spPr>
        <p:txBody>
          <a:bodyPr wrap="square" rtlCol="0" anchor="ctr"/>
          <a:lstStyle/>
          <a:p>
            <a:pPr marL="0" indent="0" algn="ctr">
              <a:buNone/>
            </a:pPr>
            <a:r>
              <a:rPr lang="en-US" sz="900" dirty="0">
                <a:solidFill>
                  <a:srgbClr val="1F1F1F"/>
                </a:solidFill>
              </a:rPr>
              <a:t>← N</a:t>
            </a:r>
            <a:endParaRPr lang="en-US" sz="900" dirty="0"/>
          </a:p>
        </p:txBody>
      </p:sp>
      <p:sp>
        <p:nvSpPr>
          <p:cNvPr id="36" name="Shape 34"/>
          <p:cNvSpPr/>
          <p:nvPr/>
        </p:nvSpPr>
        <p:spPr>
          <a:xfrm>
            <a:off x="4572000" y="4206240"/>
            <a:ext cx="1371600" cy="274320"/>
          </a:xfrm>
          <a:prstGeom prst="rect">
            <a:avLst/>
          </a:prstGeom>
          <a:solidFill>
            <a:srgbClr val="E7E6E6"/>
          </a:solidFill>
          <a:ln w="12700">
            <a:solidFill>
              <a:srgbClr val="E7E6E6"/>
            </a:solidFill>
            <a:prstDash val="solid"/>
          </a:ln>
        </p:spPr>
        <p:txBody>
          <a:bodyPr/>
          <a:lstStyle/>
          <a:p>
            <a:endParaRPr lang="fr-FR"/>
          </a:p>
        </p:txBody>
      </p:sp>
      <p:sp>
        <p:nvSpPr>
          <p:cNvPr id="37" name="Text 35"/>
          <p:cNvSpPr/>
          <p:nvPr/>
        </p:nvSpPr>
        <p:spPr>
          <a:xfrm>
            <a:off x="4617720" y="4206240"/>
            <a:ext cx="1280160" cy="274320"/>
          </a:xfrm>
          <a:prstGeom prst="rect">
            <a:avLst/>
          </a:prstGeom>
          <a:noFill/>
          <a:ln/>
        </p:spPr>
        <p:txBody>
          <a:bodyPr wrap="square" rtlCol="0" anchor="ctr"/>
          <a:lstStyle/>
          <a:p>
            <a:pPr marL="0" indent="0" algn="ctr">
              <a:buNone/>
            </a:pPr>
            <a:r>
              <a:rPr lang="en-US" sz="900" dirty="0">
                <a:solidFill>
                  <a:srgbClr val="1F1F1F"/>
                </a:solidFill>
              </a:rPr>
              <a:t>id_cours (PK)</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Schéma relationnel : Base universitaire</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23/40</a:t>
            </a:r>
            <a:endParaRPr lang="en-US" sz="1000" dirty="0"/>
          </a:p>
        </p:txBody>
      </p:sp>
      <p:sp>
        <p:nvSpPr>
          <p:cNvPr id="5" name="Text 3"/>
          <p:cNvSpPr/>
          <p:nvPr/>
        </p:nvSpPr>
        <p:spPr>
          <a:xfrm>
            <a:off x="457200" y="822960"/>
            <a:ext cx="8229600" cy="228600"/>
          </a:xfrm>
          <a:prstGeom prst="rect">
            <a:avLst/>
          </a:prstGeom>
          <a:noFill/>
          <a:ln/>
        </p:spPr>
        <p:txBody>
          <a:bodyPr wrap="square" rtlCol="0" anchor="ctr"/>
          <a:lstStyle/>
          <a:p>
            <a:pPr marL="0" indent="0">
              <a:buNone/>
            </a:pPr>
            <a:r>
              <a:rPr lang="en-US" sz="1300" b="1" dirty="0">
                <a:solidFill>
                  <a:srgbClr val="1F4E78"/>
                </a:solidFill>
              </a:rPr>
              <a:t>Modèle des données universitaires</a:t>
            </a:r>
            <a:endParaRPr lang="en-US" sz="1300" dirty="0"/>
          </a:p>
        </p:txBody>
      </p:sp>
      <p:sp>
        <p:nvSpPr>
          <p:cNvPr id="6" name="Shape 4"/>
          <p:cNvSpPr/>
          <p:nvPr/>
        </p:nvSpPr>
        <p:spPr>
          <a:xfrm>
            <a:off x="457200" y="1188720"/>
            <a:ext cx="2011680" cy="1097280"/>
          </a:xfrm>
          <a:prstGeom prst="rect">
            <a:avLst/>
          </a:prstGeom>
          <a:solidFill>
            <a:srgbClr val="E7E6E6"/>
          </a:solidFill>
          <a:ln w="25400">
            <a:solidFill>
              <a:srgbClr val="2E75B6"/>
            </a:solidFill>
            <a:prstDash val="solid"/>
          </a:ln>
        </p:spPr>
        <p:txBody>
          <a:bodyPr/>
          <a:lstStyle/>
          <a:p>
            <a:endParaRPr lang="fr-FR"/>
          </a:p>
        </p:txBody>
      </p:sp>
      <p:sp>
        <p:nvSpPr>
          <p:cNvPr id="7" name="Text 5"/>
          <p:cNvSpPr/>
          <p:nvPr/>
        </p:nvSpPr>
        <p:spPr>
          <a:xfrm>
            <a:off x="457200" y="1234440"/>
            <a:ext cx="2011680" cy="228600"/>
          </a:xfrm>
          <a:prstGeom prst="rect">
            <a:avLst/>
          </a:prstGeom>
          <a:solidFill>
            <a:srgbClr val="2E75B6"/>
          </a:solidFill>
          <a:ln/>
        </p:spPr>
        <p:txBody>
          <a:bodyPr wrap="square" rtlCol="0" anchor="ctr"/>
          <a:lstStyle/>
          <a:p>
            <a:pPr marL="0" indent="0" algn="ctr">
              <a:buNone/>
            </a:pPr>
            <a:r>
              <a:rPr lang="en-US" sz="1000" b="1" dirty="0">
                <a:solidFill>
                  <a:srgbClr val="FFFFFF"/>
                </a:solidFill>
              </a:rPr>
              <a:t>ETUDIANT</a:t>
            </a:r>
            <a:endParaRPr lang="en-US" sz="1000" dirty="0"/>
          </a:p>
        </p:txBody>
      </p:sp>
      <p:sp>
        <p:nvSpPr>
          <p:cNvPr id="8" name="Text 6"/>
          <p:cNvSpPr/>
          <p:nvPr/>
        </p:nvSpPr>
        <p:spPr>
          <a:xfrm>
            <a:off x="548640" y="1508760"/>
            <a:ext cx="1828800" cy="137160"/>
          </a:xfrm>
          <a:prstGeom prst="rect">
            <a:avLst/>
          </a:prstGeom>
          <a:noFill/>
          <a:ln/>
        </p:spPr>
        <p:txBody>
          <a:bodyPr wrap="square" rtlCol="0" anchor="t"/>
          <a:lstStyle/>
          <a:p>
            <a:pPr marL="0" indent="0" algn="l">
              <a:buNone/>
            </a:pPr>
            <a:r>
              <a:rPr lang="en-US" sz="800" dirty="0">
                <a:solidFill>
                  <a:srgbClr val="1F1F1F"/>
                </a:solidFill>
              </a:rPr>
              <a:t>PK: id_etudiant</a:t>
            </a:r>
            <a:endParaRPr lang="en-US" sz="800" dirty="0"/>
          </a:p>
        </p:txBody>
      </p:sp>
      <p:sp>
        <p:nvSpPr>
          <p:cNvPr id="9" name="Text 7"/>
          <p:cNvSpPr/>
          <p:nvPr/>
        </p:nvSpPr>
        <p:spPr>
          <a:xfrm>
            <a:off x="548640" y="1673352"/>
            <a:ext cx="1828800" cy="137160"/>
          </a:xfrm>
          <a:prstGeom prst="rect">
            <a:avLst/>
          </a:prstGeom>
          <a:noFill/>
          <a:ln/>
        </p:spPr>
        <p:txBody>
          <a:bodyPr wrap="square" rtlCol="0" anchor="t"/>
          <a:lstStyle/>
          <a:p>
            <a:pPr marL="0" indent="0" algn="l">
              <a:buNone/>
            </a:pPr>
            <a:r>
              <a:rPr lang="en-US" sz="800" dirty="0">
                <a:solidFill>
                  <a:srgbClr val="1F1F1F"/>
                </a:solidFill>
              </a:rPr>
              <a:t>nom</a:t>
            </a:r>
            <a:endParaRPr lang="en-US" sz="800" dirty="0"/>
          </a:p>
        </p:txBody>
      </p:sp>
      <p:sp>
        <p:nvSpPr>
          <p:cNvPr id="10" name="Text 8"/>
          <p:cNvSpPr/>
          <p:nvPr/>
        </p:nvSpPr>
        <p:spPr>
          <a:xfrm>
            <a:off x="548640" y="1837944"/>
            <a:ext cx="1828800" cy="137160"/>
          </a:xfrm>
          <a:prstGeom prst="rect">
            <a:avLst/>
          </a:prstGeom>
          <a:noFill/>
          <a:ln/>
        </p:spPr>
        <p:txBody>
          <a:bodyPr wrap="square" rtlCol="0" anchor="t"/>
          <a:lstStyle/>
          <a:p>
            <a:pPr marL="0" indent="0" algn="l">
              <a:buNone/>
            </a:pPr>
            <a:r>
              <a:rPr lang="en-US" sz="800" dirty="0">
                <a:solidFill>
                  <a:srgbClr val="1F1F1F"/>
                </a:solidFill>
              </a:rPr>
              <a:t>prenom</a:t>
            </a:r>
            <a:endParaRPr lang="en-US" sz="800" dirty="0"/>
          </a:p>
        </p:txBody>
      </p:sp>
      <p:sp>
        <p:nvSpPr>
          <p:cNvPr id="11" name="Text 9"/>
          <p:cNvSpPr/>
          <p:nvPr/>
        </p:nvSpPr>
        <p:spPr>
          <a:xfrm>
            <a:off x="548640" y="2002536"/>
            <a:ext cx="1828800" cy="137160"/>
          </a:xfrm>
          <a:prstGeom prst="rect">
            <a:avLst/>
          </a:prstGeom>
          <a:noFill/>
          <a:ln/>
        </p:spPr>
        <p:txBody>
          <a:bodyPr wrap="square" rtlCol="0" anchor="t"/>
          <a:lstStyle/>
          <a:p>
            <a:pPr marL="0" indent="0" algn="l">
              <a:buNone/>
            </a:pPr>
            <a:r>
              <a:rPr lang="en-US" sz="800" dirty="0">
                <a:solidFill>
                  <a:srgbClr val="1F1F1F"/>
                </a:solidFill>
              </a:rPr>
              <a:t>email</a:t>
            </a:r>
            <a:endParaRPr lang="en-US" sz="800" dirty="0"/>
          </a:p>
        </p:txBody>
      </p:sp>
      <p:sp>
        <p:nvSpPr>
          <p:cNvPr id="12" name="Shape 10"/>
          <p:cNvSpPr/>
          <p:nvPr/>
        </p:nvSpPr>
        <p:spPr>
          <a:xfrm>
            <a:off x="3200400" y="1188720"/>
            <a:ext cx="2011680" cy="1097280"/>
          </a:xfrm>
          <a:prstGeom prst="rect">
            <a:avLst/>
          </a:prstGeom>
          <a:solidFill>
            <a:srgbClr val="E7E6E6"/>
          </a:solidFill>
          <a:ln w="25400">
            <a:solidFill>
              <a:srgbClr val="2E75B6"/>
            </a:solidFill>
            <a:prstDash val="solid"/>
          </a:ln>
        </p:spPr>
        <p:txBody>
          <a:bodyPr/>
          <a:lstStyle/>
          <a:p>
            <a:endParaRPr lang="fr-FR"/>
          </a:p>
        </p:txBody>
      </p:sp>
      <p:sp>
        <p:nvSpPr>
          <p:cNvPr id="13" name="Text 11"/>
          <p:cNvSpPr/>
          <p:nvPr/>
        </p:nvSpPr>
        <p:spPr>
          <a:xfrm>
            <a:off x="3200400" y="1234440"/>
            <a:ext cx="2011680" cy="228600"/>
          </a:xfrm>
          <a:prstGeom prst="rect">
            <a:avLst/>
          </a:prstGeom>
          <a:solidFill>
            <a:srgbClr val="2E75B6"/>
          </a:solidFill>
          <a:ln/>
        </p:spPr>
        <p:txBody>
          <a:bodyPr wrap="square" rtlCol="0" anchor="ctr"/>
          <a:lstStyle/>
          <a:p>
            <a:pPr marL="0" indent="0" algn="ctr">
              <a:buNone/>
            </a:pPr>
            <a:r>
              <a:rPr lang="en-US" sz="1000" b="1" dirty="0">
                <a:solidFill>
                  <a:srgbClr val="FFFFFF"/>
                </a:solidFill>
              </a:rPr>
              <a:t>COURS</a:t>
            </a:r>
            <a:endParaRPr lang="en-US" sz="1000" dirty="0"/>
          </a:p>
        </p:txBody>
      </p:sp>
      <p:sp>
        <p:nvSpPr>
          <p:cNvPr id="14" name="Text 12"/>
          <p:cNvSpPr/>
          <p:nvPr/>
        </p:nvSpPr>
        <p:spPr>
          <a:xfrm>
            <a:off x="3291840" y="1508760"/>
            <a:ext cx="1828800" cy="137160"/>
          </a:xfrm>
          <a:prstGeom prst="rect">
            <a:avLst/>
          </a:prstGeom>
          <a:noFill/>
          <a:ln/>
        </p:spPr>
        <p:txBody>
          <a:bodyPr wrap="square" rtlCol="0" anchor="t"/>
          <a:lstStyle/>
          <a:p>
            <a:pPr marL="0" indent="0" algn="l">
              <a:buNone/>
            </a:pPr>
            <a:r>
              <a:rPr lang="en-US" sz="800" dirty="0">
                <a:solidFill>
                  <a:srgbClr val="1F1F1F"/>
                </a:solidFill>
              </a:rPr>
              <a:t>PK: id_cours</a:t>
            </a:r>
            <a:endParaRPr lang="en-US" sz="800" dirty="0"/>
          </a:p>
        </p:txBody>
      </p:sp>
      <p:sp>
        <p:nvSpPr>
          <p:cNvPr id="15" name="Text 13"/>
          <p:cNvSpPr/>
          <p:nvPr/>
        </p:nvSpPr>
        <p:spPr>
          <a:xfrm>
            <a:off x="3291840" y="1673352"/>
            <a:ext cx="1828800" cy="137160"/>
          </a:xfrm>
          <a:prstGeom prst="rect">
            <a:avLst/>
          </a:prstGeom>
          <a:noFill/>
          <a:ln/>
        </p:spPr>
        <p:txBody>
          <a:bodyPr wrap="square" rtlCol="0" anchor="t"/>
          <a:lstStyle/>
          <a:p>
            <a:pPr marL="0" indent="0" algn="l">
              <a:buNone/>
            </a:pPr>
            <a:r>
              <a:rPr lang="en-US" sz="800" dirty="0">
                <a:solidFill>
                  <a:srgbClr val="1F1F1F"/>
                </a:solidFill>
              </a:rPr>
              <a:t>titre</a:t>
            </a:r>
            <a:endParaRPr lang="en-US" sz="800" dirty="0"/>
          </a:p>
        </p:txBody>
      </p:sp>
      <p:sp>
        <p:nvSpPr>
          <p:cNvPr id="16" name="Text 14"/>
          <p:cNvSpPr/>
          <p:nvPr/>
        </p:nvSpPr>
        <p:spPr>
          <a:xfrm>
            <a:off x="3291840" y="1837944"/>
            <a:ext cx="1828800" cy="137160"/>
          </a:xfrm>
          <a:prstGeom prst="rect">
            <a:avLst/>
          </a:prstGeom>
          <a:noFill/>
          <a:ln/>
        </p:spPr>
        <p:txBody>
          <a:bodyPr wrap="square" rtlCol="0" anchor="t"/>
          <a:lstStyle/>
          <a:p>
            <a:pPr marL="0" indent="0" algn="l">
              <a:buNone/>
            </a:pPr>
            <a:r>
              <a:rPr lang="en-US" sz="800" dirty="0">
                <a:solidFill>
                  <a:srgbClr val="1F1F1F"/>
                </a:solidFill>
              </a:rPr>
              <a:t>credits</a:t>
            </a:r>
            <a:endParaRPr lang="en-US" sz="800" dirty="0"/>
          </a:p>
        </p:txBody>
      </p:sp>
      <p:sp>
        <p:nvSpPr>
          <p:cNvPr id="17" name="Shape 15"/>
          <p:cNvSpPr/>
          <p:nvPr/>
        </p:nvSpPr>
        <p:spPr>
          <a:xfrm>
            <a:off x="1371600" y="2743200"/>
            <a:ext cx="2011680" cy="1097280"/>
          </a:xfrm>
          <a:prstGeom prst="rect">
            <a:avLst/>
          </a:prstGeom>
          <a:solidFill>
            <a:srgbClr val="E7E6E6"/>
          </a:solidFill>
          <a:ln w="25400">
            <a:solidFill>
              <a:srgbClr val="2E75B6"/>
            </a:solidFill>
            <a:prstDash val="solid"/>
          </a:ln>
        </p:spPr>
        <p:txBody>
          <a:bodyPr/>
          <a:lstStyle/>
          <a:p>
            <a:endParaRPr lang="fr-FR"/>
          </a:p>
        </p:txBody>
      </p:sp>
      <p:sp>
        <p:nvSpPr>
          <p:cNvPr id="18" name="Text 16"/>
          <p:cNvSpPr/>
          <p:nvPr/>
        </p:nvSpPr>
        <p:spPr>
          <a:xfrm>
            <a:off x="1371600" y="2788920"/>
            <a:ext cx="2011680" cy="228600"/>
          </a:xfrm>
          <a:prstGeom prst="rect">
            <a:avLst/>
          </a:prstGeom>
          <a:solidFill>
            <a:srgbClr val="2E75B6"/>
          </a:solidFill>
          <a:ln/>
        </p:spPr>
        <p:txBody>
          <a:bodyPr wrap="square" rtlCol="0" anchor="ctr"/>
          <a:lstStyle/>
          <a:p>
            <a:pPr marL="0" indent="0" algn="ctr">
              <a:buNone/>
            </a:pPr>
            <a:r>
              <a:rPr lang="en-US" sz="1000" b="1" dirty="0">
                <a:solidFill>
                  <a:srgbClr val="FFFFFF"/>
                </a:solidFill>
              </a:rPr>
              <a:t>INSCRIPTION</a:t>
            </a:r>
            <a:endParaRPr lang="en-US" sz="1000" dirty="0"/>
          </a:p>
        </p:txBody>
      </p:sp>
      <p:sp>
        <p:nvSpPr>
          <p:cNvPr id="19" name="Text 17"/>
          <p:cNvSpPr/>
          <p:nvPr/>
        </p:nvSpPr>
        <p:spPr>
          <a:xfrm>
            <a:off x="1463040" y="3063240"/>
            <a:ext cx="1828800" cy="137160"/>
          </a:xfrm>
          <a:prstGeom prst="rect">
            <a:avLst/>
          </a:prstGeom>
          <a:noFill/>
          <a:ln/>
        </p:spPr>
        <p:txBody>
          <a:bodyPr wrap="square" rtlCol="0" anchor="t"/>
          <a:lstStyle/>
          <a:p>
            <a:pPr marL="0" indent="0" algn="l">
              <a:buNone/>
            </a:pPr>
            <a:r>
              <a:rPr lang="en-US" sz="800" dirty="0">
                <a:solidFill>
                  <a:srgbClr val="1F1F1F"/>
                </a:solidFill>
              </a:rPr>
              <a:t>PK: id_et + id_cours</a:t>
            </a:r>
            <a:endParaRPr lang="en-US" sz="800" dirty="0"/>
          </a:p>
        </p:txBody>
      </p:sp>
      <p:sp>
        <p:nvSpPr>
          <p:cNvPr id="20" name="Text 18"/>
          <p:cNvSpPr/>
          <p:nvPr/>
        </p:nvSpPr>
        <p:spPr>
          <a:xfrm>
            <a:off x="1463040" y="3227832"/>
            <a:ext cx="1828800" cy="137160"/>
          </a:xfrm>
          <a:prstGeom prst="rect">
            <a:avLst/>
          </a:prstGeom>
          <a:noFill/>
          <a:ln/>
        </p:spPr>
        <p:txBody>
          <a:bodyPr wrap="square" rtlCol="0" anchor="t"/>
          <a:lstStyle/>
          <a:p>
            <a:pPr marL="0" indent="0" algn="l">
              <a:buNone/>
            </a:pPr>
            <a:r>
              <a:rPr lang="en-US" sz="800" dirty="0">
                <a:solidFill>
                  <a:srgbClr val="1F1F1F"/>
                </a:solidFill>
              </a:rPr>
              <a:t>date_inscription</a:t>
            </a:r>
            <a:endParaRPr lang="en-US" sz="800" dirty="0"/>
          </a:p>
        </p:txBody>
      </p:sp>
      <p:sp>
        <p:nvSpPr>
          <p:cNvPr id="21" name="Text 19"/>
          <p:cNvSpPr/>
          <p:nvPr/>
        </p:nvSpPr>
        <p:spPr>
          <a:xfrm>
            <a:off x="1463040" y="3392424"/>
            <a:ext cx="1828800" cy="137160"/>
          </a:xfrm>
          <a:prstGeom prst="rect">
            <a:avLst/>
          </a:prstGeom>
          <a:noFill/>
          <a:ln/>
        </p:spPr>
        <p:txBody>
          <a:bodyPr wrap="square" rtlCol="0" anchor="t"/>
          <a:lstStyle/>
          <a:p>
            <a:pPr marL="0" indent="0" algn="l">
              <a:buNone/>
            </a:pPr>
            <a:r>
              <a:rPr lang="en-US" sz="800" dirty="0">
                <a:solidFill>
                  <a:srgbClr val="1F1F1F"/>
                </a:solidFill>
              </a:rPr>
              <a:t>note</a:t>
            </a:r>
            <a:endParaRPr lang="en-US" sz="800" dirty="0"/>
          </a:p>
        </p:txBody>
      </p:sp>
      <p:sp>
        <p:nvSpPr>
          <p:cNvPr id="22" name="Shape 20"/>
          <p:cNvSpPr/>
          <p:nvPr/>
        </p:nvSpPr>
        <p:spPr>
          <a:xfrm>
            <a:off x="5943600" y="1188720"/>
            <a:ext cx="2011680" cy="1097280"/>
          </a:xfrm>
          <a:prstGeom prst="rect">
            <a:avLst/>
          </a:prstGeom>
          <a:solidFill>
            <a:srgbClr val="E7E6E6"/>
          </a:solidFill>
          <a:ln w="25400">
            <a:solidFill>
              <a:srgbClr val="2E75B6"/>
            </a:solidFill>
            <a:prstDash val="solid"/>
          </a:ln>
        </p:spPr>
        <p:txBody>
          <a:bodyPr/>
          <a:lstStyle/>
          <a:p>
            <a:endParaRPr lang="fr-FR"/>
          </a:p>
        </p:txBody>
      </p:sp>
      <p:sp>
        <p:nvSpPr>
          <p:cNvPr id="23" name="Text 21"/>
          <p:cNvSpPr/>
          <p:nvPr/>
        </p:nvSpPr>
        <p:spPr>
          <a:xfrm>
            <a:off x="5943600" y="1234440"/>
            <a:ext cx="2011680" cy="228600"/>
          </a:xfrm>
          <a:prstGeom prst="rect">
            <a:avLst/>
          </a:prstGeom>
          <a:solidFill>
            <a:srgbClr val="2E75B6"/>
          </a:solidFill>
          <a:ln/>
        </p:spPr>
        <p:txBody>
          <a:bodyPr wrap="square" rtlCol="0" anchor="ctr"/>
          <a:lstStyle/>
          <a:p>
            <a:pPr marL="0" indent="0" algn="ctr">
              <a:buNone/>
            </a:pPr>
            <a:r>
              <a:rPr lang="en-US" sz="1000" b="1" dirty="0">
                <a:solidFill>
                  <a:srgbClr val="FFFFFF"/>
                </a:solidFill>
              </a:rPr>
              <a:t>ENSEIGNANT</a:t>
            </a:r>
            <a:endParaRPr lang="en-US" sz="1000" dirty="0"/>
          </a:p>
        </p:txBody>
      </p:sp>
      <p:sp>
        <p:nvSpPr>
          <p:cNvPr id="24" name="Text 22"/>
          <p:cNvSpPr/>
          <p:nvPr/>
        </p:nvSpPr>
        <p:spPr>
          <a:xfrm>
            <a:off x="6035040" y="1508760"/>
            <a:ext cx="1828800" cy="137160"/>
          </a:xfrm>
          <a:prstGeom prst="rect">
            <a:avLst/>
          </a:prstGeom>
          <a:noFill/>
          <a:ln/>
        </p:spPr>
        <p:txBody>
          <a:bodyPr wrap="square" rtlCol="0" anchor="t"/>
          <a:lstStyle/>
          <a:p>
            <a:pPr marL="0" indent="0" algn="l">
              <a:buNone/>
            </a:pPr>
            <a:r>
              <a:rPr lang="en-US" sz="800" dirty="0">
                <a:solidFill>
                  <a:srgbClr val="1F1F1F"/>
                </a:solidFill>
              </a:rPr>
              <a:t>PK: id_ens</a:t>
            </a:r>
            <a:endParaRPr lang="en-US" sz="800" dirty="0"/>
          </a:p>
        </p:txBody>
      </p:sp>
      <p:sp>
        <p:nvSpPr>
          <p:cNvPr id="25" name="Text 23"/>
          <p:cNvSpPr/>
          <p:nvPr/>
        </p:nvSpPr>
        <p:spPr>
          <a:xfrm>
            <a:off x="6035040" y="1673352"/>
            <a:ext cx="1828800" cy="137160"/>
          </a:xfrm>
          <a:prstGeom prst="rect">
            <a:avLst/>
          </a:prstGeom>
          <a:noFill/>
          <a:ln/>
        </p:spPr>
        <p:txBody>
          <a:bodyPr wrap="square" rtlCol="0" anchor="t"/>
          <a:lstStyle/>
          <a:p>
            <a:pPr marL="0" indent="0" algn="l">
              <a:buNone/>
            </a:pPr>
            <a:r>
              <a:rPr lang="en-US" sz="800" dirty="0">
                <a:solidFill>
                  <a:srgbClr val="1F1F1F"/>
                </a:solidFill>
              </a:rPr>
              <a:t>nom</a:t>
            </a:r>
            <a:endParaRPr lang="en-US" sz="800" dirty="0"/>
          </a:p>
        </p:txBody>
      </p:sp>
      <p:sp>
        <p:nvSpPr>
          <p:cNvPr id="26" name="Text 24"/>
          <p:cNvSpPr/>
          <p:nvPr/>
        </p:nvSpPr>
        <p:spPr>
          <a:xfrm>
            <a:off x="6035040" y="1837944"/>
            <a:ext cx="1828800" cy="137160"/>
          </a:xfrm>
          <a:prstGeom prst="rect">
            <a:avLst/>
          </a:prstGeom>
          <a:noFill/>
          <a:ln/>
        </p:spPr>
        <p:txBody>
          <a:bodyPr wrap="square" rtlCol="0" anchor="t"/>
          <a:lstStyle/>
          <a:p>
            <a:pPr marL="0" indent="0" algn="l">
              <a:buNone/>
            </a:pPr>
            <a:r>
              <a:rPr lang="en-US" sz="800" dirty="0">
                <a:solidFill>
                  <a:srgbClr val="1F1F1F"/>
                </a:solidFill>
              </a:rPr>
              <a:t>specialite</a:t>
            </a:r>
            <a:endParaRPr lang="en-US" sz="800" dirty="0"/>
          </a:p>
        </p:txBody>
      </p:sp>
      <p:sp>
        <p:nvSpPr>
          <p:cNvPr id="27" name="Shape 25"/>
          <p:cNvSpPr/>
          <p:nvPr/>
        </p:nvSpPr>
        <p:spPr>
          <a:xfrm>
            <a:off x="5486400" y="2743200"/>
            <a:ext cx="2011680" cy="1097280"/>
          </a:xfrm>
          <a:prstGeom prst="rect">
            <a:avLst/>
          </a:prstGeom>
          <a:solidFill>
            <a:srgbClr val="E7E6E6"/>
          </a:solidFill>
          <a:ln w="25400">
            <a:solidFill>
              <a:srgbClr val="2E75B6"/>
            </a:solidFill>
            <a:prstDash val="solid"/>
          </a:ln>
        </p:spPr>
        <p:txBody>
          <a:bodyPr/>
          <a:lstStyle/>
          <a:p>
            <a:endParaRPr lang="fr-FR"/>
          </a:p>
        </p:txBody>
      </p:sp>
      <p:sp>
        <p:nvSpPr>
          <p:cNvPr id="28" name="Text 26"/>
          <p:cNvSpPr/>
          <p:nvPr/>
        </p:nvSpPr>
        <p:spPr>
          <a:xfrm>
            <a:off x="5486400" y="2788920"/>
            <a:ext cx="2011680" cy="228600"/>
          </a:xfrm>
          <a:prstGeom prst="rect">
            <a:avLst/>
          </a:prstGeom>
          <a:solidFill>
            <a:srgbClr val="2E75B6"/>
          </a:solidFill>
          <a:ln/>
        </p:spPr>
        <p:txBody>
          <a:bodyPr wrap="square" rtlCol="0" anchor="ctr"/>
          <a:lstStyle/>
          <a:p>
            <a:pPr marL="0" indent="0" algn="ctr">
              <a:buNone/>
            </a:pPr>
            <a:r>
              <a:rPr lang="en-US" sz="1000" b="1" dirty="0">
                <a:solidFill>
                  <a:srgbClr val="FFFFFF"/>
                </a:solidFill>
              </a:rPr>
              <a:t>ENSEIGNER</a:t>
            </a:r>
            <a:endParaRPr lang="en-US" sz="1000" dirty="0"/>
          </a:p>
        </p:txBody>
      </p:sp>
      <p:sp>
        <p:nvSpPr>
          <p:cNvPr id="29" name="Text 27"/>
          <p:cNvSpPr/>
          <p:nvPr/>
        </p:nvSpPr>
        <p:spPr>
          <a:xfrm>
            <a:off x="5577840" y="3063240"/>
            <a:ext cx="1828800" cy="137160"/>
          </a:xfrm>
          <a:prstGeom prst="rect">
            <a:avLst/>
          </a:prstGeom>
          <a:noFill/>
          <a:ln/>
        </p:spPr>
        <p:txBody>
          <a:bodyPr wrap="square" rtlCol="0" anchor="t"/>
          <a:lstStyle/>
          <a:p>
            <a:pPr marL="0" indent="0" algn="l">
              <a:buNone/>
            </a:pPr>
            <a:r>
              <a:rPr lang="en-US" sz="800" dirty="0">
                <a:solidFill>
                  <a:srgbClr val="1F1F1F"/>
                </a:solidFill>
              </a:rPr>
              <a:t>FK: id_ens + id_cours</a:t>
            </a:r>
            <a:endParaRPr lang="en-US" sz="800" dirty="0"/>
          </a:p>
        </p:txBody>
      </p:sp>
      <p:sp>
        <p:nvSpPr>
          <p:cNvPr id="30" name="Text 28"/>
          <p:cNvSpPr/>
          <p:nvPr/>
        </p:nvSpPr>
        <p:spPr>
          <a:xfrm>
            <a:off x="5577840" y="3227832"/>
            <a:ext cx="1828800" cy="137160"/>
          </a:xfrm>
          <a:prstGeom prst="rect">
            <a:avLst/>
          </a:prstGeom>
          <a:noFill/>
          <a:ln/>
        </p:spPr>
        <p:txBody>
          <a:bodyPr wrap="square" rtlCol="0" anchor="t"/>
          <a:lstStyle/>
          <a:p>
            <a:pPr marL="0" indent="0" algn="l">
              <a:buNone/>
            </a:pPr>
            <a:r>
              <a:rPr lang="en-US" sz="800" dirty="0">
                <a:solidFill>
                  <a:srgbClr val="1F1F1F"/>
                </a:solidFill>
              </a:rPr>
              <a:t>semestre</a:t>
            </a:r>
            <a:endParaRPr lang="en-US" sz="800" dirty="0"/>
          </a:p>
        </p:txBody>
      </p:sp>
      <p:sp>
        <p:nvSpPr>
          <p:cNvPr id="31" name="Shape 29"/>
          <p:cNvSpPr/>
          <p:nvPr/>
        </p:nvSpPr>
        <p:spPr>
          <a:xfrm>
            <a:off x="1463040" y="2286000"/>
            <a:ext cx="457200" cy="411480"/>
          </a:xfrm>
          <a:prstGeom prst="line">
            <a:avLst/>
          </a:prstGeom>
          <a:noFill/>
          <a:ln w="25400">
            <a:solidFill>
              <a:srgbClr val="F79646"/>
            </a:solidFill>
            <a:prstDash val="solid"/>
          </a:ln>
        </p:spPr>
        <p:txBody>
          <a:bodyPr/>
          <a:lstStyle/>
          <a:p>
            <a:endParaRPr lang="fr-FR"/>
          </a:p>
        </p:txBody>
      </p:sp>
      <p:sp>
        <p:nvSpPr>
          <p:cNvPr id="32" name="Shape 30"/>
          <p:cNvSpPr/>
          <p:nvPr/>
        </p:nvSpPr>
        <p:spPr>
          <a:xfrm>
            <a:off x="3200400" y="2286000"/>
            <a:ext cx="0" cy="411480"/>
          </a:xfrm>
          <a:prstGeom prst="line">
            <a:avLst/>
          </a:prstGeom>
          <a:noFill/>
          <a:ln w="25400">
            <a:solidFill>
              <a:srgbClr val="F79646"/>
            </a:solidFill>
            <a:prstDash val="solid"/>
          </a:ln>
        </p:spPr>
        <p:txBody>
          <a:bodyPr/>
          <a:lstStyle/>
          <a:p>
            <a:endParaRPr lang="fr-FR"/>
          </a:p>
        </p:txBody>
      </p:sp>
      <p:sp>
        <p:nvSpPr>
          <p:cNvPr id="33" name="Shape 31"/>
          <p:cNvSpPr/>
          <p:nvPr/>
        </p:nvSpPr>
        <p:spPr>
          <a:xfrm>
            <a:off x="6949440" y="2286000"/>
            <a:ext cx="0" cy="411480"/>
          </a:xfrm>
          <a:prstGeom prst="line">
            <a:avLst/>
          </a:prstGeom>
          <a:noFill/>
          <a:ln w="25400">
            <a:solidFill>
              <a:srgbClr val="F79646"/>
            </a:solidFill>
            <a:prstDash val="solid"/>
          </a:ln>
        </p:spPr>
        <p:txBody>
          <a:bodyPr/>
          <a:lstStyle/>
          <a:p>
            <a:endParaRPr lang="fr-FR"/>
          </a:p>
        </p:txBody>
      </p:sp>
      <p:sp>
        <p:nvSpPr>
          <p:cNvPr id="34" name="Shape 32"/>
          <p:cNvSpPr/>
          <p:nvPr/>
        </p:nvSpPr>
        <p:spPr>
          <a:xfrm>
            <a:off x="4297680" y="2286000"/>
            <a:ext cx="1371600" cy="411480"/>
          </a:xfrm>
          <a:prstGeom prst="line">
            <a:avLst/>
          </a:prstGeom>
          <a:noFill/>
          <a:ln w="25400">
            <a:solidFill>
              <a:srgbClr val="F79646"/>
            </a:solidFill>
            <a:prstDash val="solid"/>
          </a:ln>
        </p:spPr>
        <p:txBody>
          <a:bodyPr/>
          <a:lstStyle/>
          <a:p>
            <a:endParaRPr lang="fr-FR"/>
          </a:p>
        </p:txBody>
      </p:sp>
      <p:sp>
        <p:nvSpPr>
          <p:cNvPr id="35" name="Text 33"/>
          <p:cNvSpPr/>
          <p:nvPr/>
        </p:nvSpPr>
        <p:spPr>
          <a:xfrm>
            <a:off x="457200" y="4206240"/>
            <a:ext cx="8229600" cy="228600"/>
          </a:xfrm>
          <a:prstGeom prst="rect">
            <a:avLst/>
          </a:prstGeom>
          <a:noFill/>
          <a:ln/>
        </p:spPr>
        <p:txBody>
          <a:bodyPr wrap="square" rtlCol="0" anchor="ctr"/>
          <a:lstStyle/>
          <a:p>
            <a:pPr marL="0" indent="0" algn="l">
              <a:buNone/>
            </a:pPr>
            <a:r>
              <a:rPr lang="en-US" sz="1000" dirty="0">
                <a:solidFill>
                  <a:srgbClr val="1F1F1F"/>
                </a:solidFill>
              </a:rPr>
              <a:t>PK = Clé primaire   |   FK = Clé étrangère   |   Lignes = Relations</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Intégrité des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24/40</a:t>
            </a:r>
            <a:endParaRPr lang="en-US" sz="1000" dirty="0"/>
          </a:p>
        </p:txBody>
      </p:sp>
      <p:sp>
        <p:nvSpPr>
          <p:cNvPr id="5" name="Shape 3"/>
          <p:cNvSpPr/>
          <p:nvPr/>
        </p:nvSpPr>
        <p:spPr>
          <a:xfrm>
            <a:off x="457200" y="822960"/>
            <a:ext cx="8229600" cy="1188720"/>
          </a:xfrm>
          <a:prstGeom prst="rect">
            <a:avLst/>
          </a:prstGeom>
          <a:solidFill>
            <a:srgbClr val="E7E6E6"/>
          </a:solidFill>
          <a:ln w="25400">
            <a:solidFill>
              <a:srgbClr val="F79646"/>
            </a:solidFill>
            <a:prstDash val="solid"/>
          </a:ln>
        </p:spPr>
        <p:txBody>
          <a:bodyPr/>
          <a:lstStyle/>
          <a:p>
            <a:endParaRPr lang="fr-FR"/>
          </a:p>
        </p:txBody>
      </p:sp>
      <p:sp>
        <p:nvSpPr>
          <p:cNvPr id="6" name="Text 4"/>
          <p:cNvSpPr/>
          <p:nvPr/>
        </p:nvSpPr>
        <p:spPr>
          <a:xfrm>
            <a:off x="640080" y="868680"/>
            <a:ext cx="7863840" cy="182880"/>
          </a:xfrm>
          <a:prstGeom prst="rect">
            <a:avLst/>
          </a:prstGeom>
          <a:noFill/>
          <a:ln/>
        </p:spPr>
        <p:txBody>
          <a:bodyPr wrap="square" rtlCol="0" anchor="ctr"/>
          <a:lstStyle/>
          <a:p>
            <a:pPr marL="0" indent="0">
              <a:buNone/>
            </a:pPr>
            <a:r>
              <a:rPr lang="en-US" sz="1100" b="1" dirty="0">
                <a:solidFill>
                  <a:srgbClr val="1F4E78"/>
                </a:solidFill>
              </a:rPr>
              <a:t>Intégrité de domaine</a:t>
            </a:r>
            <a:endParaRPr lang="en-US" sz="1100" dirty="0"/>
          </a:p>
        </p:txBody>
      </p:sp>
      <p:sp>
        <p:nvSpPr>
          <p:cNvPr id="7" name="Text 5"/>
          <p:cNvSpPr/>
          <p:nvPr/>
        </p:nvSpPr>
        <p:spPr>
          <a:xfrm>
            <a:off x="640080" y="1097280"/>
            <a:ext cx="7863840" cy="228600"/>
          </a:xfrm>
          <a:prstGeom prst="rect">
            <a:avLst/>
          </a:prstGeom>
          <a:noFill/>
          <a:ln/>
        </p:spPr>
        <p:txBody>
          <a:bodyPr wrap="square" rtlCol="0" anchor="ctr"/>
          <a:lstStyle/>
          <a:p>
            <a:pPr marL="0" indent="0">
              <a:buNone/>
            </a:pPr>
            <a:r>
              <a:rPr lang="en-US" sz="1000" dirty="0">
                <a:solidFill>
                  <a:srgbClr val="1F1F1F"/>
                </a:solidFill>
              </a:rPr>
              <a:t>Les valeurs sont du bon type et dans le bon format</a:t>
            </a:r>
            <a:endParaRPr lang="en-US" sz="1000" dirty="0"/>
          </a:p>
        </p:txBody>
      </p:sp>
      <p:sp>
        <p:nvSpPr>
          <p:cNvPr id="8" name="Text 6"/>
          <p:cNvSpPr/>
          <p:nvPr/>
        </p:nvSpPr>
        <p:spPr>
          <a:xfrm>
            <a:off x="640080" y="1371600"/>
            <a:ext cx="7863840" cy="274320"/>
          </a:xfrm>
          <a:prstGeom prst="rect">
            <a:avLst/>
          </a:prstGeom>
          <a:noFill/>
          <a:ln/>
        </p:spPr>
        <p:txBody>
          <a:bodyPr wrap="square" rtlCol="0" anchor="ctr"/>
          <a:lstStyle/>
          <a:p>
            <a:pPr marL="0" indent="0">
              <a:buNone/>
            </a:pPr>
            <a:r>
              <a:rPr lang="en-US" sz="1000" i="1" dirty="0">
                <a:solidFill>
                  <a:srgbClr val="1F1F1F"/>
                </a:solidFill>
              </a:rPr>
              <a:t>Exemple : age doit être un entier entre 0 et 150</a:t>
            </a:r>
            <a:endParaRPr lang="en-US" sz="1000" dirty="0"/>
          </a:p>
        </p:txBody>
      </p:sp>
      <p:sp>
        <p:nvSpPr>
          <p:cNvPr id="9" name="Shape 7"/>
          <p:cNvSpPr/>
          <p:nvPr/>
        </p:nvSpPr>
        <p:spPr>
          <a:xfrm>
            <a:off x="457200" y="2194560"/>
            <a:ext cx="8229600" cy="1188720"/>
          </a:xfrm>
          <a:prstGeom prst="rect">
            <a:avLst/>
          </a:prstGeom>
          <a:solidFill>
            <a:srgbClr val="E7E6E6"/>
          </a:solidFill>
          <a:ln w="25400">
            <a:solidFill>
              <a:srgbClr val="1F4E78"/>
            </a:solidFill>
            <a:prstDash val="solid"/>
          </a:ln>
        </p:spPr>
        <p:txBody>
          <a:bodyPr/>
          <a:lstStyle/>
          <a:p>
            <a:endParaRPr lang="fr-FR"/>
          </a:p>
        </p:txBody>
      </p:sp>
      <p:sp>
        <p:nvSpPr>
          <p:cNvPr id="10" name="Text 8"/>
          <p:cNvSpPr/>
          <p:nvPr/>
        </p:nvSpPr>
        <p:spPr>
          <a:xfrm>
            <a:off x="640080" y="2240280"/>
            <a:ext cx="7863840" cy="182880"/>
          </a:xfrm>
          <a:prstGeom prst="rect">
            <a:avLst/>
          </a:prstGeom>
          <a:noFill/>
          <a:ln/>
        </p:spPr>
        <p:txBody>
          <a:bodyPr wrap="square" rtlCol="0" anchor="ctr"/>
          <a:lstStyle/>
          <a:p>
            <a:pPr marL="0" indent="0">
              <a:buNone/>
            </a:pPr>
            <a:r>
              <a:rPr lang="en-US" sz="1100" b="1" dirty="0">
                <a:solidFill>
                  <a:srgbClr val="1F4E78"/>
                </a:solidFill>
              </a:rPr>
              <a:t>Intégrité d'entité</a:t>
            </a:r>
            <a:endParaRPr lang="en-US" sz="1100" dirty="0"/>
          </a:p>
        </p:txBody>
      </p:sp>
      <p:sp>
        <p:nvSpPr>
          <p:cNvPr id="11" name="Text 9"/>
          <p:cNvSpPr/>
          <p:nvPr/>
        </p:nvSpPr>
        <p:spPr>
          <a:xfrm>
            <a:off x="640080" y="2468880"/>
            <a:ext cx="7863840" cy="228600"/>
          </a:xfrm>
          <a:prstGeom prst="rect">
            <a:avLst/>
          </a:prstGeom>
          <a:noFill/>
          <a:ln/>
        </p:spPr>
        <p:txBody>
          <a:bodyPr wrap="square" rtlCol="0" anchor="ctr"/>
          <a:lstStyle/>
          <a:p>
            <a:pPr marL="0" indent="0">
              <a:buNone/>
            </a:pPr>
            <a:r>
              <a:rPr lang="en-US" sz="1000" dirty="0">
                <a:solidFill>
                  <a:srgbClr val="1F1F1F"/>
                </a:solidFill>
              </a:rPr>
              <a:t>Chaque tuple est unique (clé primaire non-null)</a:t>
            </a:r>
            <a:endParaRPr lang="en-US" sz="1000" dirty="0"/>
          </a:p>
        </p:txBody>
      </p:sp>
      <p:sp>
        <p:nvSpPr>
          <p:cNvPr id="12" name="Text 10"/>
          <p:cNvSpPr/>
          <p:nvPr/>
        </p:nvSpPr>
        <p:spPr>
          <a:xfrm>
            <a:off x="640080" y="2743200"/>
            <a:ext cx="7863840" cy="274320"/>
          </a:xfrm>
          <a:prstGeom prst="rect">
            <a:avLst/>
          </a:prstGeom>
          <a:noFill/>
          <a:ln/>
        </p:spPr>
        <p:txBody>
          <a:bodyPr wrap="square" rtlCol="0" anchor="ctr"/>
          <a:lstStyle/>
          <a:p>
            <a:pPr marL="0" indent="0">
              <a:buNone/>
            </a:pPr>
            <a:r>
              <a:rPr lang="en-US" sz="1000" i="1" dirty="0">
                <a:solidFill>
                  <a:srgbClr val="1F1F1F"/>
                </a:solidFill>
              </a:rPr>
              <a:t>Exemple : id_etudiant doit être unique et non-null</a:t>
            </a:r>
            <a:endParaRPr lang="en-US" sz="1000" dirty="0"/>
          </a:p>
        </p:txBody>
      </p:sp>
      <p:sp>
        <p:nvSpPr>
          <p:cNvPr id="13" name="Shape 11"/>
          <p:cNvSpPr/>
          <p:nvPr/>
        </p:nvSpPr>
        <p:spPr>
          <a:xfrm>
            <a:off x="457200" y="3566160"/>
            <a:ext cx="8229600" cy="1188720"/>
          </a:xfrm>
          <a:prstGeom prst="rect">
            <a:avLst/>
          </a:prstGeom>
          <a:solidFill>
            <a:srgbClr val="E7E6E6"/>
          </a:solidFill>
          <a:ln w="25400">
            <a:solidFill>
              <a:srgbClr val="F79646"/>
            </a:solidFill>
            <a:prstDash val="solid"/>
          </a:ln>
        </p:spPr>
        <p:txBody>
          <a:bodyPr/>
          <a:lstStyle/>
          <a:p>
            <a:endParaRPr lang="fr-FR"/>
          </a:p>
        </p:txBody>
      </p:sp>
      <p:sp>
        <p:nvSpPr>
          <p:cNvPr id="14" name="Text 12"/>
          <p:cNvSpPr/>
          <p:nvPr/>
        </p:nvSpPr>
        <p:spPr>
          <a:xfrm>
            <a:off x="640080" y="3611880"/>
            <a:ext cx="7863840" cy="182880"/>
          </a:xfrm>
          <a:prstGeom prst="rect">
            <a:avLst/>
          </a:prstGeom>
          <a:noFill/>
          <a:ln/>
        </p:spPr>
        <p:txBody>
          <a:bodyPr wrap="square" rtlCol="0" anchor="ctr"/>
          <a:lstStyle/>
          <a:p>
            <a:pPr marL="0" indent="0">
              <a:buNone/>
            </a:pPr>
            <a:r>
              <a:rPr lang="en-US" sz="1100" b="1" dirty="0">
                <a:solidFill>
                  <a:srgbClr val="1F4E78"/>
                </a:solidFill>
              </a:rPr>
              <a:t>Intégrité référentielle</a:t>
            </a:r>
            <a:endParaRPr lang="en-US" sz="1100" dirty="0"/>
          </a:p>
        </p:txBody>
      </p:sp>
      <p:sp>
        <p:nvSpPr>
          <p:cNvPr id="15" name="Text 13"/>
          <p:cNvSpPr/>
          <p:nvPr/>
        </p:nvSpPr>
        <p:spPr>
          <a:xfrm>
            <a:off x="640080" y="3840480"/>
            <a:ext cx="7863840" cy="228600"/>
          </a:xfrm>
          <a:prstGeom prst="rect">
            <a:avLst/>
          </a:prstGeom>
          <a:noFill/>
          <a:ln/>
        </p:spPr>
        <p:txBody>
          <a:bodyPr wrap="square" rtlCol="0" anchor="ctr"/>
          <a:lstStyle/>
          <a:p>
            <a:pPr marL="0" indent="0">
              <a:buNone/>
            </a:pPr>
            <a:r>
              <a:rPr lang="en-US" sz="1000" dirty="0">
                <a:solidFill>
                  <a:srgbClr val="1F1F1F"/>
                </a:solidFill>
              </a:rPr>
              <a:t>Les clés étrangères doivent référencer des tuples existants</a:t>
            </a:r>
            <a:endParaRPr lang="en-US" sz="1000" dirty="0"/>
          </a:p>
        </p:txBody>
      </p:sp>
      <p:sp>
        <p:nvSpPr>
          <p:cNvPr id="16" name="Text 14"/>
          <p:cNvSpPr/>
          <p:nvPr/>
        </p:nvSpPr>
        <p:spPr>
          <a:xfrm>
            <a:off x="640080" y="4114800"/>
            <a:ext cx="7863840" cy="274320"/>
          </a:xfrm>
          <a:prstGeom prst="rect">
            <a:avLst/>
          </a:prstGeom>
          <a:noFill/>
          <a:ln/>
        </p:spPr>
        <p:txBody>
          <a:bodyPr wrap="square" rtlCol="0" anchor="ctr"/>
          <a:lstStyle/>
          <a:p>
            <a:pPr marL="0" indent="0">
              <a:buNone/>
            </a:pPr>
            <a:r>
              <a:rPr lang="en-US" sz="1000" i="1" dirty="0">
                <a:solidFill>
                  <a:srgbClr val="1F1F1F"/>
                </a:solidFill>
              </a:rPr>
              <a:t>Exemple : id_etudiant dans INSCRIPTION doit exister dans ETUDIANT</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Exercice : Modéliser une base de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25/40</a:t>
            </a:r>
            <a:endParaRPr lang="en-US" sz="1000" dirty="0"/>
          </a:p>
        </p:txBody>
      </p:sp>
      <p:sp>
        <p:nvSpPr>
          <p:cNvPr id="5" name="Text 3"/>
          <p:cNvSpPr/>
          <p:nvPr/>
        </p:nvSpPr>
        <p:spPr>
          <a:xfrm>
            <a:off x="457200" y="822960"/>
            <a:ext cx="8229600" cy="228600"/>
          </a:xfrm>
          <a:prstGeom prst="rect">
            <a:avLst/>
          </a:prstGeom>
          <a:noFill/>
          <a:ln/>
        </p:spPr>
        <p:txBody>
          <a:bodyPr wrap="square" rtlCol="0" anchor="ctr"/>
          <a:lstStyle/>
          <a:p>
            <a:pPr marL="0" indent="0">
              <a:buNone/>
            </a:pPr>
            <a:r>
              <a:rPr lang="en-US" sz="1300" b="1" dirty="0">
                <a:solidFill>
                  <a:srgbClr val="1F4E78"/>
                </a:solidFill>
              </a:rPr>
              <a:t>Scenario</a:t>
            </a:r>
            <a:endParaRPr lang="en-US" sz="1300" dirty="0"/>
          </a:p>
        </p:txBody>
      </p:sp>
      <p:sp>
        <p:nvSpPr>
          <p:cNvPr id="6" name="Text 4"/>
          <p:cNvSpPr/>
          <p:nvPr/>
        </p:nvSpPr>
        <p:spPr>
          <a:xfrm>
            <a:off x="457200" y="1143000"/>
            <a:ext cx="8229600" cy="182880"/>
          </a:xfrm>
          <a:prstGeom prst="rect">
            <a:avLst/>
          </a:prstGeom>
          <a:noFill/>
          <a:ln/>
        </p:spPr>
        <p:txBody>
          <a:bodyPr wrap="square" rtlCol="0" anchor="ctr"/>
          <a:lstStyle/>
          <a:p>
            <a:pPr marL="0" indent="0">
              <a:buNone/>
            </a:pPr>
            <a:r>
              <a:rPr lang="en-US" sz="1100" dirty="0">
                <a:solidFill>
                  <a:srgbClr val="1F1F1F"/>
                </a:solidFill>
              </a:rPr>
              <a:t>Une bibliothèque souhaite gérer :</a:t>
            </a:r>
            <a:endParaRPr lang="en-US" sz="1100" dirty="0"/>
          </a:p>
        </p:txBody>
      </p:sp>
      <p:sp>
        <p:nvSpPr>
          <p:cNvPr id="7" name="Text 5"/>
          <p:cNvSpPr/>
          <p:nvPr/>
        </p:nvSpPr>
        <p:spPr>
          <a:xfrm>
            <a:off x="914400" y="1463040"/>
            <a:ext cx="7772400" cy="228600"/>
          </a:xfrm>
          <a:prstGeom prst="rect">
            <a:avLst/>
          </a:prstGeom>
          <a:noFill/>
          <a:ln/>
        </p:spPr>
        <p:txBody>
          <a:bodyPr wrap="square" rtlCol="0" anchor="ctr"/>
          <a:lstStyle/>
          <a:p>
            <a:pPr marL="0" indent="0">
              <a:buNone/>
            </a:pPr>
            <a:r>
              <a:rPr lang="en-US" sz="1000" dirty="0">
                <a:solidFill>
                  <a:srgbClr val="1F1F1F"/>
                </a:solidFill>
              </a:rPr>
              <a:t>• Livres (titre, auteur, ISBN, année)</a:t>
            </a:r>
            <a:endParaRPr lang="en-US" sz="1000" dirty="0"/>
          </a:p>
        </p:txBody>
      </p:sp>
      <p:sp>
        <p:nvSpPr>
          <p:cNvPr id="8" name="Text 6"/>
          <p:cNvSpPr/>
          <p:nvPr/>
        </p:nvSpPr>
        <p:spPr>
          <a:xfrm>
            <a:off x="914400" y="1737360"/>
            <a:ext cx="7772400" cy="228600"/>
          </a:xfrm>
          <a:prstGeom prst="rect">
            <a:avLst/>
          </a:prstGeom>
          <a:noFill/>
          <a:ln/>
        </p:spPr>
        <p:txBody>
          <a:bodyPr wrap="square" rtlCol="0" anchor="ctr"/>
          <a:lstStyle/>
          <a:p>
            <a:pPr marL="0" indent="0">
              <a:buNone/>
            </a:pPr>
            <a:r>
              <a:rPr lang="en-US" sz="1000" dirty="0">
                <a:solidFill>
                  <a:srgbClr val="1F1F1F"/>
                </a:solidFill>
              </a:rPr>
              <a:t>• Auteurs (nom, prénom, nationalité)</a:t>
            </a:r>
            <a:endParaRPr lang="en-US" sz="1000" dirty="0"/>
          </a:p>
        </p:txBody>
      </p:sp>
      <p:sp>
        <p:nvSpPr>
          <p:cNvPr id="9" name="Text 7"/>
          <p:cNvSpPr/>
          <p:nvPr/>
        </p:nvSpPr>
        <p:spPr>
          <a:xfrm>
            <a:off x="914400" y="2011680"/>
            <a:ext cx="7772400" cy="228600"/>
          </a:xfrm>
          <a:prstGeom prst="rect">
            <a:avLst/>
          </a:prstGeom>
          <a:noFill/>
          <a:ln/>
        </p:spPr>
        <p:txBody>
          <a:bodyPr wrap="square" rtlCol="0" anchor="ctr"/>
          <a:lstStyle/>
          <a:p>
            <a:pPr marL="0" indent="0">
              <a:buNone/>
            </a:pPr>
            <a:r>
              <a:rPr lang="en-US" sz="1000" dirty="0">
                <a:solidFill>
                  <a:srgbClr val="1F1F1F"/>
                </a:solidFill>
              </a:rPr>
              <a:t>• Adhérents (nom, email, téléphone)</a:t>
            </a:r>
            <a:endParaRPr lang="en-US" sz="1000" dirty="0"/>
          </a:p>
        </p:txBody>
      </p:sp>
      <p:sp>
        <p:nvSpPr>
          <p:cNvPr id="10" name="Text 8"/>
          <p:cNvSpPr/>
          <p:nvPr/>
        </p:nvSpPr>
        <p:spPr>
          <a:xfrm>
            <a:off x="914400" y="2286000"/>
            <a:ext cx="7772400" cy="228600"/>
          </a:xfrm>
          <a:prstGeom prst="rect">
            <a:avLst/>
          </a:prstGeom>
          <a:noFill/>
          <a:ln/>
        </p:spPr>
        <p:txBody>
          <a:bodyPr wrap="square" rtlCol="0" anchor="ctr"/>
          <a:lstStyle/>
          <a:p>
            <a:pPr marL="0" indent="0">
              <a:buNone/>
            </a:pPr>
            <a:r>
              <a:rPr lang="en-US" sz="1000" dirty="0">
                <a:solidFill>
                  <a:srgbClr val="1F1F1F"/>
                </a:solidFill>
              </a:rPr>
              <a:t>• Emprunts (date d'emprunt, date de retour, amende)</a:t>
            </a:r>
            <a:endParaRPr lang="en-US" sz="1000" dirty="0"/>
          </a:p>
        </p:txBody>
      </p:sp>
      <p:sp>
        <p:nvSpPr>
          <p:cNvPr id="11" name="Shape 9"/>
          <p:cNvSpPr/>
          <p:nvPr/>
        </p:nvSpPr>
        <p:spPr>
          <a:xfrm>
            <a:off x="457200" y="2743200"/>
            <a:ext cx="8229600" cy="2011680"/>
          </a:xfrm>
          <a:prstGeom prst="rect">
            <a:avLst/>
          </a:prstGeom>
          <a:solidFill>
            <a:srgbClr val="E7E6E6"/>
          </a:solidFill>
          <a:ln w="25400">
            <a:solidFill>
              <a:srgbClr val="F79646"/>
            </a:solidFill>
            <a:prstDash val="solid"/>
          </a:ln>
        </p:spPr>
        <p:txBody>
          <a:bodyPr/>
          <a:lstStyle/>
          <a:p>
            <a:endParaRPr lang="fr-FR"/>
          </a:p>
        </p:txBody>
      </p:sp>
      <p:sp>
        <p:nvSpPr>
          <p:cNvPr id="12" name="Text 10"/>
          <p:cNvSpPr/>
          <p:nvPr/>
        </p:nvSpPr>
        <p:spPr>
          <a:xfrm>
            <a:off x="640080" y="2834640"/>
            <a:ext cx="7863840" cy="182880"/>
          </a:xfrm>
          <a:prstGeom prst="rect">
            <a:avLst/>
          </a:prstGeom>
          <a:noFill/>
          <a:ln/>
        </p:spPr>
        <p:txBody>
          <a:bodyPr wrap="square" rtlCol="0" anchor="ctr"/>
          <a:lstStyle/>
          <a:p>
            <a:pPr marL="0" indent="0">
              <a:buNone/>
            </a:pPr>
            <a:r>
              <a:rPr lang="en-US" sz="1100" b="1" dirty="0">
                <a:solidFill>
                  <a:srgbClr val="1F4E78"/>
                </a:solidFill>
              </a:rPr>
              <a:t>Travail en petits groupes (20 minutes)</a:t>
            </a:r>
            <a:endParaRPr lang="en-US" sz="1100" dirty="0"/>
          </a:p>
        </p:txBody>
      </p:sp>
      <p:sp>
        <p:nvSpPr>
          <p:cNvPr id="13" name="Text 11"/>
          <p:cNvSpPr/>
          <p:nvPr/>
        </p:nvSpPr>
        <p:spPr>
          <a:xfrm>
            <a:off x="822960" y="3108960"/>
            <a:ext cx="7498080" cy="182880"/>
          </a:xfrm>
          <a:prstGeom prst="rect">
            <a:avLst/>
          </a:prstGeom>
          <a:noFill/>
          <a:ln/>
        </p:spPr>
        <p:txBody>
          <a:bodyPr wrap="square" rtlCol="0" anchor="ctr"/>
          <a:lstStyle/>
          <a:p>
            <a:pPr marL="0" indent="0">
              <a:buNone/>
            </a:pPr>
            <a:r>
              <a:rPr lang="en-US" sz="1000" dirty="0">
                <a:solidFill>
                  <a:srgbClr val="1F1F1F"/>
                </a:solidFill>
              </a:rPr>
              <a:t>1. Identifier les entités (tables)</a:t>
            </a:r>
            <a:endParaRPr lang="en-US" sz="1000" dirty="0"/>
          </a:p>
        </p:txBody>
      </p:sp>
      <p:sp>
        <p:nvSpPr>
          <p:cNvPr id="14" name="Text 12"/>
          <p:cNvSpPr/>
          <p:nvPr/>
        </p:nvSpPr>
        <p:spPr>
          <a:xfrm>
            <a:off x="822960" y="3364992"/>
            <a:ext cx="7498080" cy="182880"/>
          </a:xfrm>
          <a:prstGeom prst="rect">
            <a:avLst/>
          </a:prstGeom>
          <a:noFill/>
          <a:ln/>
        </p:spPr>
        <p:txBody>
          <a:bodyPr wrap="square" rtlCol="0" anchor="ctr"/>
          <a:lstStyle/>
          <a:p>
            <a:pPr marL="0" indent="0">
              <a:buNone/>
            </a:pPr>
            <a:r>
              <a:rPr lang="en-US" sz="1000" dirty="0">
                <a:solidFill>
                  <a:srgbClr val="1F1F1F"/>
                </a:solidFill>
              </a:rPr>
              <a:t>2. Lister les attributs de chaque entité</a:t>
            </a:r>
            <a:endParaRPr lang="en-US" sz="1000" dirty="0"/>
          </a:p>
        </p:txBody>
      </p:sp>
      <p:sp>
        <p:nvSpPr>
          <p:cNvPr id="15" name="Text 13"/>
          <p:cNvSpPr/>
          <p:nvPr/>
        </p:nvSpPr>
        <p:spPr>
          <a:xfrm>
            <a:off x="822960" y="3621024"/>
            <a:ext cx="7498080" cy="182880"/>
          </a:xfrm>
          <a:prstGeom prst="rect">
            <a:avLst/>
          </a:prstGeom>
          <a:noFill/>
          <a:ln/>
        </p:spPr>
        <p:txBody>
          <a:bodyPr wrap="square" rtlCol="0" anchor="ctr"/>
          <a:lstStyle/>
          <a:p>
            <a:pPr marL="0" indent="0">
              <a:buNone/>
            </a:pPr>
            <a:r>
              <a:rPr lang="en-US" sz="1000" dirty="0">
                <a:solidFill>
                  <a:srgbClr val="1F1F1F"/>
                </a:solidFill>
              </a:rPr>
              <a:t>3. Choisir la clé primaire de chaque table</a:t>
            </a:r>
            <a:endParaRPr lang="en-US" sz="1000" dirty="0"/>
          </a:p>
        </p:txBody>
      </p:sp>
      <p:sp>
        <p:nvSpPr>
          <p:cNvPr id="16" name="Text 14"/>
          <p:cNvSpPr/>
          <p:nvPr/>
        </p:nvSpPr>
        <p:spPr>
          <a:xfrm>
            <a:off x="822960" y="3877056"/>
            <a:ext cx="7498080" cy="182880"/>
          </a:xfrm>
          <a:prstGeom prst="rect">
            <a:avLst/>
          </a:prstGeom>
          <a:noFill/>
          <a:ln/>
        </p:spPr>
        <p:txBody>
          <a:bodyPr wrap="square" rtlCol="0" anchor="ctr"/>
          <a:lstStyle/>
          <a:p>
            <a:pPr marL="0" indent="0">
              <a:buNone/>
            </a:pPr>
            <a:r>
              <a:rPr lang="en-US" sz="1000" dirty="0">
                <a:solidFill>
                  <a:srgbClr val="1F1F1F"/>
                </a:solidFill>
              </a:rPr>
              <a:t>4. Identifier les relations (1:1, 1:N, N:M)</a:t>
            </a:r>
            <a:endParaRPr lang="en-US" sz="1000" dirty="0"/>
          </a:p>
        </p:txBody>
      </p:sp>
      <p:sp>
        <p:nvSpPr>
          <p:cNvPr id="17" name="Text 15"/>
          <p:cNvSpPr/>
          <p:nvPr/>
        </p:nvSpPr>
        <p:spPr>
          <a:xfrm>
            <a:off x="822960" y="4133088"/>
            <a:ext cx="7498080" cy="182880"/>
          </a:xfrm>
          <a:prstGeom prst="rect">
            <a:avLst/>
          </a:prstGeom>
          <a:noFill/>
          <a:ln/>
        </p:spPr>
        <p:txBody>
          <a:bodyPr wrap="square" rtlCol="0" anchor="ctr"/>
          <a:lstStyle/>
          <a:p>
            <a:pPr marL="0" indent="0">
              <a:buNone/>
            </a:pPr>
            <a:r>
              <a:rPr lang="en-US" sz="1000" dirty="0">
                <a:solidFill>
                  <a:srgbClr val="1F1F1F"/>
                </a:solidFill>
              </a:rPr>
              <a:t>5. Dessiner le schéma relationnel</a:t>
            </a:r>
            <a:endParaRPr lang="en-US" sz="1000" dirty="0"/>
          </a:p>
        </p:txBody>
      </p:sp>
      <p:sp>
        <p:nvSpPr>
          <p:cNvPr id="18" name="Text 16"/>
          <p:cNvSpPr/>
          <p:nvPr/>
        </p:nvSpPr>
        <p:spPr>
          <a:xfrm>
            <a:off x="822960" y="4389120"/>
            <a:ext cx="7498080" cy="182880"/>
          </a:xfrm>
          <a:prstGeom prst="rect">
            <a:avLst/>
          </a:prstGeom>
          <a:noFill/>
          <a:ln/>
        </p:spPr>
        <p:txBody>
          <a:bodyPr wrap="square" rtlCol="0" anchor="ctr"/>
          <a:lstStyle/>
          <a:p>
            <a:pPr marL="0" indent="0">
              <a:buNone/>
            </a:pPr>
            <a:r>
              <a:rPr lang="en-US" sz="1000" dirty="0">
                <a:solidFill>
                  <a:srgbClr val="1F1F1F"/>
                </a:solidFill>
              </a:rPr>
              <a:t>6. Définir les clés étrangères</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Introduction à SQL</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26/40</a:t>
            </a:r>
            <a:endParaRPr lang="en-US" sz="1000" dirty="0"/>
          </a:p>
        </p:txBody>
      </p:sp>
      <p:sp>
        <p:nvSpPr>
          <p:cNvPr id="5" name="Text 3"/>
          <p:cNvSpPr/>
          <p:nvPr/>
        </p:nvSpPr>
        <p:spPr>
          <a:xfrm>
            <a:off x="457200" y="822960"/>
            <a:ext cx="8229600" cy="274320"/>
          </a:xfrm>
          <a:prstGeom prst="rect">
            <a:avLst/>
          </a:prstGeom>
          <a:noFill/>
          <a:ln/>
        </p:spPr>
        <p:txBody>
          <a:bodyPr wrap="square" rtlCol="0" anchor="ctr"/>
          <a:lstStyle/>
          <a:p>
            <a:pPr marL="0" indent="0">
              <a:buNone/>
            </a:pPr>
            <a:r>
              <a:rPr lang="en-US" sz="1400" b="1" dirty="0">
                <a:solidFill>
                  <a:srgbClr val="1F4E78"/>
                </a:solidFill>
              </a:rPr>
              <a:t>SQL = Structured Query Language</a:t>
            </a:r>
            <a:endParaRPr lang="en-US" sz="1400" dirty="0"/>
          </a:p>
        </p:txBody>
      </p:sp>
      <p:sp>
        <p:nvSpPr>
          <p:cNvPr id="6" name="Text 4"/>
          <p:cNvSpPr/>
          <p:nvPr/>
        </p:nvSpPr>
        <p:spPr>
          <a:xfrm>
            <a:off x="457200" y="1188720"/>
            <a:ext cx="8229600" cy="457200"/>
          </a:xfrm>
          <a:prstGeom prst="rect">
            <a:avLst/>
          </a:prstGeom>
          <a:noFill/>
          <a:ln/>
        </p:spPr>
        <p:txBody>
          <a:bodyPr wrap="square" rtlCol="0" anchor="ctr"/>
          <a:lstStyle/>
          <a:p>
            <a:pPr marL="0" indent="0">
              <a:buNone/>
            </a:pPr>
            <a:r>
              <a:rPr lang="en-US" sz="1200" b="1" dirty="0">
                <a:solidFill>
                  <a:srgbClr val="1F1F1F"/>
                </a:solidFill>
              </a:rPr>
              <a:t>Langage déclaratif standardisé pour interroger et modifier les bases de données.</a:t>
            </a:r>
            <a:endParaRPr lang="en-US" sz="1200" dirty="0"/>
          </a:p>
        </p:txBody>
      </p:sp>
      <p:sp>
        <p:nvSpPr>
          <p:cNvPr id="7" name="Shape 5"/>
          <p:cNvSpPr/>
          <p:nvPr/>
        </p:nvSpPr>
        <p:spPr>
          <a:xfrm>
            <a:off x="457200" y="1920240"/>
            <a:ext cx="8229600" cy="411480"/>
          </a:xfrm>
          <a:prstGeom prst="rect">
            <a:avLst/>
          </a:prstGeom>
          <a:solidFill>
            <a:srgbClr val="F79646"/>
          </a:solidFill>
          <a:ln w="12700">
            <a:solidFill>
              <a:srgbClr val="E7E6E6"/>
            </a:solidFill>
            <a:prstDash val="solid"/>
          </a:ln>
        </p:spPr>
        <p:txBody>
          <a:bodyPr/>
          <a:lstStyle/>
          <a:p>
            <a:endParaRPr lang="fr-FR"/>
          </a:p>
        </p:txBody>
      </p:sp>
      <p:sp>
        <p:nvSpPr>
          <p:cNvPr id="8" name="Text 6"/>
          <p:cNvSpPr/>
          <p:nvPr/>
        </p:nvSpPr>
        <p:spPr>
          <a:xfrm>
            <a:off x="640080" y="1920240"/>
            <a:ext cx="914400" cy="411480"/>
          </a:xfrm>
          <a:prstGeom prst="rect">
            <a:avLst/>
          </a:prstGeom>
          <a:noFill/>
          <a:ln/>
        </p:spPr>
        <p:txBody>
          <a:bodyPr wrap="square" rtlCol="0" anchor="ctr"/>
          <a:lstStyle/>
          <a:p>
            <a:pPr marL="0" indent="0" algn="l">
              <a:buNone/>
            </a:pPr>
            <a:r>
              <a:rPr lang="en-US" sz="1100" b="1" dirty="0">
                <a:solidFill>
                  <a:srgbClr val="FFFFFF"/>
                </a:solidFill>
              </a:rPr>
              <a:t>DDL</a:t>
            </a:r>
            <a:endParaRPr lang="en-US" sz="1100" dirty="0"/>
          </a:p>
        </p:txBody>
      </p:sp>
      <p:sp>
        <p:nvSpPr>
          <p:cNvPr id="9" name="Text 7"/>
          <p:cNvSpPr/>
          <p:nvPr/>
        </p:nvSpPr>
        <p:spPr>
          <a:xfrm>
            <a:off x="1645920" y="1920240"/>
            <a:ext cx="3200400" cy="411480"/>
          </a:xfrm>
          <a:prstGeom prst="rect">
            <a:avLst/>
          </a:prstGeom>
          <a:noFill/>
          <a:ln/>
        </p:spPr>
        <p:txBody>
          <a:bodyPr wrap="square" rtlCol="0" anchor="ctr"/>
          <a:lstStyle/>
          <a:p>
            <a:pPr marL="0" indent="0" algn="l">
              <a:buNone/>
            </a:pPr>
            <a:r>
              <a:rPr lang="en-US" sz="1000" dirty="0">
                <a:solidFill>
                  <a:srgbClr val="FFFFFF"/>
                </a:solidFill>
              </a:rPr>
              <a:t>Data Definition Language</a:t>
            </a:r>
            <a:endParaRPr lang="en-US" sz="1000" dirty="0"/>
          </a:p>
        </p:txBody>
      </p:sp>
      <p:sp>
        <p:nvSpPr>
          <p:cNvPr id="10" name="Text 8"/>
          <p:cNvSpPr/>
          <p:nvPr/>
        </p:nvSpPr>
        <p:spPr>
          <a:xfrm>
            <a:off x="4937760" y="1920240"/>
            <a:ext cx="3749040" cy="411480"/>
          </a:xfrm>
          <a:prstGeom prst="rect">
            <a:avLst/>
          </a:prstGeom>
          <a:noFill/>
          <a:ln/>
        </p:spPr>
        <p:txBody>
          <a:bodyPr wrap="square" rtlCol="0" anchor="ctr"/>
          <a:lstStyle/>
          <a:p>
            <a:pPr marL="0" indent="0" algn="l">
              <a:buNone/>
            </a:pPr>
            <a:r>
              <a:rPr lang="en-US" sz="1000" dirty="0">
                <a:solidFill>
                  <a:srgbClr val="FFFFFF"/>
                </a:solidFill>
              </a:rPr>
              <a:t>CREATE, DROP, ALTER</a:t>
            </a:r>
            <a:endParaRPr lang="en-US" sz="1000" dirty="0"/>
          </a:p>
        </p:txBody>
      </p:sp>
      <p:sp>
        <p:nvSpPr>
          <p:cNvPr id="11" name="Shape 9"/>
          <p:cNvSpPr/>
          <p:nvPr/>
        </p:nvSpPr>
        <p:spPr>
          <a:xfrm>
            <a:off x="457200" y="2377440"/>
            <a:ext cx="8229600" cy="411480"/>
          </a:xfrm>
          <a:prstGeom prst="rect">
            <a:avLst/>
          </a:prstGeom>
          <a:solidFill>
            <a:srgbClr val="1F4E78"/>
          </a:solidFill>
          <a:ln w="12700">
            <a:solidFill>
              <a:srgbClr val="E7E6E6"/>
            </a:solidFill>
            <a:prstDash val="solid"/>
          </a:ln>
        </p:spPr>
        <p:txBody>
          <a:bodyPr/>
          <a:lstStyle/>
          <a:p>
            <a:endParaRPr lang="fr-FR"/>
          </a:p>
        </p:txBody>
      </p:sp>
      <p:sp>
        <p:nvSpPr>
          <p:cNvPr id="12" name="Text 10"/>
          <p:cNvSpPr/>
          <p:nvPr/>
        </p:nvSpPr>
        <p:spPr>
          <a:xfrm>
            <a:off x="640080" y="2377440"/>
            <a:ext cx="914400" cy="411480"/>
          </a:xfrm>
          <a:prstGeom prst="rect">
            <a:avLst/>
          </a:prstGeom>
          <a:noFill/>
          <a:ln/>
        </p:spPr>
        <p:txBody>
          <a:bodyPr wrap="square" rtlCol="0" anchor="ctr"/>
          <a:lstStyle/>
          <a:p>
            <a:pPr marL="0" indent="0" algn="l">
              <a:buNone/>
            </a:pPr>
            <a:r>
              <a:rPr lang="en-US" sz="1100" b="1" dirty="0">
                <a:solidFill>
                  <a:srgbClr val="FFFFFF"/>
                </a:solidFill>
              </a:rPr>
              <a:t>DML</a:t>
            </a:r>
            <a:endParaRPr lang="en-US" sz="1100" dirty="0"/>
          </a:p>
        </p:txBody>
      </p:sp>
      <p:sp>
        <p:nvSpPr>
          <p:cNvPr id="13" name="Text 11"/>
          <p:cNvSpPr/>
          <p:nvPr/>
        </p:nvSpPr>
        <p:spPr>
          <a:xfrm>
            <a:off x="1645920" y="2377440"/>
            <a:ext cx="3200400" cy="411480"/>
          </a:xfrm>
          <a:prstGeom prst="rect">
            <a:avLst/>
          </a:prstGeom>
          <a:noFill/>
          <a:ln/>
        </p:spPr>
        <p:txBody>
          <a:bodyPr wrap="square" rtlCol="0" anchor="ctr"/>
          <a:lstStyle/>
          <a:p>
            <a:pPr marL="0" indent="0" algn="l">
              <a:buNone/>
            </a:pPr>
            <a:r>
              <a:rPr lang="en-US" sz="1000" dirty="0">
                <a:solidFill>
                  <a:srgbClr val="FFFFFF"/>
                </a:solidFill>
              </a:rPr>
              <a:t>Data Manipulation Language</a:t>
            </a:r>
            <a:endParaRPr lang="en-US" sz="1000" dirty="0"/>
          </a:p>
        </p:txBody>
      </p:sp>
      <p:sp>
        <p:nvSpPr>
          <p:cNvPr id="14" name="Text 12"/>
          <p:cNvSpPr/>
          <p:nvPr/>
        </p:nvSpPr>
        <p:spPr>
          <a:xfrm>
            <a:off x="4937760" y="2377440"/>
            <a:ext cx="3749040" cy="411480"/>
          </a:xfrm>
          <a:prstGeom prst="rect">
            <a:avLst/>
          </a:prstGeom>
          <a:noFill/>
          <a:ln/>
        </p:spPr>
        <p:txBody>
          <a:bodyPr wrap="square" rtlCol="0" anchor="ctr"/>
          <a:lstStyle/>
          <a:p>
            <a:pPr marL="0" indent="0" algn="l">
              <a:buNone/>
            </a:pPr>
            <a:r>
              <a:rPr lang="en-US" sz="1000" dirty="0">
                <a:solidFill>
                  <a:srgbClr val="FFFFFF"/>
                </a:solidFill>
              </a:rPr>
              <a:t>INSERT, UPDATE, DELETE</a:t>
            </a:r>
            <a:endParaRPr lang="en-US" sz="1000" dirty="0"/>
          </a:p>
        </p:txBody>
      </p:sp>
      <p:sp>
        <p:nvSpPr>
          <p:cNvPr id="15" name="Shape 13"/>
          <p:cNvSpPr/>
          <p:nvPr/>
        </p:nvSpPr>
        <p:spPr>
          <a:xfrm>
            <a:off x="457200" y="2834640"/>
            <a:ext cx="8229600" cy="411480"/>
          </a:xfrm>
          <a:prstGeom prst="rect">
            <a:avLst/>
          </a:prstGeom>
          <a:solidFill>
            <a:srgbClr val="F79646"/>
          </a:solidFill>
          <a:ln w="12700">
            <a:solidFill>
              <a:srgbClr val="E7E6E6"/>
            </a:solidFill>
            <a:prstDash val="solid"/>
          </a:ln>
        </p:spPr>
        <p:txBody>
          <a:bodyPr/>
          <a:lstStyle/>
          <a:p>
            <a:endParaRPr lang="fr-FR"/>
          </a:p>
        </p:txBody>
      </p:sp>
      <p:sp>
        <p:nvSpPr>
          <p:cNvPr id="16" name="Text 14"/>
          <p:cNvSpPr/>
          <p:nvPr/>
        </p:nvSpPr>
        <p:spPr>
          <a:xfrm>
            <a:off x="640080" y="2834640"/>
            <a:ext cx="914400" cy="411480"/>
          </a:xfrm>
          <a:prstGeom prst="rect">
            <a:avLst/>
          </a:prstGeom>
          <a:noFill/>
          <a:ln/>
        </p:spPr>
        <p:txBody>
          <a:bodyPr wrap="square" rtlCol="0" anchor="ctr"/>
          <a:lstStyle/>
          <a:p>
            <a:pPr marL="0" indent="0" algn="l">
              <a:buNone/>
            </a:pPr>
            <a:r>
              <a:rPr lang="en-US" sz="1100" b="1" dirty="0">
                <a:solidFill>
                  <a:srgbClr val="FFFFFF"/>
                </a:solidFill>
              </a:rPr>
              <a:t>DQL</a:t>
            </a:r>
            <a:endParaRPr lang="en-US" sz="1100" dirty="0"/>
          </a:p>
        </p:txBody>
      </p:sp>
      <p:sp>
        <p:nvSpPr>
          <p:cNvPr id="17" name="Text 15"/>
          <p:cNvSpPr/>
          <p:nvPr/>
        </p:nvSpPr>
        <p:spPr>
          <a:xfrm>
            <a:off x="1645920" y="2834640"/>
            <a:ext cx="3200400" cy="411480"/>
          </a:xfrm>
          <a:prstGeom prst="rect">
            <a:avLst/>
          </a:prstGeom>
          <a:noFill/>
          <a:ln/>
        </p:spPr>
        <p:txBody>
          <a:bodyPr wrap="square" rtlCol="0" anchor="ctr"/>
          <a:lstStyle/>
          <a:p>
            <a:pPr marL="0" indent="0" algn="l">
              <a:buNone/>
            </a:pPr>
            <a:r>
              <a:rPr lang="en-US" sz="1000" dirty="0">
                <a:solidFill>
                  <a:srgbClr val="FFFFFF"/>
                </a:solidFill>
              </a:rPr>
              <a:t>Data Query Language</a:t>
            </a:r>
            <a:endParaRPr lang="en-US" sz="1000" dirty="0"/>
          </a:p>
        </p:txBody>
      </p:sp>
      <p:sp>
        <p:nvSpPr>
          <p:cNvPr id="18" name="Text 16"/>
          <p:cNvSpPr/>
          <p:nvPr/>
        </p:nvSpPr>
        <p:spPr>
          <a:xfrm>
            <a:off x="4937760" y="2834640"/>
            <a:ext cx="3749040" cy="411480"/>
          </a:xfrm>
          <a:prstGeom prst="rect">
            <a:avLst/>
          </a:prstGeom>
          <a:noFill/>
          <a:ln/>
        </p:spPr>
        <p:txBody>
          <a:bodyPr wrap="square" rtlCol="0" anchor="ctr"/>
          <a:lstStyle/>
          <a:p>
            <a:pPr marL="0" indent="0" algn="l">
              <a:buNone/>
            </a:pPr>
            <a:r>
              <a:rPr lang="en-US" sz="1000" dirty="0">
                <a:solidFill>
                  <a:srgbClr val="FFFFFF"/>
                </a:solidFill>
              </a:rPr>
              <a:t>SELECT</a:t>
            </a:r>
            <a:endParaRPr lang="en-US" sz="1000" dirty="0"/>
          </a:p>
        </p:txBody>
      </p:sp>
      <p:sp>
        <p:nvSpPr>
          <p:cNvPr id="19" name="Shape 17"/>
          <p:cNvSpPr/>
          <p:nvPr/>
        </p:nvSpPr>
        <p:spPr>
          <a:xfrm>
            <a:off x="457200" y="3291840"/>
            <a:ext cx="8229600" cy="411480"/>
          </a:xfrm>
          <a:prstGeom prst="rect">
            <a:avLst/>
          </a:prstGeom>
          <a:solidFill>
            <a:srgbClr val="1F4E78"/>
          </a:solidFill>
          <a:ln w="12700">
            <a:solidFill>
              <a:srgbClr val="E7E6E6"/>
            </a:solidFill>
            <a:prstDash val="solid"/>
          </a:ln>
        </p:spPr>
        <p:txBody>
          <a:bodyPr/>
          <a:lstStyle/>
          <a:p>
            <a:endParaRPr lang="fr-FR"/>
          </a:p>
        </p:txBody>
      </p:sp>
      <p:sp>
        <p:nvSpPr>
          <p:cNvPr id="20" name="Text 18"/>
          <p:cNvSpPr/>
          <p:nvPr/>
        </p:nvSpPr>
        <p:spPr>
          <a:xfrm>
            <a:off x="640080" y="3291840"/>
            <a:ext cx="914400" cy="411480"/>
          </a:xfrm>
          <a:prstGeom prst="rect">
            <a:avLst/>
          </a:prstGeom>
          <a:noFill/>
          <a:ln/>
        </p:spPr>
        <p:txBody>
          <a:bodyPr wrap="square" rtlCol="0" anchor="ctr"/>
          <a:lstStyle/>
          <a:p>
            <a:pPr marL="0" indent="0" algn="l">
              <a:buNone/>
            </a:pPr>
            <a:r>
              <a:rPr lang="en-US" sz="1100" b="1" dirty="0">
                <a:solidFill>
                  <a:srgbClr val="FFFFFF"/>
                </a:solidFill>
              </a:rPr>
              <a:t>DCL</a:t>
            </a:r>
            <a:endParaRPr lang="en-US" sz="1100" dirty="0"/>
          </a:p>
        </p:txBody>
      </p:sp>
      <p:sp>
        <p:nvSpPr>
          <p:cNvPr id="21" name="Text 19"/>
          <p:cNvSpPr/>
          <p:nvPr/>
        </p:nvSpPr>
        <p:spPr>
          <a:xfrm>
            <a:off x="1645920" y="3291840"/>
            <a:ext cx="3200400" cy="411480"/>
          </a:xfrm>
          <a:prstGeom prst="rect">
            <a:avLst/>
          </a:prstGeom>
          <a:noFill/>
          <a:ln/>
        </p:spPr>
        <p:txBody>
          <a:bodyPr wrap="square" rtlCol="0" anchor="ctr"/>
          <a:lstStyle/>
          <a:p>
            <a:pPr marL="0" indent="0" algn="l">
              <a:buNone/>
            </a:pPr>
            <a:r>
              <a:rPr lang="en-US" sz="1000" dirty="0">
                <a:solidFill>
                  <a:srgbClr val="FFFFFF"/>
                </a:solidFill>
              </a:rPr>
              <a:t>Data Control Language</a:t>
            </a:r>
            <a:endParaRPr lang="en-US" sz="1000" dirty="0"/>
          </a:p>
        </p:txBody>
      </p:sp>
      <p:sp>
        <p:nvSpPr>
          <p:cNvPr id="22" name="Text 20"/>
          <p:cNvSpPr/>
          <p:nvPr/>
        </p:nvSpPr>
        <p:spPr>
          <a:xfrm>
            <a:off x="4937760" y="3291840"/>
            <a:ext cx="3749040" cy="411480"/>
          </a:xfrm>
          <a:prstGeom prst="rect">
            <a:avLst/>
          </a:prstGeom>
          <a:noFill/>
          <a:ln/>
        </p:spPr>
        <p:txBody>
          <a:bodyPr wrap="square" rtlCol="0" anchor="ctr"/>
          <a:lstStyle/>
          <a:p>
            <a:pPr marL="0" indent="0" algn="l">
              <a:buNone/>
            </a:pPr>
            <a:r>
              <a:rPr lang="en-US" sz="1000" dirty="0">
                <a:solidFill>
                  <a:srgbClr val="FFFFFF"/>
                </a:solidFill>
              </a:rPr>
              <a:t>GRANT, REVOKE</a:t>
            </a:r>
            <a:endParaRPr lang="en-US" sz="1000" dirty="0"/>
          </a:p>
        </p:txBody>
      </p:sp>
      <p:sp>
        <p:nvSpPr>
          <p:cNvPr id="23" name="Shape 21"/>
          <p:cNvSpPr/>
          <p:nvPr/>
        </p:nvSpPr>
        <p:spPr>
          <a:xfrm>
            <a:off x="457200" y="3749040"/>
            <a:ext cx="8229600" cy="411480"/>
          </a:xfrm>
          <a:prstGeom prst="rect">
            <a:avLst/>
          </a:prstGeom>
          <a:solidFill>
            <a:srgbClr val="F79646"/>
          </a:solidFill>
          <a:ln w="12700">
            <a:solidFill>
              <a:srgbClr val="E7E6E6"/>
            </a:solidFill>
            <a:prstDash val="solid"/>
          </a:ln>
        </p:spPr>
        <p:txBody>
          <a:bodyPr/>
          <a:lstStyle/>
          <a:p>
            <a:endParaRPr lang="fr-FR"/>
          </a:p>
        </p:txBody>
      </p:sp>
      <p:sp>
        <p:nvSpPr>
          <p:cNvPr id="24" name="Text 22"/>
          <p:cNvSpPr/>
          <p:nvPr/>
        </p:nvSpPr>
        <p:spPr>
          <a:xfrm>
            <a:off x="640080" y="3749040"/>
            <a:ext cx="914400" cy="411480"/>
          </a:xfrm>
          <a:prstGeom prst="rect">
            <a:avLst/>
          </a:prstGeom>
          <a:noFill/>
          <a:ln/>
        </p:spPr>
        <p:txBody>
          <a:bodyPr wrap="square" rtlCol="0" anchor="ctr"/>
          <a:lstStyle/>
          <a:p>
            <a:pPr marL="0" indent="0" algn="l">
              <a:buNone/>
            </a:pPr>
            <a:r>
              <a:rPr lang="en-US" sz="1100" b="1" dirty="0">
                <a:solidFill>
                  <a:srgbClr val="FFFFFF"/>
                </a:solidFill>
              </a:rPr>
              <a:t>TCL</a:t>
            </a:r>
            <a:endParaRPr lang="en-US" sz="1100" dirty="0"/>
          </a:p>
        </p:txBody>
      </p:sp>
      <p:sp>
        <p:nvSpPr>
          <p:cNvPr id="25" name="Text 23"/>
          <p:cNvSpPr/>
          <p:nvPr/>
        </p:nvSpPr>
        <p:spPr>
          <a:xfrm>
            <a:off x="1645920" y="3749040"/>
            <a:ext cx="3200400" cy="411480"/>
          </a:xfrm>
          <a:prstGeom prst="rect">
            <a:avLst/>
          </a:prstGeom>
          <a:noFill/>
          <a:ln/>
        </p:spPr>
        <p:txBody>
          <a:bodyPr wrap="square" rtlCol="0" anchor="ctr"/>
          <a:lstStyle/>
          <a:p>
            <a:pPr marL="0" indent="0" algn="l">
              <a:buNone/>
            </a:pPr>
            <a:r>
              <a:rPr lang="en-US" sz="1000" dirty="0">
                <a:solidFill>
                  <a:srgbClr val="FFFFFF"/>
                </a:solidFill>
              </a:rPr>
              <a:t>Transaction Control Language</a:t>
            </a:r>
            <a:endParaRPr lang="en-US" sz="1000" dirty="0"/>
          </a:p>
        </p:txBody>
      </p:sp>
      <p:sp>
        <p:nvSpPr>
          <p:cNvPr id="26" name="Text 24"/>
          <p:cNvSpPr/>
          <p:nvPr/>
        </p:nvSpPr>
        <p:spPr>
          <a:xfrm>
            <a:off x="4937760" y="3749040"/>
            <a:ext cx="3749040" cy="411480"/>
          </a:xfrm>
          <a:prstGeom prst="rect">
            <a:avLst/>
          </a:prstGeom>
          <a:noFill/>
          <a:ln/>
        </p:spPr>
        <p:txBody>
          <a:bodyPr wrap="square" rtlCol="0" anchor="ctr"/>
          <a:lstStyle/>
          <a:p>
            <a:pPr marL="0" indent="0" algn="l">
              <a:buNone/>
            </a:pPr>
            <a:r>
              <a:rPr lang="en-US" sz="1000" dirty="0">
                <a:solidFill>
                  <a:srgbClr val="FFFFFF"/>
                </a:solidFill>
              </a:rPr>
              <a:t>COMMIT, ROLLBACK</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CREATE TABLE : créer une table</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27/40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Syntaxe</a:t>
            </a:r>
            <a:endParaRPr lang="en-US" sz="1200" dirty="0"/>
          </a:p>
        </p:txBody>
      </p:sp>
      <p:sp>
        <p:nvSpPr>
          <p:cNvPr id="6" name="Shape 4"/>
          <p:cNvSpPr/>
          <p:nvPr/>
        </p:nvSpPr>
        <p:spPr>
          <a:xfrm>
            <a:off x="457200" y="1097280"/>
            <a:ext cx="8229600" cy="1828800"/>
          </a:xfrm>
          <a:prstGeom prst="rect">
            <a:avLst/>
          </a:prstGeom>
          <a:solidFill>
            <a:srgbClr val="F5F5F5"/>
          </a:solidFill>
          <a:ln w="12700">
            <a:solidFill>
              <a:srgbClr val="E7E6E6"/>
            </a:solidFill>
            <a:prstDash val="solid"/>
          </a:ln>
        </p:spPr>
        <p:txBody>
          <a:bodyPr/>
          <a:lstStyle/>
          <a:p>
            <a:endParaRPr lang="fr-FR"/>
          </a:p>
        </p:txBody>
      </p:sp>
      <p:sp>
        <p:nvSpPr>
          <p:cNvPr id="7" name="Text 5"/>
          <p:cNvSpPr/>
          <p:nvPr/>
        </p:nvSpPr>
        <p:spPr>
          <a:xfrm>
            <a:off x="640080" y="1188720"/>
            <a:ext cx="7863840" cy="1645920"/>
          </a:xfrm>
          <a:prstGeom prst="rect">
            <a:avLst/>
          </a:prstGeom>
          <a:noFill/>
          <a:ln/>
        </p:spPr>
        <p:txBody>
          <a:bodyPr wrap="square" rtlCol="0" anchor="t"/>
          <a:lstStyle/>
          <a:p>
            <a:pPr marL="0" indent="0" algn="l">
              <a:buNone/>
            </a:pPr>
            <a:r>
              <a:rPr lang="en-US" sz="1000" dirty="0">
                <a:solidFill>
                  <a:srgbClr val="1F1F1F"/>
                </a:solidFill>
                <a:latin typeface="Courier New" pitchFamily="34" charset="0"/>
                <a:ea typeface="Courier New" pitchFamily="34" charset="-122"/>
                <a:cs typeface="Courier New" pitchFamily="34" charset="-120"/>
              </a:rPr>
              <a:t>CREATE TABLE Etudiant (</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    id_etudiant INT PRIMARY KEY,</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    nom VARCHAR(100) NOT NULL,</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    prenom VARCHAR(100),</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    email VARCHAR(150) UNIQUE,</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    date_naissance DATE</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a:t>
            </a:r>
            <a:endParaRPr lang="en-US" sz="1000" dirty="0"/>
          </a:p>
        </p:txBody>
      </p:sp>
      <p:sp>
        <p:nvSpPr>
          <p:cNvPr id="8" name="Text 6"/>
          <p:cNvSpPr/>
          <p:nvPr/>
        </p:nvSpPr>
        <p:spPr>
          <a:xfrm>
            <a:off x="457200" y="3017520"/>
            <a:ext cx="8229600" cy="182880"/>
          </a:xfrm>
          <a:prstGeom prst="rect">
            <a:avLst/>
          </a:prstGeom>
          <a:noFill/>
          <a:ln/>
        </p:spPr>
        <p:txBody>
          <a:bodyPr wrap="square" rtlCol="0" anchor="ctr"/>
          <a:lstStyle/>
          <a:p>
            <a:pPr marL="0" indent="0">
              <a:buNone/>
            </a:pPr>
            <a:r>
              <a:rPr lang="en-US" sz="1200" b="1" dirty="0">
                <a:solidFill>
                  <a:srgbClr val="1F4E78"/>
                </a:solidFill>
              </a:rPr>
              <a:t>Explication</a:t>
            </a:r>
            <a:endParaRPr lang="en-US" sz="1200" dirty="0"/>
          </a:p>
        </p:txBody>
      </p:sp>
      <p:sp>
        <p:nvSpPr>
          <p:cNvPr id="9" name="Text 7"/>
          <p:cNvSpPr/>
          <p:nvPr/>
        </p:nvSpPr>
        <p:spPr>
          <a:xfrm>
            <a:off x="640080" y="3291840"/>
            <a:ext cx="7863840" cy="182880"/>
          </a:xfrm>
          <a:prstGeom prst="rect">
            <a:avLst/>
          </a:prstGeom>
          <a:noFill/>
          <a:ln/>
        </p:spPr>
        <p:txBody>
          <a:bodyPr wrap="square" rtlCol="0" anchor="ctr"/>
          <a:lstStyle/>
          <a:p>
            <a:pPr marL="0" indent="0">
              <a:buNone/>
            </a:pPr>
            <a:r>
              <a:rPr lang="en-US" sz="1000" dirty="0">
                <a:solidFill>
                  <a:srgbClr val="1F1F1F"/>
                </a:solidFill>
              </a:rPr>
              <a:t>• INT : type entier</a:t>
            </a:r>
            <a:endParaRPr lang="en-US" sz="1000" dirty="0"/>
          </a:p>
        </p:txBody>
      </p:sp>
      <p:sp>
        <p:nvSpPr>
          <p:cNvPr id="10" name="Text 8"/>
          <p:cNvSpPr/>
          <p:nvPr/>
        </p:nvSpPr>
        <p:spPr>
          <a:xfrm>
            <a:off x="640080" y="3493008"/>
            <a:ext cx="7863840" cy="182880"/>
          </a:xfrm>
          <a:prstGeom prst="rect">
            <a:avLst/>
          </a:prstGeom>
          <a:noFill/>
          <a:ln/>
        </p:spPr>
        <p:txBody>
          <a:bodyPr wrap="square" rtlCol="0" anchor="ctr"/>
          <a:lstStyle/>
          <a:p>
            <a:pPr marL="0" indent="0">
              <a:buNone/>
            </a:pPr>
            <a:r>
              <a:rPr lang="en-US" sz="1000" dirty="0">
                <a:solidFill>
                  <a:srgbClr val="1F1F1F"/>
                </a:solidFill>
              </a:rPr>
              <a:t>• VARCHAR(100) : texte jusqu'à 100 caractères</a:t>
            </a:r>
            <a:endParaRPr lang="en-US" sz="1000" dirty="0"/>
          </a:p>
        </p:txBody>
      </p:sp>
      <p:sp>
        <p:nvSpPr>
          <p:cNvPr id="11" name="Text 9"/>
          <p:cNvSpPr/>
          <p:nvPr/>
        </p:nvSpPr>
        <p:spPr>
          <a:xfrm>
            <a:off x="640080" y="3694176"/>
            <a:ext cx="7863840" cy="182880"/>
          </a:xfrm>
          <a:prstGeom prst="rect">
            <a:avLst/>
          </a:prstGeom>
          <a:noFill/>
          <a:ln/>
        </p:spPr>
        <p:txBody>
          <a:bodyPr wrap="square" rtlCol="0" anchor="ctr"/>
          <a:lstStyle/>
          <a:p>
            <a:pPr marL="0" indent="0">
              <a:buNone/>
            </a:pPr>
            <a:r>
              <a:rPr lang="en-US" sz="1000" dirty="0">
                <a:solidFill>
                  <a:srgbClr val="1F1F1F"/>
                </a:solidFill>
              </a:rPr>
              <a:t>• PRIMARY KEY : clé primaire, unique et non-null</a:t>
            </a:r>
            <a:endParaRPr lang="en-US" sz="1000" dirty="0"/>
          </a:p>
        </p:txBody>
      </p:sp>
      <p:sp>
        <p:nvSpPr>
          <p:cNvPr id="12" name="Text 10"/>
          <p:cNvSpPr/>
          <p:nvPr/>
        </p:nvSpPr>
        <p:spPr>
          <a:xfrm>
            <a:off x="640080" y="3895344"/>
            <a:ext cx="7863840" cy="182880"/>
          </a:xfrm>
          <a:prstGeom prst="rect">
            <a:avLst/>
          </a:prstGeom>
          <a:noFill/>
          <a:ln/>
        </p:spPr>
        <p:txBody>
          <a:bodyPr wrap="square" rtlCol="0" anchor="ctr"/>
          <a:lstStyle/>
          <a:p>
            <a:pPr marL="0" indent="0">
              <a:buNone/>
            </a:pPr>
            <a:r>
              <a:rPr lang="en-US" sz="1000" dirty="0">
                <a:solidFill>
                  <a:srgbClr val="1F1F1F"/>
                </a:solidFill>
              </a:rPr>
              <a:t>• NOT NULL : la valeur est obligatoire</a:t>
            </a:r>
            <a:endParaRPr lang="en-US" sz="1000" dirty="0"/>
          </a:p>
        </p:txBody>
      </p:sp>
      <p:sp>
        <p:nvSpPr>
          <p:cNvPr id="13" name="Text 11"/>
          <p:cNvSpPr/>
          <p:nvPr/>
        </p:nvSpPr>
        <p:spPr>
          <a:xfrm>
            <a:off x="640080" y="4096512"/>
            <a:ext cx="7863840" cy="182880"/>
          </a:xfrm>
          <a:prstGeom prst="rect">
            <a:avLst/>
          </a:prstGeom>
          <a:noFill/>
          <a:ln/>
        </p:spPr>
        <p:txBody>
          <a:bodyPr wrap="square" rtlCol="0" anchor="ctr"/>
          <a:lstStyle/>
          <a:p>
            <a:pPr marL="0" indent="0">
              <a:buNone/>
            </a:pPr>
            <a:r>
              <a:rPr lang="en-US" sz="1000" dirty="0">
                <a:solidFill>
                  <a:srgbClr val="1F1F1F"/>
                </a:solidFill>
              </a:rPr>
              <a:t>• UNIQUE : chaque valeur doit être différente</a:t>
            </a:r>
            <a:endParaRPr lang="en-US" sz="1000" dirty="0"/>
          </a:p>
        </p:txBody>
      </p:sp>
      <p:sp>
        <p:nvSpPr>
          <p:cNvPr id="14" name="Text 12"/>
          <p:cNvSpPr/>
          <p:nvPr/>
        </p:nvSpPr>
        <p:spPr>
          <a:xfrm>
            <a:off x="640080" y="4297680"/>
            <a:ext cx="7863840" cy="182880"/>
          </a:xfrm>
          <a:prstGeom prst="rect">
            <a:avLst/>
          </a:prstGeom>
          <a:noFill/>
          <a:ln/>
        </p:spPr>
        <p:txBody>
          <a:bodyPr wrap="square" rtlCol="0" anchor="ctr"/>
          <a:lstStyle/>
          <a:p>
            <a:pPr marL="0" indent="0">
              <a:buNone/>
            </a:pPr>
            <a:r>
              <a:rPr lang="en-US" sz="1000" dirty="0">
                <a:solidFill>
                  <a:srgbClr val="1F1F1F"/>
                </a:solidFill>
              </a:rPr>
              <a:t>• DATE : type date</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INSERT : insérer des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28/40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Syntaxe</a:t>
            </a:r>
            <a:endParaRPr lang="en-US" sz="1200" dirty="0"/>
          </a:p>
        </p:txBody>
      </p:sp>
      <p:sp>
        <p:nvSpPr>
          <p:cNvPr id="6" name="Shape 4"/>
          <p:cNvSpPr/>
          <p:nvPr/>
        </p:nvSpPr>
        <p:spPr>
          <a:xfrm>
            <a:off x="457200" y="1097280"/>
            <a:ext cx="8229600" cy="1371600"/>
          </a:xfrm>
          <a:prstGeom prst="rect">
            <a:avLst/>
          </a:prstGeom>
          <a:solidFill>
            <a:srgbClr val="F5F5F5"/>
          </a:solidFill>
          <a:ln w="12700">
            <a:solidFill>
              <a:srgbClr val="E7E6E6"/>
            </a:solidFill>
            <a:prstDash val="solid"/>
          </a:ln>
        </p:spPr>
        <p:txBody>
          <a:bodyPr/>
          <a:lstStyle/>
          <a:p>
            <a:endParaRPr lang="fr-FR"/>
          </a:p>
        </p:txBody>
      </p:sp>
      <p:sp>
        <p:nvSpPr>
          <p:cNvPr id="7" name="Text 5"/>
          <p:cNvSpPr/>
          <p:nvPr/>
        </p:nvSpPr>
        <p:spPr>
          <a:xfrm>
            <a:off x="640080" y="1188720"/>
            <a:ext cx="7863840" cy="1188720"/>
          </a:xfrm>
          <a:prstGeom prst="rect">
            <a:avLst/>
          </a:prstGeom>
          <a:noFill/>
          <a:ln/>
        </p:spPr>
        <p:txBody>
          <a:bodyPr wrap="square" rtlCol="0" anchor="t"/>
          <a:lstStyle/>
          <a:p>
            <a:pPr marL="0" indent="0" algn="l">
              <a:buNone/>
            </a:pPr>
            <a:r>
              <a:rPr lang="en-US" sz="900" dirty="0">
                <a:solidFill>
                  <a:srgbClr val="1F1F1F"/>
                </a:solidFill>
                <a:latin typeface="Courier New" pitchFamily="34" charset="0"/>
                <a:ea typeface="Courier New" pitchFamily="34" charset="-122"/>
                <a:cs typeface="Courier New" pitchFamily="34" charset="-120"/>
              </a:rPr>
              <a:t>INSERT INTO Etudiant (id_etudiant, nom, prenom, email)</a:t>
            </a:r>
            <a:endParaRPr lang="en-US" sz="900" dirty="0"/>
          </a:p>
          <a:p>
            <a:pPr marL="0" indent="0" algn="l">
              <a:buNone/>
            </a:pPr>
            <a:r>
              <a:rPr lang="en-US" sz="900" dirty="0">
                <a:solidFill>
                  <a:srgbClr val="1F1F1F"/>
                </a:solidFill>
                <a:latin typeface="Courier New" pitchFamily="34" charset="0"/>
                <a:ea typeface="Courier New" pitchFamily="34" charset="-122"/>
                <a:cs typeface="Courier New" pitchFamily="34" charset="-120"/>
              </a:rPr>
              <a:t>VALUES (1, 'Dupont', 'Jean', 'jean@univ.ca');</a:t>
            </a:r>
            <a:endParaRPr lang="en-US" sz="900" dirty="0"/>
          </a:p>
          <a:p>
            <a:pPr marL="0" indent="0" algn="l">
              <a:buNone/>
            </a:pPr>
            <a:endParaRPr lang="en-US" sz="900" dirty="0"/>
          </a:p>
          <a:p>
            <a:pPr marL="0" indent="0" algn="l">
              <a:buNone/>
            </a:pPr>
            <a:r>
              <a:rPr lang="en-US" sz="900" dirty="0">
                <a:solidFill>
                  <a:srgbClr val="1F1F1F"/>
                </a:solidFill>
                <a:latin typeface="Courier New" pitchFamily="34" charset="0"/>
                <a:ea typeface="Courier New" pitchFamily="34" charset="-122"/>
                <a:cs typeface="Courier New" pitchFamily="34" charset="-120"/>
              </a:rPr>
              <a:t>INSERT INTO Etudiant VALUES (2, 'Martin', 'Marie', 'marie@univ.ca', '2000-05-15');</a:t>
            </a:r>
            <a:endParaRPr lang="en-US" sz="900" dirty="0"/>
          </a:p>
          <a:p>
            <a:pPr marL="0" indent="0" algn="l">
              <a:buNone/>
            </a:pPr>
            <a:endParaRPr lang="en-US" sz="900" dirty="0"/>
          </a:p>
          <a:p>
            <a:pPr marL="0" indent="0" algn="l">
              <a:buNone/>
            </a:pPr>
            <a:r>
              <a:rPr lang="en-US" sz="900" dirty="0">
                <a:solidFill>
                  <a:srgbClr val="1F1F1F"/>
                </a:solidFill>
                <a:latin typeface="Courier New" pitchFamily="34" charset="0"/>
                <a:ea typeface="Courier New" pitchFamily="34" charset="-122"/>
                <a:cs typeface="Courier New" pitchFamily="34" charset="-120"/>
              </a:rPr>
              <a:t>INSERT INTO Etudiant (id_etudiant, nom, prenom)</a:t>
            </a:r>
            <a:endParaRPr lang="en-US" sz="900" dirty="0"/>
          </a:p>
          <a:p>
            <a:pPr marL="0" indent="0" algn="l">
              <a:buNone/>
            </a:pPr>
            <a:r>
              <a:rPr lang="en-US" sz="900" dirty="0">
                <a:solidFill>
                  <a:srgbClr val="1F1F1F"/>
                </a:solidFill>
                <a:latin typeface="Courier New" pitchFamily="34" charset="0"/>
                <a:ea typeface="Courier New" pitchFamily="34" charset="-122"/>
                <a:cs typeface="Courier New" pitchFamily="34" charset="-120"/>
              </a:rPr>
              <a:t>VALUES (3, 'Bernard', 'Pierre');</a:t>
            </a:r>
            <a:endParaRPr lang="en-US" sz="900" dirty="0"/>
          </a:p>
        </p:txBody>
      </p:sp>
      <p:sp>
        <p:nvSpPr>
          <p:cNvPr id="8" name="Text 6"/>
          <p:cNvSpPr/>
          <p:nvPr/>
        </p:nvSpPr>
        <p:spPr>
          <a:xfrm>
            <a:off x="457200" y="2606040"/>
            <a:ext cx="8229600" cy="182880"/>
          </a:xfrm>
          <a:prstGeom prst="rect">
            <a:avLst/>
          </a:prstGeom>
          <a:noFill/>
          <a:ln/>
        </p:spPr>
        <p:txBody>
          <a:bodyPr wrap="square" rtlCol="0" anchor="ctr"/>
          <a:lstStyle/>
          <a:p>
            <a:pPr marL="0" indent="0">
              <a:buNone/>
            </a:pPr>
            <a:r>
              <a:rPr lang="en-US" sz="1200" b="1" dirty="0">
                <a:solidFill>
                  <a:srgbClr val="1F4E78"/>
                </a:solidFill>
              </a:rPr>
              <a:t>Remarques</a:t>
            </a:r>
            <a:endParaRPr lang="en-US" sz="1200" dirty="0"/>
          </a:p>
        </p:txBody>
      </p:sp>
      <p:sp>
        <p:nvSpPr>
          <p:cNvPr id="9" name="Text 7"/>
          <p:cNvSpPr/>
          <p:nvPr/>
        </p:nvSpPr>
        <p:spPr>
          <a:xfrm>
            <a:off x="640080" y="2880360"/>
            <a:ext cx="7863840" cy="182880"/>
          </a:xfrm>
          <a:prstGeom prst="rect">
            <a:avLst/>
          </a:prstGeom>
          <a:noFill/>
          <a:ln/>
        </p:spPr>
        <p:txBody>
          <a:bodyPr wrap="square" rtlCol="0" anchor="ctr"/>
          <a:lstStyle/>
          <a:p>
            <a:pPr marL="0" indent="0">
              <a:buNone/>
            </a:pPr>
            <a:r>
              <a:rPr lang="en-US" sz="1000" dirty="0">
                <a:solidFill>
                  <a:srgbClr val="1F1F1F"/>
                </a:solidFill>
              </a:rPr>
              <a:t>• Première syntaxe : indiquer les colonnes</a:t>
            </a:r>
            <a:endParaRPr lang="en-US" sz="1000" dirty="0"/>
          </a:p>
        </p:txBody>
      </p:sp>
      <p:sp>
        <p:nvSpPr>
          <p:cNvPr id="10" name="Text 8"/>
          <p:cNvSpPr/>
          <p:nvPr/>
        </p:nvSpPr>
        <p:spPr>
          <a:xfrm>
            <a:off x="640080" y="3081528"/>
            <a:ext cx="7863840" cy="182880"/>
          </a:xfrm>
          <a:prstGeom prst="rect">
            <a:avLst/>
          </a:prstGeom>
          <a:noFill/>
          <a:ln/>
        </p:spPr>
        <p:txBody>
          <a:bodyPr wrap="square" rtlCol="0" anchor="ctr"/>
          <a:lstStyle/>
          <a:p>
            <a:pPr marL="0" indent="0">
              <a:buNone/>
            </a:pPr>
            <a:r>
              <a:rPr lang="en-US" sz="1000" dirty="0">
                <a:solidFill>
                  <a:srgbClr val="1F1F1F"/>
                </a:solidFill>
              </a:rPr>
              <a:t>• Deuxième syntaxe : toutes les colonnes dans l'ordre</a:t>
            </a:r>
            <a:endParaRPr lang="en-US" sz="1000" dirty="0"/>
          </a:p>
        </p:txBody>
      </p:sp>
      <p:sp>
        <p:nvSpPr>
          <p:cNvPr id="11" name="Text 9"/>
          <p:cNvSpPr/>
          <p:nvPr/>
        </p:nvSpPr>
        <p:spPr>
          <a:xfrm>
            <a:off x="640080" y="3282696"/>
            <a:ext cx="7863840" cy="182880"/>
          </a:xfrm>
          <a:prstGeom prst="rect">
            <a:avLst/>
          </a:prstGeom>
          <a:noFill/>
          <a:ln/>
        </p:spPr>
        <p:txBody>
          <a:bodyPr wrap="square" rtlCol="0" anchor="ctr"/>
          <a:lstStyle/>
          <a:p>
            <a:pPr marL="0" indent="0">
              <a:buNone/>
            </a:pPr>
            <a:r>
              <a:rPr lang="en-US" sz="1000" dirty="0">
                <a:solidFill>
                  <a:srgbClr val="1F1F1F"/>
                </a:solidFill>
              </a:rPr>
              <a:t>• Troisième syntaxe : certaines colonnes seulement (email nullable)</a:t>
            </a:r>
            <a:endParaRPr lang="en-US" sz="1000" dirty="0"/>
          </a:p>
        </p:txBody>
      </p:sp>
      <p:sp>
        <p:nvSpPr>
          <p:cNvPr id="12" name="Text 10"/>
          <p:cNvSpPr/>
          <p:nvPr/>
        </p:nvSpPr>
        <p:spPr>
          <a:xfrm>
            <a:off x="640080" y="3483864"/>
            <a:ext cx="7863840" cy="182880"/>
          </a:xfrm>
          <a:prstGeom prst="rect">
            <a:avLst/>
          </a:prstGeom>
          <a:noFill/>
          <a:ln/>
        </p:spPr>
        <p:txBody>
          <a:bodyPr wrap="square" rtlCol="0" anchor="ctr"/>
          <a:lstStyle/>
          <a:p>
            <a:pPr marL="0" indent="0">
              <a:buNone/>
            </a:pPr>
            <a:r>
              <a:rPr lang="en-US" sz="1000" dirty="0">
                <a:solidFill>
                  <a:srgbClr val="1F1F1F"/>
                </a:solidFill>
              </a:rPr>
              <a:t>• Les chaînes de caractères sont entre guillemets simples (')</a:t>
            </a:r>
            <a:endParaRPr lang="en-US" sz="1000" dirty="0"/>
          </a:p>
        </p:txBody>
      </p:sp>
      <p:sp>
        <p:nvSpPr>
          <p:cNvPr id="13" name="Text 11"/>
          <p:cNvSpPr/>
          <p:nvPr/>
        </p:nvSpPr>
        <p:spPr>
          <a:xfrm>
            <a:off x="640080" y="3685032"/>
            <a:ext cx="7863840" cy="182880"/>
          </a:xfrm>
          <a:prstGeom prst="rect">
            <a:avLst/>
          </a:prstGeom>
          <a:noFill/>
          <a:ln/>
        </p:spPr>
        <p:txBody>
          <a:bodyPr wrap="square" rtlCol="0" anchor="ctr"/>
          <a:lstStyle/>
          <a:p>
            <a:pPr marL="0" indent="0">
              <a:buNone/>
            </a:pPr>
            <a:r>
              <a:rPr lang="en-US" sz="1000" dirty="0">
                <a:solidFill>
                  <a:srgbClr val="1F1F1F"/>
                </a:solidFill>
              </a:rPr>
              <a:t>• Chaque INSERT crée une nouvelle ligne</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SELECT : interroger les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29/40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Syntaxe basique</a:t>
            </a:r>
            <a:endParaRPr lang="en-US" sz="1200" dirty="0"/>
          </a:p>
        </p:txBody>
      </p:sp>
      <p:sp>
        <p:nvSpPr>
          <p:cNvPr id="6" name="Shape 4"/>
          <p:cNvSpPr/>
          <p:nvPr/>
        </p:nvSpPr>
        <p:spPr>
          <a:xfrm>
            <a:off x="457200" y="1097280"/>
            <a:ext cx="8229600" cy="1097280"/>
          </a:xfrm>
          <a:prstGeom prst="rect">
            <a:avLst/>
          </a:prstGeom>
          <a:solidFill>
            <a:srgbClr val="F5F5F5"/>
          </a:solidFill>
          <a:ln w="12700">
            <a:solidFill>
              <a:srgbClr val="E7E6E6"/>
            </a:solidFill>
            <a:prstDash val="solid"/>
          </a:ln>
        </p:spPr>
        <p:txBody>
          <a:bodyPr/>
          <a:lstStyle/>
          <a:p>
            <a:endParaRPr lang="fr-FR"/>
          </a:p>
        </p:txBody>
      </p:sp>
      <p:sp>
        <p:nvSpPr>
          <p:cNvPr id="7" name="Text 5"/>
          <p:cNvSpPr/>
          <p:nvPr/>
        </p:nvSpPr>
        <p:spPr>
          <a:xfrm>
            <a:off x="640080" y="1188720"/>
            <a:ext cx="7863840" cy="914400"/>
          </a:xfrm>
          <a:prstGeom prst="rect">
            <a:avLst/>
          </a:prstGeom>
          <a:noFill/>
          <a:ln/>
        </p:spPr>
        <p:txBody>
          <a:bodyPr wrap="square" rtlCol="0" anchor="t"/>
          <a:lstStyle/>
          <a:p>
            <a:pPr marL="0" indent="0" algn="l">
              <a:buNone/>
            </a:pPr>
            <a:r>
              <a:rPr lang="en-US" sz="1000" dirty="0">
                <a:solidFill>
                  <a:srgbClr val="1F1F1F"/>
                </a:solidFill>
                <a:latin typeface="Courier New" pitchFamily="34" charset="0"/>
                <a:ea typeface="Courier New" pitchFamily="34" charset="-122"/>
                <a:cs typeface="Courier New" pitchFamily="34" charset="-120"/>
              </a:rPr>
              <a:t>SELECT * FROM Etudiant;</a:t>
            </a:r>
            <a:endParaRPr lang="en-US" sz="1000" dirty="0"/>
          </a:p>
          <a:p>
            <a:pPr marL="0" indent="0" algn="l">
              <a:buNone/>
            </a:pP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SELECT nom, prenom FROM Etudiant;</a:t>
            </a:r>
            <a:endParaRPr lang="en-US" sz="1000" dirty="0"/>
          </a:p>
          <a:p>
            <a:pPr marL="0" indent="0" algn="l">
              <a:buNone/>
            </a:pP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SELECT DISTINCT prenom FROM Etudiant;</a:t>
            </a:r>
            <a:endParaRPr lang="en-US" sz="1000" dirty="0"/>
          </a:p>
        </p:txBody>
      </p:sp>
      <p:sp>
        <p:nvSpPr>
          <p:cNvPr id="8" name="Text 6"/>
          <p:cNvSpPr/>
          <p:nvPr/>
        </p:nvSpPr>
        <p:spPr>
          <a:xfrm>
            <a:off x="457200" y="2331720"/>
            <a:ext cx="8229600" cy="182880"/>
          </a:xfrm>
          <a:prstGeom prst="rect">
            <a:avLst/>
          </a:prstGeom>
          <a:noFill/>
          <a:ln/>
        </p:spPr>
        <p:txBody>
          <a:bodyPr wrap="square" rtlCol="0" anchor="ctr"/>
          <a:lstStyle/>
          <a:p>
            <a:pPr marL="0" indent="0">
              <a:buNone/>
            </a:pPr>
            <a:r>
              <a:rPr lang="en-US" sz="1200" b="1" dirty="0">
                <a:solidFill>
                  <a:srgbClr val="1F4E78"/>
                </a:solidFill>
              </a:rPr>
              <a:t>Résultats</a:t>
            </a:r>
            <a:endParaRPr lang="en-US" sz="1200" dirty="0"/>
          </a:p>
        </p:txBody>
      </p:sp>
      <p:sp>
        <p:nvSpPr>
          <p:cNvPr id="9" name="Shape 7"/>
          <p:cNvSpPr/>
          <p:nvPr/>
        </p:nvSpPr>
        <p:spPr>
          <a:xfrm>
            <a:off x="457200" y="2606040"/>
            <a:ext cx="4114800" cy="274320"/>
          </a:xfrm>
          <a:prstGeom prst="rect">
            <a:avLst/>
          </a:prstGeom>
          <a:solidFill>
            <a:srgbClr val="2E75B6"/>
          </a:solidFill>
          <a:ln w="12700">
            <a:solidFill>
              <a:srgbClr val="E7E6E6"/>
            </a:solidFill>
            <a:prstDash val="solid"/>
          </a:ln>
        </p:spPr>
        <p:txBody>
          <a:bodyPr/>
          <a:lstStyle/>
          <a:p>
            <a:endParaRPr lang="fr-FR"/>
          </a:p>
        </p:txBody>
      </p:sp>
      <p:sp>
        <p:nvSpPr>
          <p:cNvPr id="10" name="Text 8"/>
          <p:cNvSpPr/>
          <p:nvPr/>
        </p:nvSpPr>
        <p:spPr>
          <a:xfrm>
            <a:off x="548640" y="2606040"/>
            <a:ext cx="3931920" cy="274320"/>
          </a:xfrm>
          <a:prstGeom prst="rect">
            <a:avLst/>
          </a:prstGeom>
          <a:noFill/>
          <a:ln/>
        </p:spPr>
        <p:txBody>
          <a:bodyPr wrap="square" rtlCol="0" anchor="ctr"/>
          <a:lstStyle/>
          <a:p>
            <a:pPr marL="0" indent="0" algn="l">
              <a:buNone/>
            </a:pPr>
            <a:r>
              <a:rPr lang="en-US" sz="1000" b="1" dirty="0">
                <a:solidFill>
                  <a:srgbClr val="FFFFFF"/>
                </a:solidFill>
              </a:rPr>
              <a:t>Requête</a:t>
            </a:r>
            <a:endParaRPr lang="en-US" sz="1000" dirty="0"/>
          </a:p>
        </p:txBody>
      </p:sp>
      <p:sp>
        <p:nvSpPr>
          <p:cNvPr id="11" name="Shape 9"/>
          <p:cNvSpPr/>
          <p:nvPr/>
        </p:nvSpPr>
        <p:spPr>
          <a:xfrm>
            <a:off x="4663440" y="2606040"/>
            <a:ext cx="4023360" cy="274320"/>
          </a:xfrm>
          <a:prstGeom prst="rect">
            <a:avLst/>
          </a:prstGeom>
          <a:solidFill>
            <a:srgbClr val="2E75B6"/>
          </a:solidFill>
          <a:ln w="12700">
            <a:solidFill>
              <a:srgbClr val="E7E6E6"/>
            </a:solidFill>
            <a:prstDash val="solid"/>
          </a:ln>
        </p:spPr>
        <p:txBody>
          <a:bodyPr/>
          <a:lstStyle/>
          <a:p>
            <a:endParaRPr lang="fr-FR"/>
          </a:p>
        </p:txBody>
      </p:sp>
      <p:sp>
        <p:nvSpPr>
          <p:cNvPr id="12" name="Text 10"/>
          <p:cNvSpPr/>
          <p:nvPr/>
        </p:nvSpPr>
        <p:spPr>
          <a:xfrm>
            <a:off x="4754880" y="2606040"/>
            <a:ext cx="3840480" cy="274320"/>
          </a:xfrm>
          <a:prstGeom prst="rect">
            <a:avLst/>
          </a:prstGeom>
          <a:noFill/>
          <a:ln/>
        </p:spPr>
        <p:txBody>
          <a:bodyPr wrap="square" rtlCol="0" anchor="ctr"/>
          <a:lstStyle/>
          <a:p>
            <a:pPr marL="0" indent="0" algn="l">
              <a:buNone/>
            </a:pPr>
            <a:r>
              <a:rPr lang="en-US" sz="1000" b="1" dirty="0">
                <a:solidFill>
                  <a:srgbClr val="FFFFFF"/>
                </a:solidFill>
              </a:rPr>
              <a:t>Résultat</a:t>
            </a:r>
            <a:endParaRPr lang="en-US" sz="1000" dirty="0"/>
          </a:p>
        </p:txBody>
      </p:sp>
      <p:sp>
        <p:nvSpPr>
          <p:cNvPr id="13" name="Shape 11"/>
          <p:cNvSpPr/>
          <p:nvPr/>
        </p:nvSpPr>
        <p:spPr>
          <a:xfrm>
            <a:off x="457200" y="2907792"/>
            <a:ext cx="4114800" cy="274320"/>
          </a:xfrm>
          <a:prstGeom prst="rect">
            <a:avLst/>
          </a:prstGeom>
          <a:solidFill>
            <a:srgbClr val="FFFFFF"/>
          </a:solidFill>
          <a:ln w="12700">
            <a:solidFill>
              <a:srgbClr val="E7E6E6"/>
            </a:solidFill>
            <a:prstDash val="solid"/>
          </a:ln>
        </p:spPr>
        <p:txBody>
          <a:bodyPr/>
          <a:lstStyle/>
          <a:p>
            <a:endParaRPr lang="fr-FR"/>
          </a:p>
        </p:txBody>
      </p:sp>
      <p:sp>
        <p:nvSpPr>
          <p:cNvPr id="14" name="Text 12"/>
          <p:cNvSpPr/>
          <p:nvPr/>
        </p:nvSpPr>
        <p:spPr>
          <a:xfrm>
            <a:off x="548640" y="2907792"/>
            <a:ext cx="3931920" cy="274320"/>
          </a:xfrm>
          <a:prstGeom prst="rect">
            <a:avLst/>
          </a:prstGeom>
          <a:noFill/>
          <a:ln/>
        </p:spPr>
        <p:txBody>
          <a:bodyPr wrap="square" rtlCol="0" anchor="ctr"/>
          <a:lstStyle/>
          <a:p>
            <a:pPr marL="0" indent="0" algn="l">
              <a:buNone/>
            </a:pPr>
            <a:r>
              <a:rPr lang="en-US" sz="1000" dirty="0">
                <a:solidFill>
                  <a:srgbClr val="1F1F1F"/>
                </a:solidFill>
              </a:rPr>
              <a:t>SELECT *</a:t>
            </a:r>
            <a:endParaRPr lang="en-US" sz="1000" dirty="0"/>
          </a:p>
        </p:txBody>
      </p:sp>
      <p:sp>
        <p:nvSpPr>
          <p:cNvPr id="15" name="Shape 13"/>
          <p:cNvSpPr/>
          <p:nvPr/>
        </p:nvSpPr>
        <p:spPr>
          <a:xfrm>
            <a:off x="4663440" y="2907792"/>
            <a:ext cx="4023360" cy="274320"/>
          </a:xfrm>
          <a:prstGeom prst="rect">
            <a:avLst/>
          </a:prstGeom>
          <a:solidFill>
            <a:srgbClr val="FFFFFF"/>
          </a:solidFill>
          <a:ln w="12700">
            <a:solidFill>
              <a:srgbClr val="E7E6E6"/>
            </a:solidFill>
            <a:prstDash val="solid"/>
          </a:ln>
        </p:spPr>
        <p:txBody>
          <a:bodyPr/>
          <a:lstStyle/>
          <a:p>
            <a:endParaRPr lang="fr-FR"/>
          </a:p>
        </p:txBody>
      </p:sp>
      <p:sp>
        <p:nvSpPr>
          <p:cNvPr id="16" name="Text 14"/>
          <p:cNvSpPr/>
          <p:nvPr/>
        </p:nvSpPr>
        <p:spPr>
          <a:xfrm>
            <a:off x="4754880" y="2907792"/>
            <a:ext cx="3840480" cy="274320"/>
          </a:xfrm>
          <a:prstGeom prst="rect">
            <a:avLst/>
          </a:prstGeom>
          <a:noFill/>
          <a:ln/>
        </p:spPr>
        <p:txBody>
          <a:bodyPr wrap="square" rtlCol="0" anchor="ctr"/>
          <a:lstStyle/>
          <a:p>
            <a:pPr marL="0" indent="0" algn="l">
              <a:buNone/>
            </a:pPr>
            <a:r>
              <a:rPr lang="en-US" sz="1000" dirty="0">
                <a:solidFill>
                  <a:srgbClr val="1F1F1F"/>
                </a:solidFill>
              </a:rPr>
              <a:t>Toutes les colonnes, toutes les lignes</a:t>
            </a:r>
            <a:endParaRPr lang="en-US" sz="1000" dirty="0"/>
          </a:p>
        </p:txBody>
      </p:sp>
      <p:sp>
        <p:nvSpPr>
          <p:cNvPr id="17" name="Shape 15"/>
          <p:cNvSpPr/>
          <p:nvPr/>
        </p:nvSpPr>
        <p:spPr>
          <a:xfrm>
            <a:off x="457200" y="3209544"/>
            <a:ext cx="4114800" cy="274320"/>
          </a:xfrm>
          <a:prstGeom prst="rect">
            <a:avLst/>
          </a:prstGeom>
          <a:solidFill>
            <a:srgbClr val="E7E6E6"/>
          </a:solidFill>
          <a:ln w="12700">
            <a:solidFill>
              <a:srgbClr val="E7E6E6"/>
            </a:solidFill>
            <a:prstDash val="solid"/>
          </a:ln>
        </p:spPr>
        <p:txBody>
          <a:bodyPr/>
          <a:lstStyle/>
          <a:p>
            <a:endParaRPr lang="fr-FR"/>
          </a:p>
        </p:txBody>
      </p:sp>
      <p:sp>
        <p:nvSpPr>
          <p:cNvPr id="18" name="Text 16"/>
          <p:cNvSpPr/>
          <p:nvPr/>
        </p:nvSpPr>
        <p:spPr>
          <a:xfrm>
            <a:off x="548640" y="3209544"/>
            <a:ext cx="3931920" cy="274320"/>
          </a:xfrm>
          <a:prstGeom prst="rect">
            <a:avLst/>
          </a:prstGeom>
          <a:noFill/>
          <a:ln/>
        </p:spPr>
        <p:txBody>
          <a:bodyPr wrap="square" rtlCol="0" anchor="ctr"/>
          <a:lstStyle/>
          <a:p>
            <a:pPr marL="0" indent="0" algn="l">
              <a:buNone/>
            </a:pPr>
            <a:r>
              <a:rPr lang="en-US" sz="1000" dirty="0">
                <a:solidFill>
                  <a:srgbClr val="1F1F1F"/>
                </a:solidFill>
              </a:rPr>
              <a:t>SELECT nom, prenom</a:t>
            </a:r>
            <a:endParaRPr lang="en-US" sz="1000" dirty="0"/>
          </a:p>
        </p:txBody>
      </p:sp>
      <p:sp>
        <p:nvSpPr>
          <p:cNvPr id="19" name="Shape 17"/>
          <p:cNvSpPr/>
          <p:nvPr/>
        </p:nvSpPr>
        <p:spPr>
          <a:xfrm>
            <a:off x="4663440" y="3209544"/>
            <a:ext cx="4023360" cy="274320"/>
          </a:xfrm>
          <a:prstGeom prst="rect">
            <a:avLst/>
          </a:prstGeom>
          <a:solidFill>
            <a:srgbClr val="E7E6E6"/>
          </a:solidFill>
          <a:ln w="12700">
            <a:solidFill>
              <a:srgbClr val="E7E6E6"/>
            </a:solidFill>
            <a:prstDash val="solid"/>
          </a:ln>
        </p:spPr>
        <p:txBody>
          <a:bodyPr/>
          <a:lstStyle/>
          <a:p>
            <a:endParaRPr lang="fr-FR"/>
          </a:p>
        </p:txBody>
      </p:sp>
      <p:sp>
        <p:nvSpPr>
          <p:cNvPr id="20" name="Text 18"/>
          <p:cNvSpPr/>
          <p:nvPr/>
        </p:nvSpPr>
        <p:spPr>
          <a:xfrm>
            <a:off x="4754880" y="3209544"/>
            <a:ext cx="3840480" cy="274320"/>
          </a:xfrm>
          <a:prstGeom prst="rect">
            <a:avLst/>
          </a:prstGeom>
          <a:noFill/>
          <a:ln/>
        </p:spPr>
        <p:txBody>
          <a:bodyPr wrap="square" rtlCol="0" anchor="ctr"/>
          <a:lstStyle/>
          <a:p>
            <a:pPr marL="0" indent="0" algn="l">
              <a:buNone/>
            </a:pPr>
            <a:r>
              <a:rPr lang="en-US" sz="1000" dirty="0">
                <a:solidFill>
                  <a:srgbClr val="1F1F1F"/>
                </a:solidFill>
              </a:rPr>
              <a:t>Seulement nom et prenom</a:t>
            </a:r>
            <a:endParaRPr lang="en-US" sz="1000" dirty="0"/>
          </a:p>
        </p:txBody>
      </p:sp>
      <p:sp>
        <p:nvSpPr>
          <p:cNvPr id="21" name="Shape 19"/>
          <p:cNvSpPr/>
          <p:nvPr/>
        </p:nvSpPr>
        <p:spPr>
          <a:xfrm>
            <a:off x="457200" y="3511296"/>
            <a:ext cx="4114800" cy="274320"/>
          </a:xfrm>
          <a:prstGeom prst="rect">
            <a:avLst/>
          </a:prstGeom>
          <a:solidFill>
            <a:srgbClr val="FFFFFF"/>
          </a:solidFill>
          <a:ln w="12700">
            <a:solidFill>
              <a:srgbClr val="E7E6E6"/>
            </a:solidFill>
            <a:prstDash val="solid"/>
          </a:ln>
        </p:spPr>
        <p:txBody>
          <a:bodyPr/>
          <a:lstStyle/>
          <a:p>
            <a:endParaRPr lang="fr-FR"/>
          </a:p>
        </p:txBody>
      </p:sp>
      <p:sp>
        <p:nvSpPr>
          <p:cNvPr id="22" name="Text 20"/>
          <p:cNvSpPr/>
          <p:nvPr/>
        </p:nvSpPr>
        <p:spPr>
          <a:xfrm>
            <a:off x="548640" y="3511296"/>
            <a:ext cx="3931920" cy="274320"/>
          </a:xfrm>
          <a:prstGeom prst="rect">
            <a:avLst/>
          </a:prstGeom>
          <a:noFill/>
          <a:ln/>
        </p:spPr>
        <p:txBody>
          <a:bodyPr wrap="square" rtlCol="0" anchor="ctr"/>
          <a:lstStyle/>
          <a:p>
            <a:pPr marL="0" indent="0" algn="l">
              <a:buNone/>
            </a:pPr>
            <a:r>
              <a:rPr lang="en-US" sz="1000" dirty="0">
                <a:solidFill>
                  <a:srgbClr val="1F1F1F"/>
                </a:solidFill>
              </a:rPr>
              <a:t>SELECT DISTINCT</a:t>
            </a:r>
            <a:endParaRPr lang="en-US" sz="1000" dirty="0"/>
          </a:p>
        </p:txBody>
      </p:sp>
      <p:sp>
        <p:nvSpPr>
          <p:cNvPr id="23" name="Shape 21"/>
          <p:cNvSpPr/>
          <p:nvPr/>
        </p:nvSpPr>
        <p:spPr>
          <a:xfrm>
            <a:off x="4663440" y="3511296"/>
            <a:ext cx="4023360" cy="274320"/>
          </a:xfrm>
          <a:prstGeom prst="rect">
            <a:avLst/>
          </a:prstGeom>
          <a:solidFill>
            <a:srgbClr val="FFFFFF"/>
          </a:solidFill>
          <a:ln w="12700">
            <a:solidFill>
              <a:srgbClr val="E7E6E6"/>
            </a:solidFill>
            <a:prstDash val="solid"/>
          </a:ln>
        </p:spPr>
        <p:txBody>
          <a:bodyPr/>
          <a:lstStyle/>
          <a:p>
            <a:endParaRPr lang="fr-FR"/>
          </a:p>
        </p:txBody>
      </p:sp>
      <p:sp>
        <p:nvSpPr>
          <p:cNvPr id="24" name="Text 22"/>
          <p:cNvSpPr/>
          <p:nvPr/>
        </p:nvSpPr>
        <p:spPr>
          <a:xfrm>
            <a:off x="4754880" y="3511296"/>
            <a:ext cx="3840480" cy="274320"/>
          </a:xfrm>
          <a:prstGeom prst="rect">
            <a:avLst/>
          </a:prstGeom>
          <a:noFill/>
          <a:ln/>
        </p:spPr>
        <p:txBody>
          <a:bodyPr wrap="square" rtlCol="0" anchor="ctr"/>
          <a:lstStyle/>
          <a:p>
            <a:pPr marL="0" indent="0" algn="l">
              <a:buNone/>
            </a:pPr>
            <a:r>
              <a:rPr lang="en-US" sz="1000" dirty="0">
                <a:solidFill>
                  <a:srgbClr val="1F1F1F"/>
                </a:solidFill>
              </a:rPr>
              <a:t>Élimine les doublons</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WHERE : filtrer les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30/40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Syntaxe</a:t>
            </a:r>
            <a:endParaRPr lang="en-US" sz="1200" dirty="0"/>
          </a:p>
        </p:txBody>
      </p:sp>
      <p:sp>
        <p:nvSpPr>
          <p:cNvPr id="6" name="Shape 4"/>
          <p:cNvSpPr/>
          <p:nvPr/>
        </p:nvSpPr>
        <p:spPr>
          <a:xfrm>
            <a:off x="457200" y="1097280"/>
            <a:ext cx="8229600" cy="1097280"/>
          </a:xfrm>
          <a:prstGeom prst="rect">
            <a:avLst/>
          </a:prstGeom>
          <a:solidFill>
            <a:srgbClr val="F5F5F5"/>
          </a:solidFill>
          <a:ln w="12700">
            <a:solidFill>
              <a:srgbClr val="E7E6E6"/>
            </a:solidFill>
            <a:prstDash val="solid"/>
          </a:ln>
        </p:spPr>
        <p:txBody>
          <a:bodyPr/>
          <a:lstStyle/>
          <a:p>
            <a:endParaRPr lang="fr-FR"/>
          </a:p>
        </p:txBody>
      </p:sp>
      <p:sp>
        <p:nvSpPr>
          <p:cNvPr id="7" name="Text 5"/>
          <p:cNvSpPr/>
          <p:nvPr/>
        </p:nvSpPr>
        <p:spPr>
          <a:xfrm>
            <a:off x="640080" y="1188720"/>
            <a:ext cx="7863840" cy="914400"/>
          </a:xfrm>
          <a:prstGeom prst="rect">
            <a:avLst/>
          </a:prstGeom>
          <a:noFill/>
          <a:ln/>
        </p:spPr>
        <p:txBody>
          <a:bodyPr wrap="square" rtlCol="0" anchor="t"/>
          <a:lstStyle/>
          <a:p>
            <a:pPr marL="0" indent="0" algn="l">
              <a:buNone/>
            </a:pPr>
            <a:r>
              <a:rPr lang="en-US" sz="900" dirty="0">
                <a:solidFill>
                  <a:srgbClr val="1F1F1F"/>
                </a:solidFill>
                <a:latin typeface="Courier New" pitchFamily="34" charset="0"/>
                <a:ea typeface="Courier New" pitchFamily="34" charset="-122"/>
                <a:cs typeface="Courier New" pitchFamily="34" charset="-120"/>
              </a:rPr>
              <a:t>SELECT nom, prenom FROM Etudiant WHERE id_etudiant = 1;</a:t>
            </a:r>
            <a:endParaRPr lang="en-US" sz="900" dirty="0"/>
          </a:p>
          <a:p>
            <a:pPr marL="0" indent="0" algn="l">
              <a:buNone/>
            </a:pPr>
            <a:endParaRPr lang="en-US" sz="900" dirty="0"/>
          </a:p>
          <a:p>
            <a:pPr marL="0" indent="0" algn="l">
              <a:buNone/>
            </a:pPr>
            <a:r>
              <a:rPr lang="en-US" sz="900" dirty="0">
                <a:solidFill>
                  <a:srgbClr val="1F1F1F"/>
                </a:solidFill>
                <a:latin typeface="Courier New" pitchFamily="34" charset="0"/>
                <a:ea typeface="Courier New" pitchFamily="34" charset="-122"/>
                <a:cs typeface="Courier New" pitchFamily="34" charset="-120"/>
              </a:rPr>
              <a:t>SELECT nom FROM Etudiant WHERE nom &lt;&gt; 'Dupont';</a:t>
            </a:r>
            <a:endParaRPr lang="en-US" sz="900" dirty="0"/>
          </a:p>
          <a:p>
            <a:pPr marL="0" indent="0" algn="l">
              <a:buNone/>
            </a:pPr>
            <a:endParaRPr lang="en-US" sz="900" dirty="0"/>
          </a:p>
          <a:p>
            <a:pPr marL="0" indent="0" algn="l">
              <a:buNone/>
            </a:pPr>
            <a:r>
              <a:rPr lang="en-US" sz="900" dirty="0">
                <a:solidFill>
                  <a:srgbClr val="1F1F1F"/>
                </a:solidFill>
                <a:latin typeface="Courier New" pitchFamily="34" charset="0"/>
                <a:ea typeface="Courier New" pitchFamily="34" charset="-122"/>
                <a:cs typeface="Courier New" pitchFamily="34" charset="-120"/>
              </a:rPr>
              <a:t>SELECT * FROM Etudiant WHERE id_etudiant &gt; 5 AND nom = 'Martin';</a:t>
            </a:r>
            <a:endParaRPr lang="en-US" sz="900" dirty="0"/>
          </a:p>
        </p:txBody>
      </p:sp>
      <p:sp>
        <p:nvSpPr>
          <p:cNvPr id="8" name="Text 6"/>
          <p:cNvSpPr/>
          <p:nvPr/>
        </p:nvSpPr>
        <p:spPr>
          <a:xfrm>
            <a:off x="457200" y="2331720"/>
            <a:ext cx="8229600" cy="182880"/>
          </a:xfrm>
          <a:prstGeom prst="rect">
            <a:avLst/>
          </a:prstGeom>
          <a:noFill/>
          <a:ln/>
        </p:spPr>
        <p:txBody>
          <a:bodyPr wrap="square" rtlCol="0" anchor="ctr"/>
          <a:lstStyle/>
          <a:p>
            <a:pPr marL="0" indent="0">
              <a:buNone/>
            </a:pPr>
            <a:r>
              <a:rPr lang="en-US" sz="1200" b="1" dirty="0">
                <a:solidFill>
                  <a:srgbClr val="1F4E78"/>
                </a:solidFill>
              </a:rPr>
              <a:t>Opérateurs de comparaison</a:t>
            </a:r>
            <a:endParaRPr lang="en-US" sz="1200" dirty="0"/>
          </a:p>
        </p:txBody>
      </p:sp>
      <p:sp>
        <p:nvSpPr>
          <p:cNvPr id="9" name="Text 7"/>
          <p:cNvSpPr/>
          <p:nvPr/>
        </p:nvSpPr>
        <p:spPr>
          <a:xfrm>
            <a:off x="640080" y="2606040"/>
            <a:ext cx="1645920" cy="228600"/>
          </a:xfrm>
          <a:prstGeom prst="rect">
            <a:avLst/>
          </a:prstGeom>
          <a:noFill/>
          <a:ln/>
        </p:spPr>
        <p:txBody>
          <a:bodyPr wrap="square" rtlCol="0" anchor="ctr"/>
          <a:lstStyle/>
          <a:p>
            <a:pPr marL="0" indent="0">
              <a:buNone/>
            </a:pPr>
            <a:r>
              <a:rPr lang="en-US" sz="1000" dirty="0">
                <a:solidFill>
                  <a:srgbClr val="1F1F1F"/>
                </a:solidFill>
              </a:rPr>
              <a:t>• = (égal)</a:t>
            </a:r>
            <a:endParaRPr lang="en-US" sz="1000" dirty="0"/>
          </a:p>
        </p:txBody>
      </p:sp>
      <p:sp>
        <p:nvSpPr>
          <p:cNvPr id="10" name="Text 8"/>
          <p:cNvSpPr/>
          <p:nvPr/>
        </p:nvSpPr>
        <p:spPr>
          <a:xfrm>
            <a:off x="2468880" y="2606040"/>
            <a:ext cx="1645920" cy="228600"/>
          </a:xfrm>
          <a:prstGeom prst="rect">
            <a:avLst/>
          </a:prstGeom>
          <a:noFill/>
          <a:ln/>
        </p:spPr>
        <p:txBody>
          <a:bodyPr wrap="square" rtlCol="0" anchor="ctr"/>
          <a:lstStyle/>
          <a:p>
            <a:pPr marL="0" indent="0">
              <a:buNone/>
            </a:pPr>
            <a:r>
              <a:rPr lang="en-US" sz="1000" dirty="0">
                <a:solidFill>
                  <a:srgbClr val="1F1F1F"/>
                </a:solidFill>
              </a:rPr>
              <a:t>• &lt;&gt; (différent)</a:t>
            </a:r>
            <a:endParaRPr lang="en-US" sz="1000" dirty="0"/>
          </a:p>
        </p:txBody>
      </p:sp>
      <p:sp>
        <p:nvSpPr>
          <p:cNvPr id="11" name="Text 9"/>
          <p:cNvSpPr/>
          <p:nvPr/>
        </p:nvSpPr>
        <p:spPr>
          <a:xfrm>
            <a:off x="4297680" y="2606040"/>
            <a:ext cx="1645920" cy="228600"/>
          </a:xfrm>
          <a:prstGeom prst="rect">
            <a:avLst/>
          </a:prstGeom>
          <a:noFill/>
          <a:ln/>
        </p:spPr>
        <p:txBody>
          <a:bodyPr wrap="square" rtlCol="0" anchor="ctr"/>
          <a:lstStyle/>
          <a:p>
            <a:pPr marL="0" indent="0">
              <a:buNone/>
            </a:pPr>
            <a:r>
              <a:rPr lang="en-US" sz="1000" dirty="0">
                <a:solidFill>
                  <a:srgbClr val="1F1F1F"/>
                </a:solidFill>
              </a:rPr>
              <a:t>• &gt; (plus grand)</a:t>
            </a:r>
            <a:endParaRPr lang="en-US" sz="1000" dirty="0"/>
          </a:p>
        </p:txBody>
      </p:sp>
      <p:sp>
        <p:nvSpPr>
          <p:cNvPr id="12" name="Text 10"/>
          <p:cNvSpPr/>
          <p:nvPr/>
        </p:nvSpPr>
        <p:spPr>
          <a:xfrm>
            <a:off x="6126480" y="2606040"/>
            <a:ext cx="1645920" cy="228600"/>
          </a:xfrm>
          <a:prstGeom prst="rect">
            <a:avLst/>
          </a:prstGeom>
          <a:noFill/>
          <a:ln/>
        </p:spPr>
        <p:txBody>
          <a:bodyPr wrap="square" rtlCol="0" anchor="ctr"/>
          <a:lstStyle/>
          <a:p>
            <a:pPr marL="0" indent="0">
              <a:buNone/>
            </a:pPr>
            <a:r>
              <a:rPr lang="en-US" sz="1000" dirty="0">
                <a:solidFill>
                  <a:srgbClr val="1F1F1F"/>
                </a:solidFill>
              </a:rPr>
              <a:t>• &lt; (plus petit)</a:t>
            </a:r>
            <a:endParaRPr lang="en-US" sz="1000" dirty="0"/>
          </a:p>
        </p:txBody>
      </p:sp>
      <p:sp>
        <p:nvSpPr>
          <p:cNvPr id="13" name="Text 11"/>
          <p:cNvSpPr/>
          <p:nvPr/>
        </p:nvSpPr>
        <p:spPr>
          <a:xfrm>
            <a:off x="640080" y="2880360"/>
            <a:ext cx="1645920" cy="228600"/>
          </a:xfrm>
          <a:prstGeom prst="rect">
            <a:avLst/>
          </a:prstGeom>
          <a:noFill/>
          <a:ln/>
        </p:spPr>
        <p:txBody>
          <a:bodyPr wrap="square" rtlCol="0" anchor="ctr"/>
          <a:lstStyle/>
          <a:p>
            <a:pPr marL="0" indent="0">
              <a:buNone/>
            </a:pPr>
            <a:r>
              <a:rPr lang="en-US" sz="1000" dirty="0">
                <a:solidFill>
                  <a:srgbClr val="1F1F1F"/>
                </a:solidFill>
              </a:rPr>
              <a:t>• &gt;= (≥)</a:t>
            </a:r>
            <a:endParaRPr lang="en-US" sz="1000" dirty="0"/>
          </a:p>
        </p:txBody>
      </p:sp>
      <p:sp>
        <p:nvSpPr>
          <p:cNvPr id="14" name="Text 12"/>
          <p:cNvSpPr/>
          <p:nvPr/>
        </p:nvSpPr>
        <p:spPr>
          <a:xfrm>
            <a:off x="2468880" y="2880360"/>
            <a:ext cx="1645920" cy="228600"/>
          </a:xfrm>
          <a:prstGeom prst="rect">
            <a:avLst/>
          </a:prstGeom>
          <a:noFill/>
          <a:ln/>
        </p:spPr>
        <p:txBody>
          <a:bodyPr wrap="square" rtlCol="0" anchor="ctr"/>
          <a:lstStyle/>
          <a:p>
            <a:pPr marL="0" indent="0">
              <a:buNone/>
            </a:pPr>
            <a:r>
              <a:rPr lang="en-US" sz="1000" dirty="0">
                <a:solidFill>
                  <a:srgbClr val="1F1F1F"/>
                </a:solidFill>
              </a:rPr>
              <a:t>• &lt;= (≤)</a:t>
            </a:r>
            <a:endParaRPr lang="en-US" sz="1000" dirty="0"/>
          </a:p>
        </p:txBody>
      </p:sp>
      <p:sp>
        <p:nvSpPr>
          <p:cNvPr id="15" name="Text 13"/>
          <p:cNvSpPr/>
          <p:nvPr/>
        </p:nvSpPr>
        <p:spPr>
          <a:xfrm>
            <a:off x="4297680" y="2880360"/>
            <a:ext cx="1645920" cy="228600"/>
          </a:xfrm>
          <a:prstGeom prst="rect">
            <a:avLst/>
          </a:prstGeom>
          <a:noFill/>
          <a:ln/>
        </p:spPr>
        <p:txBody>
          <a:bodyPr wrap="square" rtlCol="0" anchor="ctr"/>
          <a:lstStyle/>
          <a:p>
            <a:pPr marL="0" indent="0">
              <a:buNone/>
            </a:pPr>
            <a:r>
              <a:rPr lang="en-US" sz="1000" dirty="0">
                <a:solidFill>
                  <a:srgbClr val="1F1F1F"/>
                </a:solidFill>
              </a:rPr>
              <a:t>• AND, OR, NOT</a:t>
            </a:r>
            <a:endParaRPr lang="en-US" sz="1000" dirty="0"/>
          </a:p>
        </p:txBody>
      </p:sp>
      <p:sp>
        <p:nvSpPr>
          <p:cNvPr id="16" name="Text 14"/>
          <p:cNvSpPr/>
          <p:nvPr/>
        </p:nvSpPr>
        <p:spPr>
          <a:xfrm>
            <a:off x="457200" y="3291840"/>
            <a:ext cx="8229600" cy="365760"/>
          </a:xfrm>
          <a:prstGeom prst="rect">
            <a:avLst/>
          </a:prstGeom>
          <a:noFill/>
          <a:ln/>
        </p:spPr>
        <p:txBody>
          <a:bodyPr wrap="square" rtlCol="0" anchor="ctr"/>
          <a:lstStyle/>
          <a:p>
            <a:pPr marL="0" indent="0" algn="l">
              <a:buNone/>
            </a:pPr>
            <a:r>
              <a:rPr lang="en-US" sz="1100" b="1" dirty="0">
                <a:solidFill>
                  <a:srgbClr val="1F1F1F"/>
                </a:solidFill>
              </a:rPr>
              <a:t>Logique : WHERE colonne opérateur valeur [AND/OR condition]</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ORDER BY et DISTINCT</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31/40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ORDER BY : trier les résultats</a:t>
            </a:r>
            <a:endParaRPr lang="en-US" sz="1200" dirty="0"/>
          </a:p>
        </p:txBody>
      </p:sp>
      <p:sp>
        <p:nvSpPr>
          <p:cNvPr id="6" name="Shape 4"/>
          <p:cNvSpPr/>
          <p:nvPr/>
        </p:nvSpPr>
        <p:spPr>
          <a:xfrm>
            <a:off x="457200" y="1097280"/>
            <a:ext cx="8229600" cy="640080"/>
          </a:xfrm>
          <a:prstGeom prst="rect">
            <a:avLst/>
          </a:prstGeom>
          <a:solidFill>
            <a:srgbClr val="F5F5F5"/>
          </a:solidFill>
          <a:ln w="12700">
            <a:solidFill>
              <a:srgbClr val="E7E6E6"/>
            </a:solidFill>
            <a:prstDash val="solid"/>
          </a:ln>
        </p:spPr>
        <p:txBody>
          <a:bodyPr/>
          <a:lstStyle/>
          <a:p>
            <a:endParaRPr lang="fr-FR"/>
          </a:p>
        </p:txBody>
      </p:sp>
      <p:sp>
        <p:nvSpPr>
          <p:cNvPr id="7" name="Text 5"/>
          <p:cNvSpPr/>
          <p:nvPr/>
        </p:nvSpPr>
        <p:spPr>
          <a:xfrm>
            <a:off x="640080" y="1188720"/>
            <a:ext cx="7863840" cy="502920"/>
          </a:xfrm>
          <a:prstGeom prst="rect">
            <a:avLst/>
          </a:prstGeom>
          <a:noFill/>
          <a:ln/>
        </p:spPr>
        <p:txBody>
          <a:bodyPr wrap="square" rtlCol="0" anchor="t"/>
          <a:lstStyle/>
          <a:p>
            <a:pPr marL="0" indent="0" algn="l">
              <a:buNone/>
            </a:pPr>
            <a:r>
              <a:rPr lang="en-US" sz="1000" dirty="0">
                <a:solidFill>
                  <a:srgbClr val="1F1F1F"/>
                </a:solidFill>
                <a:latin typeface="Courier New" pitchFamily="34" charset="0"/>
                <a:ea typeface="Courier New" pitchFamily="34" charset="-122"/>
                <a:cs typeface="Courier New" pitchFamily="34" charset="-120"/>
              </a:rPr>
              <a:t>SELECT nom, prenom FROM Etudiant ORDER BY nom ASC;</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SELECT nom FROM Etudiant ORDER BY id_etudiant DESC;</a:t>
            </a:r>
            <a:endParaRPr lang="en-US" sz="1000" dirty="0"/>
          </a:p>
        </p:txBody>
      </p:sp>
      <p:sp>
        <p:nvSpPr>
          <p:cNvPr id="8" name="Text 6"/>
          <p:cNvSpPr/>
          <p:nvPr/>
        </p:nvSpPr>
        <p:spPr>
          <a:xfrm>
            <a:off x="457200" y="1874520"/>
            <a:ext cx="8229600" cy="228600"/>
          </a:xfrm>
          <a:prstGeom prst="rect">
            <a:avLst/>
          </a:prstGeom>
          <a:noFill/>
          <a:ln/>
        </p:spPr>
        <p:txBody>
          <a:bodyPr wrap="square" rtlCol="0" anchor="ctr"/>
          <a:lstStyle/>
          <a:p>
            <a:pPr marL="0" indent="0">
              <a:buNone/>
            </a:pPr>
            <a:r>
              <a:rPr lang="en-US" sz="1000" i="1" dirty="0">
                <a:solidFill>
                  <a:srgbClr val="1F1F1F"/>
                </a:solidFill>
              </a:rPr>
              <a:t>ASC (ascending) = A-Z, 0-9. DESC (descending) = Z-A, 9-0</a:t>
            </a:r>
            <a:endParaRPr lang="en-US" sz="1000" dirty="0"/>
          </a:p>
        </p:txBody>
      </p:sp>
      <p:sp>
        <p:nvSpPr>
          <p:cNvPr id="9" name="Text 7"/>
          <p:cNvSpPr/>
          <p:nvPr/>
        </p:nvSpPr>
        <p:spPr>
          <a:xfrm>
            <a:off x="457200" y="2194560"/>
            <a:ext cx="8229600" cy="182880"/>
          </a:xfrm>
          <a:prstGeom prst="rect">
            <a:avLst/>
          </a:prstGeom>
          <a:noFill/>
          <a:ln/>
        </p:spPr>
        <p:txBody>
          <a:bodyPr wrap="square" rtlCol="0" anchor="ctr"/>
          <a:lstStyle/>
          <a:p>
            <a:pPr marL="0" indent="0">
              <a:buNone/>
            </a:pPr>
            <a:r>
              <a:rPr lang="en-US" sz="1200" b="1" dirty="0">
                <a:solidFill>
                  <a:srgbClr val="1F4E78"/>
                </a:solidFill>
              </a:rPr>
              <a:t>DISTINCT vs WHERE</a:t>
            </a:r>
            <a:endParaRPr lang="en-US" sz="1200" dirty="0"/>
          </a:p>
        </p:txBody>
      </p:sp>
      <p:sp>
        <p:nvSpPr>
          <p:cNvPr id="10" name="Shape 8"/>
          <p:cNvSpPr/>
          <p:nvPr/>
        </p:nvSpPr>
        <p:spPr>
          <a:xfrm>
            <a:off x="457200" y="2468880"/>
            <a:ext cx="2743200" cy="320040"/>
          </a:xfrm>
          <a:prstGeom prst="rect">
            <a:avLst/>
          </a:prstGeom>
          <a:solidFill>
            <a:srgbClr val="2E75B6"/>
          </a:solidFill>
          <a:ln w="12700">
            <a:solidFill>
              <a:srgbClr val="E7E6E6"/>
            </a:solidFill>
            <a:prstDash val="solid"/>
          </a:ln>
        </p:spPr>
        <p:txBody>
          <a:bodyPr/>
          <a:lstStyle/>
          <a:p>
            <a:endParaRPr lang="fr-FR"/>
          </a:p>
        </p:txBody>
      </p:sp>
      <p:sp>
        <p:nvSpPr>
          <p:cNvPr id="11" name="Text 9"/>
          <p:cNvSpPr/>
          <p:nvPr/>
        </p:nvSpPr>
        <p:spPr>
          <a:xfrm>
            <a:off x="548640" y="2468880"/>
            <a:ext cx="2560320" cy="320040"/>
          </a:xfrm>
          <a:prstGeom prst="rect">
            <a:avLst/>
          </a:prstGeom>
          <a:noFill/>
          <a:ln/>
        </p:spPr>
        <p:txBody>
          <a:bodyPr wrap="square" rtlCol="0" anchor="ctr"/>
          <a:lstStyle/>
          <a:p>
            <a:pPr marL="0" indent="0" algn="ctr">
              <a:buNone/>
            </a:pPr>
            <a:r>
              <a:rPr lang="en-US" sz="900" b="1" dirty="0">
                <a:solidFill>
                  <a:srgbClr val="FFFFFF"/>
                </a:solidFill>
              </a:rPr>
              <a:t>Concept</a:t>
            </a:r>
            <a:endParaRPr lang="en-US" sz="900" dirty="0"/>
          </a:p>
        </p:txBody>
      </p:sp>
      <p:sp>
        <p:nvSpPr>
          <p:cNvPr id="12" name="Shape 10"/>
          <p:cNvSpPr/>
          <p:nvPr/>
        </p:nvSpPr>
        <p:spPr>
          <a:xfrm>
            <a:off x="3291840" y="2468880"/>
            <a:ext cx="2743200" cy="320040"/>
          </a:xfrm>
          <a:prstGeom prst="rect">
            <a:avLst/>
          </a:prstGeom>
          <a:solidFill>
            <a:srgbClr val="2E75B6"/>
          </a:solidFill>
          <a:ln w="12700">
            <a:solidFill>
              <a:srgbClr val="E7E6E6"/>
            </a:solidFill>
            <a:prstDash val="solid"/>
          </a:ln>
        </p:spPr>
        <p:txBody>
          <a:bodyPr/>
          <a:lstStyle/>
          <a:p>
            <a:endParaRPr lang="fr-FR"/>
          </a:p>
        </p:txBody>
      </p:sp>
      <p:sp>
        <p:nvSpPr>
          <p:cNvPr id="13" name="Text 11"/>
          <p:cNvSpPr/>
          <p:nvPr/>
        </p:nvSpPr>
        <p:spPr>
          <a:xfrm>
            <a:off x="3383280" y="2468880"/>
            <a:ext cx="2560320" cy="320040"/>
          </a:xfrm>
          <a:prstGeom prst="rect">
            <a:avLst/>
          </a:prstGeom>
          <a:noFill/>
          <a:ln/>
        </p:spPr>
        <p:txBody>
          <a:bodyPr wrap="square" rtlCol="0" anchor="ctr"/>
          <a:lstStyle/>
          <a:p>
            <a:pPr marL="0" indent="0" algn="ctr">
              <a:buNone/>
            </a:pPr>
            <a:r>
              <a:rPr lang="en-US" sz="900" b="1" dirty="0">
                <a:solidFill>
                  <a:srgbClr val="FFFFFF"/>
                </a:solidFill>
              </a:rPr>
              <a:t>Définition</a:t>
            </a:r>
            <a:endParaRPr lang="en-US" sz="900" dirty="0"/>
          </a:p>
        </p:txBody>
      </p:sp>
      <p:sp>
        <p:nvSpPr>
          <p:cNvPr id="14" name="Shape 12"/>
          <p:cNvSpPr/>
          <p:nvPr/>
        </p:nvSpPr>
        <p:spPr>
          <a:xfrm>
            <a:off x="6126480" y="2468880"/>
            <a:ext cx="2560320" cy="320040"/>
          </a:xfrm>
          <a:prstGeom prst="rect">
            <a:avLst/>
          </a:prstGeom>
          <a:solidFill>
            <a:srgbClr val="2E75B6"/>
          </a:solidFill>
          <a:ln w="12700">
            <a:solidFill>
              <a:srgbClr val="E7E6E6"/>
            </a:solidFill>
            <a:prstDash val="solid"/>
          </a:ln>
        </p:spPr>
        <p:txBody>
          <a:bodyPr/>
          <a:lstStyle/>
          <a:p>
            <a:endParaRPr lang="fr-FR"/>
          </a:p>
        </p:txBody>
      </p:sp>
      <p:sp>
        <p:nvSpPr>
          <p:cNvPr id="15" name="Text 13"/>
          <p:cNvSpPr/>
          <p:nvPr/>
        </p:nvSpPr>
        <p:spPr>
          <a:xfrm>
            <a:off x="6217920" y="2468880"/>
            <a:ext cx="2377440" cy="320040"/>
          </a:xfrm>
          <a:prstGeom prst="rect">
            <a:avLst/>
          </a:prstGeom>
          <a:noFill/>
          <a:ln/>
        </p:spPr>
        <p:txBody>
          <a:bodyPr wrap="square" rtlCol="0" anchor="ctr"/>
          <a:lstStyle/>
          <a:p>
            <a:pPr marL="0" indent="0" algn="ctr">
              <a:buNone/>
            </a:pPr>
            <a:r>
              <a:rPr lang="en-US" sz="900" b="1" dirty="0">
                <a:solidFill>
                  <a:srgbClr val="FFFFFF"/>
                </a:solidFill>
              </a:rPr>
              <a:t>Exemple</a:t>
            </a:r>
            <a:endParaRPr lang="en-US" sz="900" dirty="0"/>
          </a:p>
        </p:txBody>
      </p:sp>
      <p:sp>
        <p:nvSpPr>
          <p:cNvPr id="16" name="Shape 14"/>
          <p:cNvSpPr/>
          <p:nvPr/>
        </p:nvSpPr>
        <p:spPr>
          <a:xfrm>
            <a:off x="457200" y="2807208"/>
            <a:ext cx="2743200" cy="320040"/>
          </a:xfrm>
          <a:prstGeom prst="rect">
            <a:avLst/>
          </a:prstGeom>
          <a:solidFill>
            <a:srgbClr val="FFFFFF"/>
          </a:solidFill>
          <a:ln w="12700">
            <a:solidFill>
              <a:srgbClr val="E7E6E6"/>
            </a:solidFill>
            <a:prstDash val="solid"/>
          </a:ln>
        </p:spPr>
        <p:txBody>
          <a:bodyPr/>
          <a:lstStyle/>
          <a:p>
            <a:endParaRPr lang="fr-FR"/>
          </a:p>
        </p:txBody>
      </p:sp>
      <p:sp>
        <p:nvSpPr>
          <p:cNvPr id="17" name="Text 15"/>
          <p:cNvSpPr/>
          <p:nvPr/>
        </p:nvSpPr>
        <p:spPr>
          <a:xfrm>
            <a:off x="548640" y="2807208"/>
            <a:ext cx="2560320" cy="320040"/>
          </a:xfrm>
          <a:prstGeom prst="rect">
            <a:avLst/>
          </a:prstGeom>
          <a:noFill/>
          <a:ln/>
        </p:spPr>
        <p:txBody>
          <a:bodyPr wrap="square" rtlCol="0" anchor="ctr"/>
          <a:lstStyle/>
          <a:p>
            <a:pPr marL="0" indent="0" algn="ctr">
              <a:buNone/>
            </a:pPr>
            <a:r>
              <a:rPr lang="en-US" sz="900" dirty="0">
                <a:solidFill>
                  <a:srgbClr val="1F1F1F"/>
                </a:solidFill>
              </a:rPr>
              <a:t>WHERE</a:t>
            </a:r>
            <a:endParaRPr lang="en-US" sz="900" dirty="0"/>
          </a:p>
        </p:txBody>
      </p:sp>
      <p:sp>
        <p:nvSpPr>
          <p:cNvPr id="18" name="Shape 16"/>
          <p:cNvSpPr/>
          <p:nvPr/>
        </p:nvSpPr>
        <p:spPr>
          <a:xfrm>
            <a:off x="3291840" y="2807208"/>
            <a:ext cx="2743200" cy="320040"/>
          </a:xfrm>
          <a:prstGeom prst="rect">
            <a:avLst/>
          </a:prstGeom>
          <a:solidFill>
            <a:srgbClr val="FFFFFF"/>
          </a:solidFill>
          <a:ln w="12700">
            <a:solidFill>
              <a:srgbClr val="E7E6E6"/>
            </a:solidFill>
            <a:prstDash val="solid"/>
          </a:ln>
        </p:spPr>
        <p:txBody>
          <a:bodyPr/>
          <a:lstStyle/>
          <a:p>
            <a:endParaRPr lang="fr-FR"/>
          </a:p>
        </p:txBody>
      </p:sp>
      <p:sp>
        <p:nvSpPr>
          <p:cNvPr id="19" name="Text 17"/>
          <p:cNvSpPr/>
          <p:nvPr/>
        </p:nvSpPr>
        <p:spPr>
          <a:xfrm>
            <a:off x="3383280" y="2807208"/>
            <a:ext cx="2560320" cy="320040"/>
          </a:xfrm>
          <a:prstGeom prst="rect">
            <a:avLst/>
          </a:prstGeom>
          <a:noFill/>
          <a:ln/>
        </p:spPr>
        <p:txBody>
          <a:bodyPr wrap="square" rtlCol="0" anchor="ctr"/>
          <a:lstStyle/>
          <a:p>
            <a:pPr marL="0" indent="0" algn="ctr">
              <a:buNone/>
            </a:pPr>
            <a:r>
              <a:rPr lang="en-US" sz="900" dirty="0">
                <a:solidFill>
                  <a:srgbClr val="1F1F1F"/>
                </a:solidFill>
              </a:rPr>
              <a:t>Filtre les lignes avant sélection</a:t>
            </a:r>
            <a:endParaRPr lang="en-US" sz="900" dirty="0"/>
          </a:p>
        </p:txBody>
      </p:sp>
      <p:sp>
        <p:nvSpPr>
          <p:cNvPr id="20" name="Shape 18"/>
          <p:cNvSpPr/>
          <p:nvPr/>
        </p:nvSpPr>
        <p:spPr>
          <a:xfrm>
            <a:off x="6126480" y="2807208"/>
            <a:ext cx="2560320" cy="320040"/>
          </a:xfrm>
          <a:prstGeom prst="rect">
            <a:avLst/>
          </a:prstGeom>
          <a:solidFill>
            <a:srgbClr val="FFFFFF"/>
          </a:solidFill>
          <a:ln w="12700">
            <a:solidFill>
              <a:srgbClr val="E7E6E6"/>
            </a:solidFill>
            <a:prstDash val="solid"/>
          </a:ln>
        </p:spPr>
        <p:txBody>
          <a:bodyPr/>
          <a:lstStyle/>
          <a:p>
            <a:endParaRPr lang="fr-FR"/>
          </a:p>
        </p:txBody>
      </p:sp>
      <p:sp>
        <p:nvSpPr>
          <p:cNvPr id="21" name="Text 19"/>
          <p:cNvSpPr/>
          <p:nvPr/>
        </p:nvSpPr>
        <p:spPr>
          <a:xfrm>
            <a:off x="6217920" y="2807208"/>
            <a:ext cx="2377440" cy="320040"/>
          </a:xfrm>
          <a:prstGeom prst="rect">
            <a:avLst/>
          </a:prstGeom>
          <a:noFill/>
          <a:ln/>
        </p:spPr>
        <p:txBody>
          <a:bodyPr wrap="square" rtlCol="0" anchor="ctr"/>
          <a:lstStyle/>
          <a:p>
            <a:pPr marL="0" indent="0" algn="ctr">
              <a:buNone/>
            </a:pPr>
            <a:r>
              <a:rPr lang="en-US" sz="900" dirty="0">
                <a:solidFill>
                  <a:srgbClr val="1F1F1F"/>
                </a:solidFill>
              </a:rPr>
              <a:t>WHERE nom = 'Dupont' : seulement Dupont</a:t>
            </a:r>
            <a:endParaRPr lang="en-US" sz="900" dirty="0"/>
          </a:p>
        </p:txBody>
      </p:sp>
      <p:sp>
        <p:nvSpPr>
          <p:cNvPr id="22" name="Shape 20"/>
          <p:cNvSpPr/>
          <p:nvPr/>
        </p:nvSpPr>
        <p:spPr>
          <a:xfrm>
            <a:off x="457200" y="3145536"/>
            <a:ext cx="2743200" cy="320040"/>
          </a:xfrm>
          <a:prstGeom prst="rect">
            <a:avLst/>
          </a:prstGeom>
          <a:solidFill>
            <a:srgbClr val="E7E6E6"/>
          </a:solidFill>
          <a:ln w="12700">
            <a:solidFill>
              <a:srgbClr val="E7E6E6"/>
            </a:solidFill>
            <a:prstDash val="solid"/>
          </a:ln>
        </p:spPr>
        <p:txBody>
          <a:bodyPr/>
          <a:lstStyle/>
          <a:p>
            <a:endParaRPr lang="fr-FR"/>
          </a:p>
        </p:txBody>
      </p:sp>
      <p:sp>
        <p:nvSpPr>
          <p:cNvPr id="23" name="Text 21"/>
          <p:cNvSpPr/>
          <p:nvPr/>
        </p:nvSpPr>
        <p:spPr>
          <a:xfrm>
            <a:off x="548640" y="3145536"/>
            <a:ext cx="2560320" cy="320040"/>
          </a:xfrm>
          <a:prstGeom prst="rect">
            <a:avLst/>
          </a:prstGeom>
          <a:noFill/>
          <a:ln/>
        </p:spPr>
        <p:txBody>
          <a:bodyPr wrap="square" rtlCol="0" anchor="ctr"/>
          <a:lstStyle/>
          <a:p>
            <a:pPr marL="0" indent="0" algn="ctr">
              <a:buNone/>
            </a:pPr>
            <a:r>
              <a:rPr lang="en-US" sz="900" dirty="0">
                <a:solidFill>
                  <a:srgbClr val="1F1F1F"/>
                </a:solidFill>
              </a:rPr>
              <a:t>ORDER BY</a:t>
            </a:r>
            <a:endParaRPr lang="en-US" sz="900" dirty="0"/>
          </a:p>
        </p:txBody>
      </p:sp>
      <p:sp>
        <p:nvSpPr>
          <p:cNvPr id="24" name="Shape 22"/>
          <p:cNvSpPr/>
          <p:nvPr/>
        </p:nvSpPr>
        <p:spPr>
          <a:xfrm>
            <a:off x="3291840" y="3145536"/>
            <a:ext cx="2743200" cy="320040"/>
          </a:xfrm>
          <a:prstGeom prst="rect">
            <a:avLst/>
          </a:prstGeom>
          <a:solidFill>
            <a:srgbClr val="E7E6E6"/>
          </a:solidFill>
          <a:ln w="12700">
            <a:solidFill>
              <a:srgbClr val="E7E6E6"/>
            </a:solidFill>
            <a:prstDash val="solid"/>
          </a:ln>
        </p:spPr>
        <p:txBody>
          <a:bodyPr/>
          <a:lstStyle/>
          <a:p>
            <a:endParaRPr lang="fr-FR"/>
          </a:p>
        </p:txBody>
      </p:sp>
      <p:sp>
        <p:nvSpPr>
          <p:cNvPr id="25" name="Text 23"/>
          <p:cNvSpPr/>
          <p:nvPr/>
        </p:nvSpPr>
        <p:spPr>
          <a:xfrm>
            <a:off x="3383280" y="3145536"/>
            <a:ext cx="2560320" cy="320040"/>
          </a:xfrm>
          <a:prstGeom prst="rect">
            <a:avLst/>
          </a:prstGeom>
          <a:noFill/>
          <a:ln/>
        </p:spPr>
        <p:txBody>
          <a:bodyPr wrap="square" rtlCol="0" anchor="ctr"/>
          <a:lstStyle/>
          <a:p>
            <a:pPr marL="0" indent="0" algn="ctr">
              <a:buNone/>
            </a:pPr>
            <a:r>
              <a:rPr lang="en-US" sz="900" dirty="0">
                <a:solidFill>
                  <a:srgbClr val="1F1F1F"/>
                </a:solidFill>
              </a:rPr>
              <a:t>Trie les lignes après sélection</a:t>
            </a:r>
            <a:endParaRPr lang="en-US" sz="900" dirty="0"/>
          </a:p>
        </p:txBody>
      </p:sp>
      <p:sp>
        <p:nvSpPr>
          <p:cNvPr id="26" name="Shape 24"/>
          <p:cNvSpPr/>
          <p:nvPr/>
        </p:nvSpPr>
        <p:spPr>
          <a:xfrm>
            <a:off x="6126480" y="3145536"/>
            <a:ext cx="2560320" cy="320040"/>
          </a:xfrm>
          <a:prstGeom prst="rect">
            <a:avLst/>
          </a:prstGeom>
          <a:solidFill>
            <a:srgbClr val="E7E6E6"/>
          </a:solidFill>
          <a:ln w="12700">
            <a:solidFill>
              <a:srgbClr val="E7E6E6"/>
            </a:solidFill>
            <a:prstDash val="solid"/>
          </a:ln>
        </p:spPr>
        <p:txBody>
          <a:bodyPr/>
          <a:lstStyle/>
          <a:p>
            <a:endParaRPr lang="fr-FR"/>
          </a:p>
        </p:txBody>
      </p:sp>
      <p:sp>
        <p:nvSpPr>
          <p:cNvPr id="27" name="Text 25"/>
          <p:cNvSpPr/>
          <p:nvPr/>
        </p:nvSpPr>
        <p:spPr>
          <a:xfrm>
            <a:off x="6217920" y="3145536"/>
            <a:ext cx="2377440" cy="320040"/>
          </a:xfrm>
          <a:prstGeom prst="rect">
            <a:avLst/>
          </a:prstGeom>
          <a:noFill/>
          <a:ln/>
        </p:spPr>
        <p:txBody>
          <a:bodyPr wrap="square" rtlCol="0" anchor="ctr"/>
          <a:lstStyle/>
          <a:p>
            <a:pPr marL="0" indent="0" algn="ctr">
              <a:buNone/>
            </a:pPr>
            <a:r>
              <a:rPr lang="en-US" sz="900" dirty="0">
                <a:solidFill>
                  <a:srgbClr val="1F1F1F"/>
                </a:solidFill>
              </a:rPr>
              <a:t>ORDER BY nom ASC : A-Z</a:t>
            </a:r>
            <a:endParaRPr lang="en-US" sz="900" dirty="0"/>
          </a:p>
        </p:txBody>
      </p:sp>
      <p:sp>
        <p:nvSpPr>
          <p:cNvPr id="28" name="Shape 26"/>
          <p:cNvSpPr/>
          <p:nvPr/>
        </p:nvSpPr>
        <p:spPr>
          <a:xfrm>
            <a:off x="457200" y="3483864"/>
            <a:ext cx="2743200" cy="320040"/>
          </a:xfrm>
          <a:prstGeom prst="rect">
            <a:avLst/>
          </a:prstGeom>
          <a:solidFill>
            <a:srgbClr val="FFFFFF"/>
          </a:solidFill>
          <a:ln w="12700">
            <a:solidFill>
              <a:srgbClr val="E7E6E6"/>
            </a:solidFill>
            <a:prstDash val="solid"/>
          </a:ln>
        </p:spPr>
        <p:txBody>
          <a:bodyPr/>
          <a:lstStyle/>
          <a:p>
            <a:endParaRPr lang="fr-FR"/>
          </a:p>
        </p:txBody>
      </p:sp>
      <p:sp>
        <p:nvSpPr>
          <p:cNvPr id="29" name="Text 27"/>
          <p:cNvSpPr/>
          <p:nvPr/>
        </p:nvSpPr>
        <p:spPr>
          <a:xfrm>
            <a:off x="548640" y="3483864"/>
            <a:ext cx="2560320" cy="320040"/>
          </a:xfrm>
          <a:prstGeom prst="rect">
            <a:avLst/>
          </a:prstGeom>
          <a:noFill/>
          <a:ln/>
        </p:spPr>
        <p:txBody>
          <a:bodyPr wrap="square" rtlCol="0" anchor="ctr"/>
          <a:lstStyle/>
          <a:p>
            <a:pPr marL="0" indent="0" algn="ctr">
              <a:buNone/>
            </a:pPr>
            <a:r>
              <a:rPr lang="en-US" sz="900" dirty="0">
                <a:solidFill>
                  <a:srgbClr val="1F1F1F"/>
                </a:solidFill>
              </a:rPr>
              <a:t>DISTINCT</a:t>
            </a:r>
            <a:endParaRPr lang="en-US" sz="900" dirty="0"/>
          </a:p>
        </p:txBody>
      </p:sp>
      <p:sp>
        <p:nvSpPr>
          <p:cNvPr id="30" name="Shape 28"/>
          <p:cNvSpPr/>
          <p:nvPr/>
        </p:nvSpPr>
        <p:spPr>
          <a:xfrm>
            <a:off x="3291840" y="3483864"/>
            <a:ext cx="2743200" cy="320040"/>
          </a:xfrm>
          <a:prstGeom prst="rect">
            <a:avLst/>
          </a:prstGeom>
          <a:solidFill>
            <a:srgbClr val="FFFFFF"/>
          </a:solidFill>
          <a:ln w="12700">
            <a:solidFill>
              <a:srgbClr val="E7E6E6"/>
            </a:solidFill>
            <a:prstDash val="solid"/>
          </a:ln>
        </p:spPr>
        <p:txBody>
          <a:bodyPr/>
          <a:lstStyle/>
          <a:p>
            <a:endParaRPr lang="fr-FR"/>
          </a:p>
        </p:txBody>
      </p:sp>
      <p:sp>
        <p:nvSpPr>
          <p:cNvPr id="31" name="Text 29"/>
          <p:cNvSpPr/>
          <p:nvPr/>
        </p:nvSpPr>
        <p:spPr>
          <a:xfrm>
            <a:off x="3383280" y="3483864"/>
            <a:ext cx="2560320" cy="320040"/>
          </a:xfrm>
          <a:prstGeom prst="rect">
            <a:avLst/>
          </a:prstGeom>
          <a:noFill/>
          <a:ln/>
        </p:spPr>
        <p:txBody>
          <a:bodyPr wrap="square" rtlCol="0" anchor="ctr"/>
          <a:lstStyle/>
          <a:p>
            <a:pPr marL="0" indent="0" algn="ctr">
              <a:buNone/>
            </a:pPr>
            <a:r>
              <a:rPr lang="en-US" sz="900" dirty="0">
                <a:solidFill>
                  <a:srgbClr val="1F1F1F"/>
                </a:solidFill>
              </a:rPr>
              <a:t>Élimine les doublons</a:t>
            </a:r>
            <a:endParaRPr lang="en-US" sz="900" dirty="0"/>
          </a:p>
        </p:txBody>
      </p:sp>
      <p:sp>
        <p:nvSpPr>
          <p:cNvPr id="32" name="Shape 30"/>
          <p:cNvSpPr/>
          <p:nvPr/>
        </p:nvSpPr>
        <p:spPr>
          <a:xfrm>
            <a:off x="6126480" y="3483864"/>
            <a:ext cx="2560320" cy="320040"/>
          </a:xfrm>
          <a:prstGeom prst="rect">
            <a:avLst/>
          </a:prstGeom>
          <a:solidFill>
            <a:srgbClr val="FFFFFF"/>
          </a:solidFill>
          <a:ln w="12700">
            <a:solidFill>
              <a:srgbClr val="E7E6E6"/>
            </a:solidFill>
            <a:prstDash val="solid"/>
          </a:ln>
        </p:spPr>
        <p:txBody>
          <a:bodyPr/>
          <a:lstStyle/>
          <a:p>
            <a:endParaRPr lang="fr-FR"/>
          </a:p>
        </p:txBody>
      </p:sp>
      <p:sp>
        <p:nvSpPr>
          <p:cNvPr id="33" name="Text 31"/>
          <p:cNvSpPr/>
          <p:nvPr/>
        </p:nvSpPr>
        <p:spPr>
          <a:xfrm>
            <a:off x="6217920" y="3483864"/>
            <a:ext cx="2377440" cy="320040"/>
          </a:xfrm>
          <a:prstGeom prst="rect">
            <a:avLst/>
          </a:prstGeom>
          <a:noFill/>
          <a:ln/>
        </p:spPr>
        <p:txBody>
          <a:bodyPr wrap="square" rtlCol="0" anchor="ctr"/>
          <a:lstStyle/>
          <a:p>
            <a:pPr marL="0" indent="0" algn="ctr">
              <a:buNone/>
            </a:pPr>
            <a:r>
              <a:rPr lang="en-US" sz="900" dirty="0">
                <a:solidFill>
                  <a:srgbClr val="1F1F1F"/>
                </a:solidFill>
              </a:rPr>
              <a:t>DISTINCT prenom : chaque prenom une fois</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Fonctions d'agrégation</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32/40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Calculer des statistiques</a:t>
            </a:r>
            <a:endParaRPr lang="en-US" sz="1200" dirty="0"/>
          </a:p>
        </p:txBody>
      </p:sp>
      <p:sp>
        <p:nvSpPr>
          <p:cNvPr id="6" name="Shape 4"/>
          <p:cNvSpPr/>
          <p:nvPr/>
        </p:nvSpPr>
        <p:spPr>
          <a:xfrm>
            <a:off x="457200" y="1097280"/>
            <a:ext cx="8229600" cy="1005840"/>
          </a:xfrm>
          <a:prstGeom prst="rect">
            <a:avLst/>
          </a:prstGeom>
          <a:solidFill>
            <a:srgbClr val="F5F5F5"/>
          </a:solidFill>
          <a:ln w="12700">
            <a:solidFill>
              <a:srgbClr val="E7E6E6"/>
            </a:solidFill>
            <a:prstDash val="solid"/>
          </a:ln>
        </p:spPr>
        <p:txBody>
          <a:bodyPr/>
          <a:lstStyle/>
          <a:p>
            <a:endParaRPr lang="fr-FR"/>
          </a:p>
        </p:txBody>
      </p:sp>
      <p:sp>
        <p:nvSpPr>
          <p:cNvPr id="7" name="Text 5"/>
          <p:cNvSpPr/>
          <p:nvPr/>
        </p:nvSpPr>
        <p:spPr>
          <a:xfrm>
            <a:off x="640080" y="1188720"/>
            <a:ext cx="7863840" cy="868680"/>
          </a:xfrm>
          <a:prstGeom prst="rect">
            <a:avLst/>
          </a:prstGeom>
          <a:noFill/>
          <a:ln/>
        </p:spPr>
        <p:txBody>
          <a:bodyPr wrap="square" rtlCol="0" anchor="t"/>
          <a:lstStyle/>
          <a:p>
            <a:pPr marL="0" indent="0" algn="l">
              <a:buNone/>
            </a:pPr>
            <a:r>
              <a:rPr lang="en-US" sz="1000" dirty="0">
                <a:solidFill>
                  <a:srgbClr val="1F1F1F"/>
                </a:solidFill>
                <a:latin typeface="Courier New" pitchFamily="34" charset="0"/>
                <a:ea typeface="Courier New" pitchFamily="34" charset="-122"/>
                <a:cs typeface="Courier New" pitchFamily="34" charset="-120"/>
              </a:rPr>
              <a:t>SELECT COUNT(*) FROM Etudiant;</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SELECT AVG(note) FROM Inscription;</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SELECT MAX(id_etudiant) FROM Etudiant;</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SELECT SUM(credits) FROM Cours;</a:t>
            </a:r>
            <a:endParaRPr lang="en-US" sz="1000" dirty="0"/>
          </a:p>
        </p:txBody>
      </p:sp>
      <p:sp>
        <p:nvSpPr>
          <p:cNvPr id="8" name="Text 6"/>
          <p:cNvSpPr/>
          <p:nvPr/>
        </p:nvSpPr>
        <p:spPr>
          <a:xfrm>
            <a:off x="457200" y="2194560"/>
            <a:ext cx="8229600" cy="182880"/>
          </a:xfrm>
          <a:prstGeom prst="rect">
            <a:avLst/>
          </a:prstGeom>
          <a:noFill/>
          <a:ln/>
        </p:spPr>
        <p:txBody>
          <a:bodyPr wrap="square" rtlCol="0" anchor="ctr"/>
          <a:lstStyle/>
          <a:p>
            <a:pPr marL="0" indent="0">
              <a:buNone/>
            </a:pPr>
            <a:r>
              <a:rPr lang="en-US" sz="1200" b="1" dirty="0">
                <a:solidFill>
                  <a:srgbClr val="1F4E78"/>
                </a:solidFill>
              </a:rPr>
              <a:t>Fonctions disponibles</a:t>
            </a:r>
            <a:endParaRPr lang="en-US" sz="1200" dirty="0"/>
          </a:p>
        </p:txBody>
      </p:sp>
      <p:sp>
        <p:nvSpPr>
          <p:cNvPr id="9" name="Shape 7"/>
          <p:cNvSpPr/>
          <p:nvPr/>
        </p:nvSpPr>
        <p:spPr>
          <a:xfrm>
            <a:off x="457200" y="2468880"/>
            <a:ext cx="2743200" cy="274320"/>
          </a:xfrm>
          <a:prstGeom prst="rect">
            <a:avLst/>
          </a:prstGeom>
          <a:solidFill>
            <a:srgbClr val="2E75B6"/>
          </a:solidFill>
          <a:ln w="12700">
            <a:solidFill>
              <a:srgbClr val="E7E6E6"/>
            </a:solidFill>
            <a:prstDash val="solid"/>
          </a:ln>
        </p:spPr>
        <p:txBody>
          <a:bodyPr/>
          <a:lstStyle/>
          <a:p>
            <a:endParaRPr lang="fr-FR"/>
          </a:p>
        </p:txBody>
      </p:sp>
      <p:sp>
        <p:nvSpPr>
          <p:cNvPr id="10" name="Text 8"/>
          <p:cNvSpPr/>
          <p:nvPr/>
        </p:nvSpPr>
        <p:spPr>
          <a:xfrm>
            <a:off x="548640" y="2468880"/>
            <a:ext cx="2560320" cy="274320"/>
          </a:xfrm>
          <a:prstGeom prst="rect">
            <a:avLst/>
          </a:prstGeom>
          <a:noFill/>
          <a:ln/>
        </p:spPr>
        <p:txBody>
          <a:bodyPr wrap="square" rtlCol="0" anchor="ctr"/>
          <a:lstStyle/>
          <a:p>
            <a:pPr marL="0" indent="0" algn="ctr">
              <a:buNone/>
            </a:pPr>
            <a:r>
              <a:rPr lang="en-US" sz="900" b="1" dirty="0">
                <a:solidFill>
                  <a:srgbClr val="FFFFFF"/>
                </a:solidFill>
              </a:rPr>
              <a:t>Fonction</a:t>
            </a:r>
            <a:endParaRPr lang="en-US" sz="900" dirty="0"/>
          </a:p>
        </p:txBody>
      </p:sp>
      <p:sp>
        <p:nvSpPr>
          <p:cNvPr id="11" name="Shape 9"/>
          <p:cNvSpPr/>
          <p:nvPr/>
        </p:nvSpPr>
        <p:spPr>
          <a:xfrm>
            <a:off x="3200400" y="2468880"/>
            <a:ext cx="2743200" cy="274320"/>
          </a:xfrm>
          <a:prstGeom prst="rect">
            <a:avLst/>
          </a:prstGeom>
          <a:solidFill>
            <a:srgbClr val="2E75B6"/>
          </a:solidFill>
          <a:ln w="12700">
            <a:solidFill>
              <a:srgbClr val="E7E6E6"/>
            </a:solidFill>
            <a:prstDash val="solid"/>
          </a:ln>
        </p:spPr>
        <p:txBody>
          <a:bodyPr/>
          <a:lstStyle/>
          <a:p>
            <a:endParaRPr lang="fr-FR"/>
          </a:p>
        </p:txBody>
      </p:sp>
      <p:sp>
        <p:nvSpPr>
          <p:cNvPr id="12" name="Text 10"/>
          <p:cNvSpPr/>
          <p:nvPr/>
        </p:nvSpPr>
        <p:spPr>
          <a:xfrm>
            <a:off x="3291840" y="2468880"/>
            <a:ext cx="2560320" cy="274320"/>
          </a:xfrm>
          <a:prstGeom prst="rect">
            <a:avLst/>
          </a:prstGeom>
          <a:noFill/>
          <a:ln/>
        </p:spPr>
        <p:txBody>
          <a:bodyPr wrap="square" rtlCol="0" anchor="ctr"/>
          <a:lstStyle/>
          <a:p>
            <a:pPr marL="0" indent="0" algn="ctr">
              <a:buNone/>
            </a:pPr>
            <a:r>
              <a:rPr lang="en-US" sz="900" b="1" dirty="0">
                <a:solidFill>
                  <a:srgbClr val="FFFFFF"/>
                </a:solidFill>
              </a:rPr>
              <a:t>Signification</a:t>
            </a:r>
            <a:endParaRPr lang="en-US" sz="900" dirty="0"/>
          </a:p>
        </p:txBody>
      </p:sp>
      <p:sp>
        <p:nvSpPr>
          <p:cNvPr id="13" name="Shape 11"/>
          <p:cNvSpPr/>
          <p:nvPr/>
        </p:nvSpPr>
        <p:spPr>
          <a:xfrm>
            <a:off x="5943600" y="2468880"/>
            <a:ext cx="2743200" cy="274320"/>
          </a:xfrm>
          <a:prstGeom prst="rect">
            <a:avLst/>
          </a:prstGeom>
          <a:solidFill>
            <a:srgbClr val="2E75B6"/>
          </a:solidFill>
          <a:ln w="12700">
            <a:solidFill>
              <a:srgbClr val="E7E6E6"/>
            </a:solidFill>
            <a:prstDash val="solid"/>
          </a:ln>
        </p:spPr>
        <p:txBody>
          <a:bodyPr/>
          <a:lstStyle/>
          <a:p>
            <a:endParaRPr lang="fr-FR"/>
          </a:p>
        </p:txBody>
      </p:sp>
      <p:sp>
        <p:nvSpPr>
          <p:cNvPr id="14" name="Text 12"/>
          <p:cNvSpPr/>
          <p:nvPr/>
        </p:nvSpPr>
        <p:spPr>
          <a:xfrm>
            <a:off x="6035040" y="2468880"/>
            <a:ext cx="2560320" cy="274320"/>
          </a:xfrm>
          <a:prstGeom prst="rect">
            <a:avLst/>
          </a:prstGeom>
          <a:noFill/>
          <a:ln/>
        </p:spPr>
        <p:txBody>
          <a:bodyPr wrap="square" rtlCol="0" anchor="ctr"/>
          <a:lstStyle/>
          <a:p>
            <a:pPr marL="0" indent="0" algn="ctr">
              <a:buNone/>
            </a:pPr>
            <a:r>
              <a:rPr lang="en-US" sz="900" b="1" dirty="0">
                <a:solidFill>
                  <a:srgbClr val="FFFFFF"/>
                </a:solidFill>
              </a:rPr>
              <a:t>Exemple</a:t>
            </a:r>
            <a:endParaRPr lang="en-US" sz="900" dirty="0"/>
          </a:p>
        </p:txBody>
      </p:sp>
      <p:sp>
        <p:nvSpPr>
          <p:cNvPr id="15" name="Shape 13"/>
          <p:cNvSpPr/>
          <p:nvPr/>
        </p:nvSpPr>
        <p:spPr>
          <a:xfrm>
            <a:off x="457200" y="2770632"/>
            <a:ext cx="2743200" cy="274320"/>
          </a:xfrm>
          <a:prstGeom prst="rect">
            <a:avLst/>
          </a:prstGeom>
          <a:solidFill>
            <a:srgbClr val="FFFFFF"/>
          </a:solidFill>
          <a:ln w="12700">
            <a:solidFill>
              <a:srgbClr val="E7E6E6"/>
            </a:solidFill>
            <a:prstDash val="solid"/>
          </a:ln>
        </p:spPr>
        <p:txBody>
          <a:bodyPr/>
          <a:lstStyle/>
          <a:p>
            <a:endParaRPr lang="fr-FR"/>
          </a:p>
        </p:txBody>
      </p:sp>
      <p:sp>
        <p:nvSpPr>
          <p:cNvPr id="16" name="Text 14"/>
          <p:cNvSpPr/>
          <p:nvPr/>
        </p:nvSpPr>
        <p:spPr>
          <a:xfrm>
            <a:off x="548640" y="2770632"/>
            <a:ext cx="2560320" cy="274320"/>
          </a:xfrm>
          <a:prstGeom prst="rect">
            <a:avLst/>
          </a:prstGeom>
          <a:noFill/>
          <a:ln/>
        </p:spPr>
        <p:txBody>
          <a:bodyPr wrap="square" rtlCol="0" anchor="ctr"/>
          <a:lstStyle/>
          <a:p>
            <a:pPr marL="0" indent="0" algn="ctr">
              <a:buNone/>
            </a:pPr>
            <a:r>
              <a:rPr lang="en-US" sz="900" dirty="0">
                <a:solidFill>
                  <a:srgbClr val="1F1F1F"/>
                </a:solidFill>
              </a:rPr>
              <a:t>COUNT(...)</a:t>
            </a:r>
            <a:endParaRPr lang="en-US" sz="900" dirty="0"/>
          </a:p>
        </p:txBody>
      </p:sp>
      <p:sp>
        <p:nvSpPr>
          <p:cNvPr id="17" name="Shape 15"/>
          <p:cNvSpPr/>
          <p:nvPr/>
        </p:nvSpPr>
        <p:spPr>
          <a:xfrm>
            <a:off x="3200400" y="2770632"/>
            <a:ext cx="2743200" cy="274320"/>
          </a:xfrm>
          <a:prstGeom prst="rect">
            <a:avLst/>
          </a:prstGeom>
          <a:solidFill>
            <a:srgbClr val="FFFFFF"/>
          </a:solidFill>
          <a:ln w="12700">
            <a:solidFill>
              <a:srgbClr val="E7E6E6"/>
            </a:solidFill>
            <a:prstDash val="solid"/>
          </a:ln>
        </p:spPr>
        <p:txBody>
          <a:bodyPr/>
          <a:lstStyle/>
          <a:p>
            <a:endParaRPr lang="fr-FR"/>
          </a:p>
        </p:txBody>
      </p:sp>
      <p:sp>
        <p:nvSpPr>
          <p:cNvPr id="18" name="Text 16"/>
          <p:cNvSpPr/>
          <p:nvPr/>
        </p:nvSpPr>
        <p:spPr>
          <a:xfrm>
            <a:off x="3291840" y="2770632"/>
            <a:ext cx="2560320" cy="274320"/>
          </a:xfrm>
          <a:prstGeom prst="rect">
            <a:avLst/>
          </a:prstGeom>
          <a:noFill/>
          <a:ln/>
        </p:spPr>
        <p:txBody>
          <a:bodyPr wrap="square" rtlCol="0" anchor="ctr"/>
          <a:lstStyle/>
          <a:p>
            <a:pPr marL="0" indent="0" algn="ctr">
              <a:buNone/>
            </a:pPr>
            <a:r>
              <a:rPr lang="en-US" sz="900" dirty="0">
                <a:solidFill>
                  <a:srgbClr val="1F1F1F"/>
                </a:solidFill>
              </a:rPr>
              <a:t>Compte les lignes</a:t>
            </a:r>
            <a:endParaRPr lang="en-US" sz="900" dirty="0"/>
          </a:p>
        </p:txBody>
      </p:sp>
      <p:sp>
        <p:nvSpPr>
          <p:cNvPr id="19" name="Shape 17"/>
          <p:cNvSpPr/>
          <p:nvPr/>
        </p:nvSpPr>
        <p:spPr>
          <a:xfrm>
            <a:off x="5943600" y="2770632"/>
            <a:ext cx="2743200" cy="274320"/>
          </a:xfrm>
          <a:prstGeom prst="rect">
            <a:avLst/>
          </a:prstGeom>
          <a:solidFill>
            <a:srgbClr val="FFFFFF"/>
          </a:solidFill>
          <a:ln w="12700">
            <a:solidFill>
              <a:srgbClr val="E7E6E6"/>
            </a:solidFill>
            <a:prstDash val="solid"/>
          </a:ln>
        </p:spPr>
        <p:txBody>
          <a:bodyPr/>
          <a:lstStyle/>
          <a:p>
            <a:endParaRPr lang="fr-FR"/>
          </a:p>
        </p:txBody>
      </p:sp>
      <p:sp>
        <p:nvSpPr>
          <p:cNvPr id="20" name="Text 18"/>
          <p:cNvSpPr/>
          <p:nvPr/>
        </p:nvSpPr>
        <p:spPr>
          <a:xfrm>
            <a:off x="6035040" y="2770632"/>
            <a:ext cx="2560320" cy="274320"/>
          </a:xfrm>
          <a:prstGeom prst="rect">
            <a:avLst/>
          </a:prstGeom>
          <a:noFill/>
          <a:ln/>
        </p:spPr>
        <p:txBody>
          <a:bodyPr wrap="square" rtlCol="0" anchor="ctr"/>
          <a:lstStyle/>
          <a:p>
            <a:pPr marL="0" indent="0" algn="ctr">
              <a:buNone/>
            </a:pPr>
            <a:r>
              <a:rPr lang="en-US" sz="900" dirty="0">
                <a:solidFill>
                  <a:srgbClr val="1F1F1F"/>
                </a:solidFill>
              </a:rPr>
              <a:t>COUNT(*) → 100</a:t>
            </a:r>
            <a:endParaRPr lang="en-US" sz="900" dirty="0"/>
          </a:p>
        </p:txBody>
      </p:sp>
      <p:sp>
        <p:nvSpPr>
          <p:cNvPr id="21" name="Shape 19"/>
          <p:cNvSpPr/>
          <p:nvPr/>
        </p:nvSpPr>
        <p:spPr>
          <a:xfrm>
            <a:off x="457200" y="3072384"/>
            <a:ext cx="2743200" cy="274320"/>
          </a:xfrm>
          <a:prstGeom prst="rect">
            <a:avLst/>
          </a:prstGeom>
          <a:solidFill>
            <a:srgbClr val="E7E6E6"/>
          </a:solidFill>
          <a:ln w="12700">
            <a:solidFill>
              <a:srgbClr val="E7E6E6"/>
            </a:solidFill>
            <a:prstDash val="solid"/>
          </a:ln>
        </p:spPr>
        <p:txBody>
          <a:bodyPr/>
          <a:lstStyle/>
          <a:p>
            <a:endParaRPr lang="fr-FR"/>
          </a:p>
        </p:txBody>
      </p:sp>
      <p:sp>
        <p:nvSpPr>
          <p:cNvPr id="22" name="Text 20"/>
          <p:cNvSpPr/>
          <p:nvPr/>
        </p:nvSpPr>
        <p:spPr>
          <a:xfrm>
            <a:off x="548640" y="3072384"/>
            <a:ext cx="2560320" cy="274320"/>
          </a:xfrm>
          <a:prstGeom prst="rect">
            <a:avLst/>
          </a:prstGeom>
          <a:noFill/>
          <a:ln/>
        </p:spPr>
        <p:txBody>
          <a:bodyPr wrap="square" rtlCol="0" anchor="ctr"/>
          <a:lstStyle/>
          <a:p>
            <a:pPr marL="0" indent="0" algn="ctr">
              <a:buNone/>
            </a:pPr>
            <a:r>
              <a:rPr lang="en-US" sz="900" dirty="0">
                <a:solidFill>
                  <a:srgbClr val="1F1F1F"/>
                </a:solidFill>
              </a:rPr>
              <a:t>SUM(...)</a:t>
            </a:r>
            <a:endParaRPr lang="en-US" sz="900" dirty="0"/>
          </a:p>
        </p:txBody>
      </p:sp>
      <p:sp>
        <p:nvSpPr>
          <p:cNvPr id="23" name="Shape 21"/>
          <p:cNvSpPr/>
          <p:nvPr/>
        </p:nvSpPr>
        <p:spPr>
          <a:xfrm>
            <a:off x="3200400" y="3072384"/>
            <a:ext cx="2743200" cy="274320"/>
          </a:xfrm>
          <a:prstGeom prst="rect">
            <a:avLst/>
          </a:prstGeom>
          <a:solidFill>
            <a:srgbClr val="E7E6E6"/>
          </a:solidFill>
          <a:ln w="12700">
            <a:solidFill>
              <a:srgbClr val="E7E6E6"/>
            </a:solidFill>
            <a:prstDash val="solid"/>
          </a:ln>
        </p:spPr>
        <p:txBody>
          <a:bodyPr/>
          <a:lstStyle/>
          <a:p>
            <a:endParaRPr lang="fr-FR"/>
          </a:p>
        </p:txBody>
      </p:sp>
      <p:sp>
        <p:nvSpPr>
          <p:cNvPr id="24" name="Text 22"/>
          <p:cNvSpPr/>
          <p:nvPr/>
        </p:nvSpPr>
        <p:spPr>
          <a:xfrm>
            <a:off x="3291840" y="3072384"/>
            <a:ext cx="2560320" cy="274320"/>
          </a:xfrm>
          <a:prstGeom prst="rect">
            <a:avLst/>
          </a:prstGeom>
          <a:noFill/>
          <a:ln/>
        </p:spPr>
        <p:txBody>
          <a:bodyPr wrap="square" rtlCol="0" anchor="ctr"/>
          <a:lstStyle/>
          <a:p>
            <a:pPr marL="0" indent="0" algn="ctr">
              <a:buNone/>
            </a:pPr>
            <a:r>
              <a:rPr lang="en-US" sz="900" dirty="0">
                <a:solidFill>
                  <a:srgbClr val="1F1F1F"/>
                </a:solidFill>
              </a:rPr>
              <a:t>Somme les valeurs</a:t>
            </a:r>
            <a:endParaRPr lang="en-US" sz="900" dirty="0"/>
          </a:p>
        </p:txBody>
      </p:sp>
      <p:sp>
        <p:nvSpPr>
          <p:cNvPr id="25" name="Shape 23"/>
          <p:cNvSpPr/>
          <p:nvPr/>
        </p:nvSpPr>
        <p:spPr>
          <a:xfrm>
            <a:off x="5943600" y="3072384"/>
            <a:ext cx="2743200" cy="274320"/>
          </a:xfrm>
          <a:prstGeom prst="rect">
            <a:avLst/>
          </a:prstGeom>
          <a:solidFill>
            <a:srgbClr val="E7E6E6"/>
          </a:solidFill>
          <a:ln w="12700">
            <a:solidFill>
              <a:srgbClr val="E7E6E6"/>
            </a:solidFill>
            <a:prstDash val="solid"/>
          </a:ln>
        </p:spPr>
        <p:txBody>
          <a:bodyPr/>
          <a:lstStyle/>
          <a:p>
            <a:endParaRPr lang="fr-FR"/>
          </a:p>
        </p:txBody>
      </p:sp>
      <p:sp>
        <p:nvSpPr>
          <p:cNvPr id="26" name="Text 24"/>
          <p:cNvSpPr/>
          <p:nvPr/>
        </p:nvSpPr>
        <p:spPr>
          <a:xfrm>
            <a:off x="6035040" y="3072384"/>
            <a:ext cx="2560320" cy="274320"/>
          </a:xfrm>
          <a:prstGeom prst="rect">
            <a:avLst/>
          </a:prstGeom>
          <a:noFill/>
          <a:ln/>
        </p:spPr>
        <p:txBody>
          <a:bodyPr wrap="square" rtlCol="0" anchor="ctr"/>
          <a:lstStyle/>
          <a:p>
            <a:pPr marL="0" indent="0" algn="ctr">
              <a:buNone/>
            </a:pPr>
            <a:r>
              <a:rPr lang="en-US" sz="900" dirty="0">
                <a:solidFill>
                  <a:srgbClr val="1F1F1F"/>
                </a:solidFill>
              </a:rPr>
              <a:t>SUM(credits) → 120</a:t>
            </a:r>
            <a:endParaRPr lang="en-US" sz="900" dirty="0"/>
          </a:p>
        </p:txBody>
      </p:sp>
      <p:sp>
        <p:nvSpPr>
          <p:cNvPr id="27" name="Shape 25"/>
          <p:cNvSpPr/>
          <p:nvPr/>
        </p:nvSpPr>
        <p:spPr>
          <a:xfrm>
            <a:off x="457200" y="3374136"/>
            <a:ext cx="2743200" cy="274320"/>
          </a:xfrm>
          <a:prstGeom prst="rect">
            <a:avLst/>
          </a:prstGeom>
          <a:solidFill>
            <a:srgbClr val="FFFFFF"/>
          </a:solidFill>
          <a:ln w="12700">
            <a:solidFill>
              <a:srgbClr val="E7E6E6"/>
            </a:solidFill>
            <a:prstDash val="solid"/>
          </a:ln>
        </p:spPr>
        <p:txBody>
          <a:bodyPr/>
          <a:lstStyle/>
          <a:p>
            <a:endParaRPr lang="fr-FR"/>
          </a:p>
        </p:txBody>
      </p:sp>
      <p:sp>
        <p:nvSpPr>
          <p:cNvPr id="28" name="Text 26"/>
          <p:cNvSpPr/>
          <p:nvPr/>
        </p:nvSpPr>
        <p:spPr>
          <a:xfrm>
            <a:off x="548640" y="3374136"/>
            <a:ext cx="2560320" cy="274320"/>
          </a:xfrm>
          <a:prstGeom prst="rect">
            <a:avLst/>
          </a:prstGeom>
          <a:noFill/>
          <a:ln/>
        </p:spPr>
        <p:txBody>
          <a:bodyPr wrap="square" rtlCol="0" anchor="ctr"/>
          <a:lstStyle/>
          <a:p>
            <a:pPr marL="0" indent="0" algn="ctr">
              <a:buNone/>
            </a:pPr>
            <a:r>
              <a:rPr lang="en-US" sz="900" dirty="0">
                <a:solidFill>
                  <a:srgbClr val="1F1F1F"/>
                </a:solidFill>
              </a:rPr>
              <a:t>AVG(...)</a:t>
            </a:r>
            <a:endParaRPr lang="en-US" sz="900" dirty="0"/>
          </a:p>
        </p:txBody>
      </p:sp>
      <p:sp>
        <p:nvSpPr>
          <p:cNvPr id="29" name="Shape 27"/>
          <p:cNvSpPr/>
          <p:nvPr/>
        </p:nvSpPr>
        <p:spPr>
          <a:xfrm>
            <a:off x="3200400" y="3374136"/>
            <a:ext cx="2743200" cy="274320"/>
          </a:xfrm>
          <a:prstGeom prst="rect">
            <a:avLst/>
          </a:prstGeom>
          <a:solidFill>
            <a:srgbClr val="FFFFFF"/>
          </a:solidFill>
          <a:ln w="12700">
            <a:solidFill>
              <a:srgbClr val="E7E6E6"/>
            </a:solidFill>
            <a:prstDash val="solid"/>
          </a:ln>
        </p:spPr>
        <p:txBody>
          <a:bodyPr/>
          <a:lstStyle/>
          <a:p>
            <a:endParaRPr lang="fr-FR"/>
          </a:p>
        </p:txBody>
      </p:sp>
      <p:sp>
        <p:nvSpPr>
          <p:cNvPr id="30" name="Text 28"/>
          <p:cNvSpPr/>
          <p:nvPr/>
        </p:nvSpPr>
        <p:spPr>
          <a:xfrm>
            <a:off x="3291840" y="3374136"/>
            <a:ext cx="2560320" cy="274320"/>
          </a:xfrm>
          <a:prstGeom prst="rect">
            <a:avLst/>
          </a:prstGeom>
          <a:noFill/>
          <a:ln/>
        </p:spPr>
        <p:txBody>
          <a:bodyPr wrap="square" rtlCol="0" anchor="ctr"/>
          <a:lstStyle/>
          <a:p>
            <a:pPr marL="0" indent="0" algn="ctr">
              <a:buNone/>
            </a:pPr>
            <a:r>
              <a:rPr lang="en-US" sz="900" dirty="0">
                <a:solidFill>
                  <a:srgbClr val="1F1F1F"/>
                </a:solidFill>
              </a:rPr>
              <a:t>Moyenne des valeurs</a:t>
            </a:r>
            <a:endParaRPr lang="en-US" sz="900" dirty="0"/>
          </a:p>
        </p:txBody>
      </p:sp>
      <p:sp>
        <p:nvSpPr>
          <p:cNvPr id="31" name="Shape 29"/>
          <p:cNvSpPr/>
          <p:nvPr/>
        </p:nvSpPr>
        <p:spPr>
          <a:xfrm>
            <a:off x="5943600" y="3374136"/>
            <a:ext cx="2743200" cy="274320"/>
          </a:xfrm>
          <a:prstGeom prst="rect">
            <a:avLst/>
          </a:prstGeom>
          <a:solidFill>
            <a:srgbClr val="FFFFFF"/>
          </a:solidFill>
          <a:ln w="12700">
            <a:solidFill>
              <a:srgbClr val="E7E6E6"/>
            </a:solidFill>
            <a:prstDash val="solid"/>
          </a:ln>
        </p:spPr>
        <p:txBody>
          <a:bodyPr/>
          <a:lstStyle/>
          <a:p>
            <a:endParaRPr lang="fr-FR"/>
          </a:p>
        </p:txBody>
      </p:sp>
      <p:sp>
        <p:nvSpPr>
          <p:cNvPr id="32" name="Text 30"/>
          <p:cNvSpPr/>
          <p:nvPr/>
        </p:nvSpPr>
        <p:spPr>
          <a:xfrm>
            <a:off x="6035040" y="3374136"/>
            <a:ext cx="2560320" cy="274320"/>
          </a:xfrm>
          <a:prstGeom prst="rect">
            <a:avLst/>
          </a:prstGeom>
          <a:noFill/>
          <a:ln/>
        </p:spPr>
        <p:txBody>
          <a:bodyPr wrap="square" rtlCol="0" anchor="ctr"/>
          <a:lstStyle/>
          <a:p>
            <a:pPr marL="0" indent="0" algn="ctr">
              <a:buNone/>
            </a:pPr>
            <a:r>
              <a:rPr lang="en-US" sz="900" dirty="0">
                <a:solidFill>
                  <a:srgbClr val="1F1F1F"/>
                </a:solidFill>
              </a:rPr>
              <a:t>AVG(note) → 78.5</a:t>
            </a:r>
            <a:endParaRPr lang="en-US" sz="900" dirty="0"/>
          </a:p>
        </p:txBody>
      </p:sp>
      <p:sp>
        <p:nvSpPr>
          <p:cNvPr id="33" name="Shape 31"/>
          <p:cNvSpPr/>
          <p:nvPr/>
        </p:nvSpPr>
        <p:spPr>
          <a:xfrm>
            <a:off x="457200" y="3675888"/>
            <a:ext cx="2743200" cy="274320"/>
          </a:xfrm>
          <a:prstGeom prst="rect">
            <a:avLst/>
          </a:prstGeom>
          <a:solidFill>
            <a:srgbClr val="E7E6E6"/>
          </a:solidFill>
          <a:ln w="12700">
            <a:solidFill>
              <a:srgbClr val="E7E6E6"/>
            </a:solidFill>
            <a:prstDash val="solid"/>
          </a:ln>
        </p:spPr>
        <p:txBody>
          <a:bodyPr/>
          <a:lstStyle/>
          <a:p>
            <a:endParaRPr lang="fr-FR"/>
          </a:p>
        </p:txBody>
      </p:sp>
      <p:sp>
        <p:nvSpPr>
          <p:cNvPr id="34" name="Text 32"/>
          <p:cNvSpPr/>
          <p:nvPr/>
        </p:nvSpPr>
        <p:spPr>
          <a:xfrm>
            <a:off x="548640" y="3675888"/>
            <a:ext cx="2560320" cy="274320"/>
          </a:xfrm>
          <a:prstGeom prst="rect">
            <a:avLst/>
          </a:prstGeom>
          <a:noFill/>
          <a:ln/>
        </p:spPr>
        <p:txBody>
          <a:bodyPr wrap="square" rtlCol="0" anchor="ctr"/>
          <a:lstStyle/>
          <a:p>
            <a:pPr marL="0" indent="0" algn="ctr">
              <a:buNone/>
            </a:pPr>
            <a:r>
              <a:rPr lang="en-US" sz="900" dirty="0">
                <a:solidFill>
                  <a:srgbClr val="1F1F1F"/>
                </a:solidFill>
              </a:rPr>
              <a:t>MIN(...)</a:t>
            </a:r>
            <a:endParaRPr lang="en-US" sz="900" dirty="0"/>
          </a:p>
        </p:txBody>
      </p:sp>
      <p:sp>
        <p:nvSpPr>
          <p:cNvPr id="35" name="Shape 33"/>
          <p:cNvSpPr/>
          <p:nvPr/>
        </p:nvSpPr>
        <p:spPr>
          <a:xfrm>
            <a:off x="3200400" y="3675888"/>
            <a:ext cx="2743200" cy="274320"/>
          </a:xfrm>
          <a:prstGeom prst="rect">
            <a:avLst/>
          </a:prstGeom>
          <a:solidFill>
            <a:srgbClr val="E7E6E6"/>
          </a:solidFill>
          <a:ln w="12700">
            <a:solidFill>
              <a:srgbClr val="E7E6E6"/>
            </a:solidFill>
            <a:prstDash val="solid"/>
          </a:ln>
        </p:spPr>
        <p:txBody>
          <a:bodyPr/>
          <a:lstStyle/>
          <a:p>
            <a:endParaRPr lang="fr-FR"/>
          </a:p>
        </p:txBody>
      </p:sp>
      <p:sp>
        <p:nvSpPr>
          <p:cNvPr id="36" name="Text 34"/>
          <p:cNvSpPr/>
          <p:nvPr/>
        </p:nvSpPr>
        <p:spPr>
          <a:xfrm>
            <a:off x="3291840" y="3675888"/>
            <a:ext cx="2560320" cy="274320"/>
          </a:xfrm>
          <a:prstGeom prst="rect">
            <a:avLst/>
          </a:prstGeom>
          <a:noFill/>
          <a:ln/>
        </p:spPr>
        <p:txBody>
          <a:bodyPr wrap="square" rtlCol="0" anchor="ctr"/>
          <a:lstStyle/>
          <a:p>
            <a:pPr marL="0" indent="0" algn="ctr">
              <a:buNone/>
            </a:pPr>
            <a:r>
              <a:rPr lang="en-US" sz="900" dirty="0">
                <a:solidFill>
                  <a:srgbClr val="1F1F1F"/>
                </a:solidFill>
              </a:rPr>
              <a:t>Valeur minimale</a:t>
            </a:r>
            <a:endParaRPr lang="en-US" sz="900" dirty="0"/>
          </a:p>
        </p:txBody>
      </p:sp>
      <p:sp>
        <p:nvSpPr>
          <p:cNvPr id="37" name="Shape 35"/>
          <p:cNvSpPr/>
          <p:nvPr/>
        </p:nvSpPr>
        <p:spPr>
          <a:xfrm>
            <a:off x="5943600" y="3675888"/>
            <a:ext cx="2743200" cy="274320"/>
          </a:xfrm>
          <a:prstGeom prst="rect">
            <a:avLst/>
          </a:prstGeom>
          <a:solidFill>
            <a:srgbClr val="E7E6E6"/>
          </a:solidFill>
          <a:ln w="12700">
            <a:solidFill>
              <a:srgbClr val="E7E6E6"/>
            </a:solidFill>
            <a:prstDash val="solid"/>
          </a:ln>
        </p:spPr>
        <p:txBody>
          <a:bodyPr/>
          <a:lstStyle/>
          <a:p>
            <a:endParaRPr lang="fr-FR"/>
          </a:p>
        </p:txBody>
      </p:sp>
      <p:sp>
        <p:nvSpPr>
          <p:cNvPr id="38" name="Text 36"/>
          <p:cNvSpPr/>
          <p:nvPr/>
        </p:nvSpPr>
        <p:spPr>
          <a:xfrm>
            <a:off x="6035040" y="3675888"/>
            <a:ext cx="2560320" cy="274320"/>
          </a:xfrm>
          <a:prstGeom prst="rect">
            <a:avLst/>
          </a:prstGeom>
          <a:noFill/>
          <a:ln/>
        </p:spPr>
        <p:txBody>
          <a:bodyPr wrap="square" rtlCol="0" anchor="ctr"/>
          <a:lstStyle/>
          <a:p>
            <a:pPr marL="0" indent="0" algn="ctr">
              <a:buNone/>
            </a:pPr>
            <a:r>
              <a:rPr lang="en-US" sz="900" dirty="0">
                <a:solidFill>
                  <a:srgbClr val="1F1F1F"/>
                </a:solidFill>
              </a:rPr>
              <a:t>MIN(id) → 1</a:t>
            </a:r>
            <a:endParaRPr lang="en-US" sz="900" dirty="0"/>
          </a:p>
        </p:txBody>
      </p:sp>
      <p:sp>
        <p:nvSpPr>
          <p:cNvPr id="39" name="Shape 37"/>
          <p:cNvSpPr/>
          <p:nvPr/>
        </p:nvSpPr>
        <p:spPr>
          <a:xfrm>
            <a:off x="457200" y="3977640"/>
            <a:ext cx="2743200" cy="274320"/>
          </a:xfrm>
          <a:prstGeom prst="rect">
            <a:avLst/>
          </a:prstGeom>
          <a:solidFill>
            <a:srgbClr val="FFFFFF"/>
          </a:solidFill>
          <a:ln w="12700">
            <a:solidFill>
              <a:srgbClr val="E7E6E6"/>
            </a:solidFill>
            <a:prstDash val="solid"/>
          </a:ln>
        </p:spPr>
        <p:txBody>
          <a:bodyPr/>
          <a:lstStyle/>
          <a:p>
            <a:endParaRPr lang="fr-FR"/>
          </a:p>
        </p:txBody>
      </p:sp>
      <p:sp>
        <p:nvSpPr>
          <p:cNvPr id="40" name="Text 38"/>
          <p:cNvSpPr/>
          <p:nvPr/>
        </p:nvSpPr>
        <p:spPr>
          <a:xfrm>
            <a:off x="548640" y="3977640"/>
            <a:ext cx="2560320" cy="274320"/>
          </a:xfrm>
          <a:prstGeom prst="rect">
            <a:avLst/>
          </a:prstGeom>
          <a:noFill/>
          <a:ln/>
        </p:spPr>
        <p:txBody>
          <a:bodyPr wrap="square" rtlCol="0" anchor="ctr"/>
          <a:lstStyle/>
          <a:p>
            <a:pPr marL="0" indent="0" algn="ctr">
              <a:buNone/>
            </a:pPr>
            <a:r>
              <a:rPr lang="en-US" sz="900" dirty="0">
                <a:solidFill>
                  <a:srgbClr val="1F1F1F"/>
                </a:solidFill>
              </a:rPr>
              <a:t>MAX(...)</a:t>
            </a:r>
            <a:endParaRPr lang="en-US" sz="900" dirty="0"/>
          </a:p>
        </p:txBody>
      </p:sp>
      <p:sp>
        <p:nvSpPr>
          <p:cNvPr id="41" name="Shape 39"/>
          <p:cNvSpPr/>
          <p:nvPr/>
        </p:nvSpPr>
        <p:spPr>
          <a:xfrm>
            <a:off x="3200400" y="3977640"/>
            <a:ext cx="2743200" cy="274320"/>
          </a:xfrm>
          <a:prstGeom prst="rect">
            <a:avLst/>
          </a:prstGeom>
          <a:solidFill>
            <a:srgbClr val="FFFFFF"/>
          </a:solidFill>
          <a:ln w="12700">
            <a:solidFill>
              <a:srgbClr val="E7E6E6"/>
            </a:solidFill>
            <a:prstDash val="solid"/>
          </a:ln>
        </p:spPr>
        <p:txBody>
          <a:bodyPr/>
          <a:lstStyle/>
          <a:p>
            <a:endParaRPr lang="fr-FR"/>
          </a:p>
        </p:txBody>
      </p:sp>
      <p:sp>
        <p:nvSpPr>
          <p:cNvPr id="42" name="Text 40"/>
          <p:cNvSpPr/>
          <p:nvPr/>
        </p:nvSpPr>
        <p:spPr>
          <a:xfrm>
            <a:off x="3291840" y="3977640"/>
            <a:ext cx="2560320" cy="274320"/>
          </a:xfrm>
          <a:prstGeom prst="rect">
            <a:avLst/>
          </a:prstGeom>
          <a:noFill/>
          <a:ln/>
        </p:spPr>
        <p:txBody>
          <a:bodyPr wrap="square" rtlCol="0" anchor="ctr"/>
          <a:lstStyle/>
          <a:p>
            <a:pPr marL="0" indent="0" algn="ctr">
              <a:buNone/>
            </a:pPr>
            <a:r>
              <a:rPr lang="en-US" sz="900" dirty="0">
                <a:solidFill>
                  <a:srgbClr val="1F1F1F"/>
                </a:solidFill>
              </a:rPr>
              <a:t>Valeur maximale</a:t>
            </a:r>
            <a:endParaRPr lang="en-US" sz="900" dirty="0"/>
          </a:p>
        </p:txBody>
      </p:sp>
      <p:sp>
        <p:nvSpPr>
          <p:cNvPr id="43" name="Shape 41"/>
          <p:cNvSpPr/>
          <p:nvPr/>
        </p:nvSpPr>
        <p:spPr>
          <a:xfrm>
            <a:off x="5943600" y="3977640"/>
            <a:ext cx="2743200" cy="274320"/>
          </a:xfrm>
          <a:prstGeom prst="rect">
            <a:avLst/>
          </a:prstGeom>
          <a:solidFill>
            <a:srgbClr val="FFFFFF"/>
          </a:solidFill>
          <a:ln w="12700">
            <a:solidFill>
              <a:srgbClr val="E7E6E6"/>
            </a:solidFill>
            <a:prstDash val="solid"/>
          </a:ln>
        </p:spPr>
        <p:txBody>
          <a:bodyPr/>
          <a:lstStyle/>
          <a:p>
            <a:endParaRPr lang="fr-FR"/>
          </a:p>
        </p:txBody>
      </p:sp>
      <p:sp>
        <p:nvSpPr>
          <p:cNvPr id="44" name="Text 42"/>
          <p:cNvSpPr/>
          <p:nvPr/>
        </p:nvSpPr>
        <p:spPr>
          <a:xfrm>
            <a:off x="6035040" y="3977640"/>
            <a:ext cx="2560320" cy="274320"/>
          </a:xfrm>
          <a:prstGeom prst="rect">
            <a:avLst/>
          </a:prstGeom>
          <a:noFill/>
          <a:ln/>
        </p:spPr>
        <p:txBody>
          <a:bodyPr wrap="square" rtlCol="0" anchor="ctr"/>
          <a:lstStyle/>
          <a:p>
            <a:pPr marL="0" indent="0" algn="ctr">
              <a:buNone/>
            </a:pPr>
            <a:r>
              <a:rPr lang="en-US" sz="900" dirty="0">
                <a:solidFill>
                  <a:srgbClr val="1F1F1F"/>
                </a:solidFill>
              </a:rPr>
              <a:t>MAX(note) → 95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GROUP BY et HAVING</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33/40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Grouper et filtrer les agrégations</a:t>
            </a:r>
            <a:endParaRPr lang="en-US" sz="1200" dirty="0"/>
          </a:p>
        </p:txBody>
      </p:sp>
      <p:sp>
        <p:nvSpPr>
          <p:cNvPr id="6" name="Shape 4"/>
          <p:cNvSpPr/>
          <p:nvPr/>
        </p:nvSpPr>
        <p:spPr>
          <a:xfrm>
            <a:off x="457200" y="1097280"/>
            <a:ext cx="8229600" cy="1005840"/>
          </a:xfrm>
          <a:prstGeom prst="rect">
            <a:avLst/>
          </a:prstGeom>
          <a:solidFill>
            <a:srgbClr val="F5F5F5"/>
          </a:solidFill>
          <a:ln w="12700">
            <a:solidFill>
              <a:srgbClr val="E7E6E6"/>
            </a:solidFill>
            <a:prstDash val="solid"/>
          </a:ln>
        </p:spPr>
        <p:txBody>
          <a:bodyPr/>
          <a:lstStyle/>
          <a:p>
            <a:endParaRPr lang="fr-FR"/>
          </a:p>
        </p:txBody>
      </p:sp>
      <p:sp>
        <p:nvSpPr>
          <p:cNvPr id="7" name="Text 5"/>
          <p:cNvSpPr/>
          <p:nvPr/>
        </p:nvSpPr>
        <p:spPr>
          <a:xfrm>
            <a:off x="640080" y="1188720"/>
            <a:ext cx="7863840" cy="868680"/>
          </a:xfrm>
          <a:prstGeom prst="rect">
            <a:avLst/>
          </a:prstGeom>
          <a:noFill/>
          <a:ln/>
        </p:spPr>
        <p:txBody>
          <a:bodyPr wrap="square" rtlCol="0" anchor="t"/>
          <a:lstStyle/>
          <a:p>
            <a:pPr marL="0" indent="0" algn="l">
              <a:buNone/>
            </a:pPr>
            <a:r>
              <a:rPr lang="en-US" sz="1000" dirty="0">
                <a:solidFill>
                  <a:srgbClr val="1F1F1F"/>
                </a:solidFill>
                <a:latin typeface="Courier New" pitchFamily="34" charset="0"/>
                <a:ea typeface="Courier New" pitchFamily="34" charset="-122"/>
                <a:cs typeface="Courier New" pitchFamily="34" charset="-120"/>
              </a:rPr>
              <a:t>SELECT id_cours, COUNT(*) FROM Inscription GROUP BY id_cours;</a:t>
            </a:r>
            <a:endParaRPr lang="en-US" sz="1000" dirty="0"/>
          </a:p>
          <a:p>
            <a:pPr marL="0" indent="0" algn="l">
              <a:buNone/>
            </a:pP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SELECT id_cours, AVG(note) FROM Inscription </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GROUP BY id_cours HAVING AVG(note) &gt; 75;</a:t>
            </a:r>
            <a:endParaRPr lang="en-US" sz="1000" dirty="0"/>
          </a:p>
        </p:txBody>
      </p:sp>
      <p:sp>
        <p:nvSpPr>
          <p:cNvPr id="8" name="Text 6"/>
          <p:cNvSpPr/>
          <p:nvPr/>
        </p:nvSpPr>
        <p:spPr>
          <a:xfrm>
            <a:off x="457200" y="2194560"/>
            <a:ext cx="8229600" cy="182880"/>
          </a:xfrm>
          <a:prstGeom prst="rect">
            <a:avLst/>
          </a:prstGeom>
          <a:noFill/>
          <a:ln/>
        </p:spPr>
        <p:txBody>
          <a:bodyPr wrap="square" rtlCol="0" anchor="ctr"/>
          <a:lstStyle/>
          <a:p>
            <a:pPr marL="0" indent="0">
              <a:buNone/>
            </a:pPr>
            <a:r>
              <a:rPr lang="en-US" sz="1200" b="1" dirty="0">
                <a:solidFill>
                  <a:srgbClr val="1F4E78"/>
                </a:solidFill>
              </a:rPr>
              <a:t>Différence : WHERE vs HAVING</a:t>
            </a:r>
            <a:endParaRPr lang="en-US" sz="1200" dirty="0"/>
          </a:p>
        </p:txBody>
      </p:sp>
      <p:sp>
        <p:nvSpPr>
          <p:cNvPr id="9" name="Shape 7"/>
          <p:cNvSpPr/>
          <p:nvPr/>
        </p:nvSpPr>
        <p:spPr>
          <a:xfrm>
            <a:off x="457200" y="2468880"/>
            <a:ext cx="8229600" cy="548640"/>
          </a:xfrm>
          <a:prstGeom prst="rect">
            <a:avLst/>
          </a:prstGeom>
          <a:solidFill>
            <a:srgbClr val="F79646"/>
          </a:solidFill>
          <a:ln/>
        </p:spPr>
        <p:txBody>
          <a:bodyPr/>
          <a:lstStyle/>
          <a:p>
            <a:endParaRPr lang="fr-FR"/>
          </a:p>
        </p:txBody>
      </p:sp>
      <p:sp>
        <p:nvSpPr>
          <p:cNvPr id="10" name="Text 8"/>
          <p:cNvSpPr/>
          <p:nvPr/>
        </p:nvSpPr>
        <p:spPr>
          <a:xfrm>
            <a:off x="640080" y="2514600"/>
            <a:ext cx="1828800" cy="182880"/>
          </a:xfrm>
          <a:prstGeom prst="rect">
            <a:avLst/>
          </a:prstGeom>
          <a:noFill/>
          <a:ln/>
        </p:spPr>
        <p:txBody>
          <a:bodyPr wrap="square" rtlCol="0" anchor="ctr"/>
          <a:lstStyle/>
          <a:p>
            <a:pPr marL="0" indent="0">
              <a:buNone/>
            </a:pPr>
            <a:r>
              <a:rPr lang="en-US" sz="1100" b="1" dirty="0">
                <a:solidFill>
                  <a:srgbClr val="FFFFFF"/>
                </a:solidFill>
              </a:rPr>
              <a:t>WHERE</a:t>
            </a:r>
            <a:endParaRPr lang="en-US" sz="1100" dirty="0"/>
          </a:p>
        </p:txBody>
      </p:sp>
      <p:sp>
        <p:nvSpPr>
          <p:cNvPr id="11" name="Text 9"/>
          <p:cNvSpPr/>
          <p:nvPr/>
        </p:nvSpPr>
        <p:spPr>
          <a:xfrm>
            <a:off x="2743200" y="2514600"/>
            <a:ext cx="3657600" cy="182880"/>
          </a:xfrm>
          <a:prstGeom prst="rect">
            <a:avLst/>
          </a:prstGeom>
          <a:noFill/>
          <a:ln/>
        </p:spPr>
        <p:txBody>
          <a:bodyPr wrap="square" rtlCol="0" anchor="ctr"/>
          <a:lstStyle/>
          <a:p>
            <a:pPr marL="0" indent="0">
              <a:buNone/>
            </a:pPr>
            <a:r>
              <a:rPr lang="en-US" sz="1000" dirty="0">
                <a:solidFill>
                  <a:srgbClr val="FFFFFF"/>
                </a:solidFill>
              </a:rPr>
              <a:t>Filtre les lignes AVANT agrégation</a:t>
            </a:r>
            <a:endParaRPr lang="en-US" sz="1000" dirty="0"/>
          </a:p>
        </p:txBody>
      </p:sp>
      <p:sp>
        <p:nvSpPr>
          <p:cNvPr id="12" name="Text 10"/>
          <p:cNvSpPr/>
          <p:nvPr/>
        </p:nvSpPr>
        <p:spPr>
          <a:xfrm>
            <a:off x="6583680" y="2514600"/>
            <a:ext cx="1645920" cy="182880"/>
          </a:xfrm>
          <a:prstGeom prst="rect">
            <a:avLst/>
          </a:prstGeom>
          <a:noFill/>
          <a:ln/>
        </p:spPr>
        <p:txBody>
          <a:bodyPr wrap="square" rtlCol="0" anchor="ctr"/>
          <a:lstStyle/>
          <a:p>
            <a:pPr marL="0" indent="0">
              <a:buNone/>
            </a:pPr>
            <a:r>
              <a:rPr lang="en-US" sz="900" i="1" dirty="0">
                <a:solidFill>
                  <a:srgbClr val="FFFFFF"/>
                </a:solidFill>
              </a:rPr>
              <a:t>WHERE id_cours = 101</a:t>
            </a:r>
            <a:endParaRPr lang="en-US" sz="900" dirty="0"/>
          </a:p>
        </p:txBody>
      </p:sp>
      <p:sp>
        <p:nvSpPr>
          <p:cNvPr id="13" name="Text 11"/>
          <p:cNvSpPr/>
          <p:nvPr/>
        </p:nvSpPr>
        <p:spPr>
          <a:xfrm>
            <a:off x="640080" y="2743200"/>
            <a:ext cx="7863840" cy="228600"/>
          </a:xfrm>
          <a:prstGeom prst="rect">
            <a:avLst/>
          </a:prstGeom>
          <a:noFill/>
          <a:ln/>
        </p:spPr>
        <p:txBody>
          <a:bodyPr wrap="square" rtlCol="0" anchor="ctr"/>
          <a:lstStyle/>
          <a:p>
            <a:pPr marL="0" indent="0">
              <a:buNone/>
            </a:pPr>
            <a:r>
              <a:rPr lang="en-US" sz="1000" dirty="0">
                <a:solidFill>
                  <a:srgbClr val="FFFFFF"/>
                </a:solidFill>
              </a:rPr>
              <a:t>Filtre les lignes AVANT agrégation</a:t>
            </a:r>
            <a:endParaRPr lang="en-US" sz="1000" dirty="0"/>
          </a:p>
        </p:txBody>
      </p:sp>
      <p:sp>
        <p:nvSpPr>
          <p:cNvPr id="14" name="Shape 12"/>
          <p:cNvSpPr/>
          <p:nvPr/>
        </p:nvSpPr>
        <p:spPr>
          <a:xfrm>
            <a:off x="457200" y="3090672"/>
            <a:ext cx="8229600" cy="548640"/>
          </a:xfrm>
          <a:prstGeom prst="rect">
            <a:avLst/>
          </a:prstGeom>
          <a:solidFill>
            <a:srgbClr val="1F4E78"/>
          </a:solidFill>
          <a:ln/>
        </p:spPr>
        <p:txBody>
          <a:bodyPr/>
          <a:lstStyle/>
          <a:p>
            <a:endParaRPr lang="fr-FR"/>
          </a:p>
        </p:txBody>
      </p:sp>
      <p:sp>
        <p:nvSpPr>
          <p:cNvPr id="15" name="Text 13"/>
          <p:cNvSpPr/>
          <p:nvPr/>
        </p:nvSpPr>
        <p:spPr>
          <a:xfrm>
            <a:off x="640080" y="3136392"/>
            <a:ext cx="1828800" cy="182880"/>
          </a:xfrm>
          <a:prstGeom prst="rect">
            <a:avLst/>
          </a:prstGeom>
          <a:noFill/>
          <a:ln/>
        </p:spPr>
        <p:txBody>
          <a:bodyPr wrap="square" rtlCol="0" anchor="ctr"/>
          <a:lstStyle/>
          <a:p>
            <a:pPr marL="0" indent="0">
              <a:buNone/>
            </a:pPr>
            <a:r>
              <a:rPr lang="en-US" sz="1100" b="1" dirty="0">
                <a:solidFill>
                  <a:srgbClr val="FFFFFF"/>
                </a:solidFill>
              </a:rPr>
              <a:t>HAVING</a:t>
            </a:r>
            <a:endParaRPr lang="en-US" sz="1100" dirty="0"/>
          </a:p>
        </p:txBody>
      </p:sp>
      <p:sp>
        <p:nvSpPr>
          <p:cNvPr id="16" name="Text 14"/>
          <p:cNvSpPr/>
          <p:nvPr/>
        </p:nvSpPr>
        <p:spPr>
          <a:xfrm>
            <a:off x="2743200" y="3136392"/>
            <a:ext cx="3657600" cy="182880"/>
          </a:xfrm>
          <a:prstGeom prst="rect">
            <a:avLst/>
          </a:prstGeom>
          <a:noFill/>
          <a:ln/>
        </p:spPr>
        <p:txBody>
          <a:bodyPr wrap="square" rtlCol="0" anchor="ctr"/>
          <a:lstStyle/>
          <a:p>
            <a:pPr marL="0" indent="0">
              <a:buNone/>
            </a:pPr>
            <a:r>
              <a:rPr lang="en-US" sz="1000" dirty="0">
                <a:solidFill>
                  <a:srgbClr val="FFFFFF"/>
                </a:solidFill>
              </a:rPr>
              <a:t>Filtre les groupes APRÈS agrégation</a:t>
            </a:r>
            <a:endParaRPr lang="en-US" sz="1000" dirty="0"/>
          </a:p>
        </p:txBody>
      </p:sp>
      <p:sp>
        <p:nvSpPr>
          <p:cNvPr id="17" name="Text 15"/>
          <p:cNvSpPr/>
          <p:nvPr/>
        </p:nvSpPr>
        <p:spPr>
          <a:xfrm>
            <a:off x="6583680" y="3136392"/>
            <a:ext cx="1645920" cy="182880"/>
          </a:xfrm>
          <a:prstGeom prst="rect">
            <a:avLst/>
          </a:prstGeom>
          <a:noFill/>
          <a:ln/>
        </p:spPr>
        <p:txBody>
          <a:bodyPr wrap="square" rtlCol="0" anchor="ctr"/>
          <a:lstStyle/>
          <a:p>
            <a:pPr marL="0" indent="0">
              <a:buNone/>
            </a:pPr>
            <a:r>
              <a:rPr lang="en-US" sz="900" i="1" dirty="0">
                <a:solidFill>
                  <a:srgbClr val="FFFFFF"/>
                </a:solidFill>
              </a:rPr>
              <a:t>HAVING COUNT(*) &gt; 5</a:t>
            </a:r>
            <a:endParaRPr lang="en-US" sz="900" dirty="0"/>
          </a:p>
        </p:txBody>
      </p:sp>
      <p:sp>
        <p:nvSpPr>
          <p:cNvPr id="18" name="Text 16"/>
          <p:cNvSpPr/>
          <p:nvPr/>
        </p:nvSpPr>
        <p:spPr>
          <a:xfrm>
            <a:off x="640080" y="3364992"/>
            <a:ext cx="7863840" cy="228600"/>
          </a:xfrm>
          <a:prstGeom prst="rect">
            <a:avLst/>
          </a:prstGeom>
          <a:noFill/>
          <a:ln/>
        </p:spPr>
        <p:txBody>
          <a:bodyPr wrap="square" rtlCol="0" anchor="ctr"/>
          <a:lstStyle/>
          <a:p>
            <a:pPr marL="0" indent="0">
              <a:buNone/>
            </a:pPr>
            <a:r>
              <a:rPr lang="en-US" sz="1000" dirty="0">
                <a:solidFill>
                  <a:srgbClr val="FFFFFF"/>
                </a:solidFill>
              </a:rPr>
              <a:t>Filtre les groupes APRÈS agrégation</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Jointures : combiner des tables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34/40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Lier deux tables</a:t>
            </a:r>
            <a:endParaRPr lang="en-US" sz="1200" dirty="0"/>
          </a:p>
        </p:txBody>
      </p:sp>
      <p:sp>
        <p:nvSpPr>
          <p:cNvPr id="6" name="Text 4"/>
          <p:cNvSpPr/>
          <p:nvPr/>
        </p:nvSpPr>
        <p:spPr>
          <a:xfrm>
            <a:off x="457200" y="1143000"/>
            <a:ext cx="1828800" cy="182880"/>
          </a:xfrm>
          <a:prstGeom prst="rect">
            <a:avLst/>
          </a:prstGeom>
          <a:noFill/>
          <a:ln/>
        </p:spPr>
        <p:txBody>
          <a:bodyPr wrap="square" rtlCol="0" anchor="ctr"/>
          <a:lstStyle/>
          <a:p>
            <a:pPr marL="0" indent="0">
              <a:buNone/>
            </a:pPr>
            <a:r>
              <a:rPr lang="en-US" sz="1100" b="1" dirty="0">
                <a:solidFill>
                  <a:srgbClr val="1F4E78"/>
                </a:solidFill>
              </a:rPr>
              <a:t>ETUDIANT</a:t>
            </a:r>
            <a:endParaRPr lang="en-US" sz="1100" dirty="0"/>
          </a:p>
        </p:txBody>
      </p:sp>
      <p:sp>
        <p:nvSpPr>
          <p:cNvPr id="7" name="Shape 5"/>
          <p:cNvSpPr/>
          <p:nvPr/>
        </p:nvSpPr>
        <p:spPr>
          <a:xfrm>
            <a:off x="457200" y="1371600"/>
            <a:ext cx="1828800" cy="256032"/>
          </a:xfrm>
          <a:prstGeom prst="rect">
            <a:avLst/>
          </a:prstGeom>
          <a:solidFill>
            <a:srgbClr val="2E75B6"/>
          </a:solidFill>
          <a:ln w="12700">
            <a:solidFill>
              <a:srgbClr val="E7E6E6"/>
            </a:solidFill>
            <a:prstDash val="solid"/>
          </a:ln>
        </p:spPr>
        <p:txBody>
          <a:bodyPr/>
          <a:lstStyle/>
          <a:p>
            <a:endParaRPr lang="fr-FR"/>
          </a:p>
        </p:txBody>
      </p:sp>
      <p:sp>
        <p:nvSpPr>
          <p:cNvPr id="8" name="Text 6"/>
          <p:cNvSpPr/>
          <p:nvPr/>
        </p:nvSpPr>
        <p:spPr>
          <a:xfrm>
            <a:off x="548640" y="1371600"/>
            <a:ext cx="1645920" cy="256032"/>
          </a:xfrm>
          <a:prstGeom prst="rect">
            <a:avLst/>
          </a:prstGeom>
          <a:noFill/>
          <a:ln/>
        </p:spPr>
        <p:txBody>
          <a:bodyPr wrap="square" rtlCol="0" anchor="ctr"/>
          <a:lstStyle/>
          <a:p>
            <a:pPr marL="0" indent="0" algn="ctr">
              <a:buNone/>
            </a:pPr>
            <a:r>
              <a:rPr lang="en-US" sz="900" b="1" dirty="0">
                <a:solidFill>
                  <a:srgbClr val="FFFFFF"/>
                </a:solidFill>
              </a:rPr>
              <a:t>id nom</a:t>
            </a:r>
            <a:endParaRPr lang="en-US" sz="900" dirty="0"/>
          </a:p>
        </p:txBody>
      </p:sp>
      <p:sp>
        <p:nvSpPr>
          <p:cNvPr id="9" name="Shape 7"/>
          <p:cNvSpPr/>
          <p:nvPr/>
        </p:nvSpPr>
        <p:spPr>
          <a:xfrm>
            <a:off x="457200" y="1645920"/>
            <a:ext cx="1828800" cy="256032"/>
          </a:xfrm>
          <a:prstGeom prst="rect">
            <a:avLst/>
          </a:prstGeom>
          <a:solidFill>
            <a:srgbClr val="FFFFFF"/>
          </a:solidFill>
          <a:ln w="12700">
            <a:solidFill>
              <a:srgbClr val="E7E6E6"/>
            </a:solidFill>
            <a:prstDash val="solid"/>
          </a:ln>
        </p:spPr>
        <p:txBody>
          <a:bodyPr/>
          <a:lstStyle/>
          <a:p>
            <a:endParaRPr lang="fr-FR"/>
          </a:p>
        </p:txBody>
      </p:sp>
      <p:sp>
        <p:nvSpPr>
          <p:cNvPr id="10" name="Text 8"/>
          <p:cNvSpPr/>
          <p:nvPr/>
        </p:nvSpPr>
        <p:spPr>
          <a:xfrm>
            <a:off x="548640" y="1645920"/>
            <a:ext cx="1645920" cy="256032"/>
          </a:xfrm>
          <a:prstGeom prst="rect">
            <a:avLst/>
          </a:prstGeom>
          <a:noFill/>
          <a:ln/>
        </p:spPr>
        <p:txBody>
          <a:bodyPr wrap="square" rtlCol="0" anchor="ctr"/>
          <a:lstStyle/>
          <a:p>
            <a:pPr marL="0" indent="0" algn="ctr">
              <a:buNone/>
            </a:pPr>
            <a:r>
              <a:rPr lang="en-US" sz="900" dirty="0">
                <a:solidFill>
                  <a:srgbClr val="1F1F1F"/>
                </a:solidFill>
              </a:rPr>
              <a:t>1 Dupont</a:t>
            </a:r>
            <a:endParaRPr lang="en-US" sz="900" dirty="0"/>
          </a:p>
        </p:txBody>
      </p:sp>
      <p:sp>
        <p:nvSpPr>
          <p:cNvPr id="11" name="Shape 9"/>
          <p:cNvSpPr/>
          <p:nvPr/>
        </p:nvSpPr>
        <p:spPr>
          <a:xfrm>
            <a:off x="457200" y="1920240"/>
            <a:ext cx="1828800" cy="256032"/>
          </a:xfrm>
          <a:prstGeom prst="rect">
            <a:avLst/>
          </a:prstGeom>
          <a:solidFill>
            <a:srgbClr val="FFFFFF"/>
          </a:solidFill>
          <a:ln w="12700">
            <a:solidFill>
              <a:srgbClr val="E7E6E6"/>
            </a:solidFill>
            <a:prstDash val="solid"/>
          </a:ln>
        </p:spPr>
        <p:txBody>
          <a:bodyPr/>
          <a:lstStyle/>
          <a:p>
            <a:endParaRPr lang="fr-FR"/>
          </a:p>
        </p:txBody>
      </p:sp>
      <p:sp>
        <p:nvSpPr>
          <p:cNvPr id="12" name="Text 10"/>
          <p:cNvSpPr/>
          <p:nvPr/>
        </p:nvSpPr>
        <p:spPr>
          <a:xfrm>
            <a:off x="548640" y="1920240"/>
            <a:ext cx="1645920" cy="256032"/>
          </a:xfrm>
          <a:prstGeom prst="rect">
            <a:avLst/>
          </a:prstGeom>
          <a:noFill/>
          <a:ln/>
        </p:spPr>
        <p:txBody>
          <a:bodyPr wrap="square" rtlCol="0" anchor="ctr"/>
          <a:lstStyle/>
          <a:p>
            <a:pPr marL="0" indent="0" algn="ctr">
              <a:buNone/>
            </a:pPr>
            <a:r>
              <a:rPr lang="en-US" sz="900" dirty="0">
                <a:solidFill>
                  <a:srgbClr val="1F1F1F"/>
                </a:solidFill>
              </a:rPr>
              <a:t>2 Martin</a:t>
            </a:r>
            <a:endParaRPr lang="en-US" sz="900" dirty="0"/>
          </a:p>
        </p:txBody>
      </p:sp>
      <p:sp>
        <p:nvSpPr>
          <p:cNvPr id="13" name="Text 11"/>
          <p:cNvSpPr/>
          <p:nvPr/>
        </p:nvSpPr>
        <p:spPr>
          <a:xfrm>
            <a:off x="2743200" y="1143000"/>
            <a:ext cx="2743200" cy="182880"/>
          </a:xfrm>
          <a:prstGeom prst="rect">
            <a:avLst/>
          </a:prstGeom>
          <a:noFill/>
          <a:ln/>
        </p:spPr>
        <p:txBody>
          <a:bodyPr wrap="square" rtlCol="0" anchor="ctr"/>
          <a:lstStyle/>
          <a:p>
            <a:pPr marL="0" indent="0">
              <a:buNone/>
            </a:pPr>
            <a:r>
              <a:rPr lang="en-US" sz="1100" b="1" dirty="0">
                <a:solidFill>
                  <a:srgbClr val="1F4E78"/>
                </a:solidFill>
              </a:rPr>
              <a:t>INSCRIPTION</a:t>
            </a:r>
            <a:endParaRPr lang="en-US" sz="1100" dirty="0"/>
          </a:p>
        </p:txBody>
      </p:sp>
      <p:sp>
        <p:nvSpPr>
          <p:cNvPr id="14" name="Shape 12"/>
          <p:cNvSpPr/>
          <p:nvPr/>
        </p:nvSpPr>
        <p:spPr>
          <a:xfrm>
            <a:off x="2743200" y="1371600"/>
            <a:ext cx="914400" cy="256032"/>
          </a:xfrm>
          <a:prstGeom prst="rect">
            <a:avLst/>
          </a:prstGeom>
          <a:solidFill>
            <a:srgbClr val="2E75B6"/>
          </a:solidFill>
          <a:ln w="12700">
            <a:solidFill>
              <a:srgbClr val="E7E6E6"/>
            </a:solidFill>
            <a:prstDash val="solid"/>
          </a:ln>
        </p:spPr>
        <p:txBody>
          <a:bodyPr/>
          <a:lstStyle/>
          <a:p>
            <a:endParaRPr lang="fr-FR"/>
          </a:p>
        </p:txBody>
      </p:sp>
      <p:sp>
        <p:nvSpPr>
          <p:cNvPr id="15" name="Text 13"/>
          <p:cNvSpPr/>
          <p:nvPr/>
        </p:nvSpPr>
        <p:spPr>
          <a:xfrm>
            <a:off x="2788920" y="1371600"/>
            <a:ext cx="822960" cy="256032"/>
          </a:xfrm>
          <a:prstGeom prst="rect">
            <a:avLst/>
          </a:prstGeom>
          <a:noFill/>
          <a:ln/>
        </p:spPr>
        <p:txBody>
          <a:bodyPr wrap="square" rtlCol="0" anchor="ctr"/>
          <a:lstStyle/>
          <a:p>
            <a:pPr marL="0" indent="0" algn="ctr">
              <a:buNone/>
            </a:pPr>
            <a:r>
              <a:rPr lang="en-US" sz="900" b="1" dirty="0">
                <a:solidFill>
                  <a:srgbClr val="FFFFFF"/>
                </a:solidFill>
              </a:rPr>
              <a:t>id_et</a:t>
            </a:r>
            <a:endParaRPr lang="en-US" sz="900" dirty="0"/>
          </a:p>
        </p:txBody>
      </p:sp>
      <p:sp>
        <p:nvSpPr>
          <p:cNvPr id="16" name="Shape 14"/>
          <p:cNvSpPr/>
          <p:nvPr/>
        </p:nvSpPr>
        <p:spPr>
          <a:xfrm>
            <a:off x="3657600" y="1371600"/>
            <a:ext cx="914400" cy="256032"/>
          </a:xfrm>
          <a:prstGeom prst="rect">
            <a:avLst/>
          </a:prstGeom>
          <a:solidFill>
            <a:srgbClr val="2E75B6"/>
          </a:solidFill>
          <a:ln w="12700">
            <a:solidFill>
              <a:srgbClr val="E7E6E6"/>
            </a:solidFill>
            <a:prstDash val="solid"/>
          </a:ln>
        </p:spPr>
        <p:txBody>
          <a:bodyPr/>
          <a:lstStyle/>
          <a:p>
            <a:endParaRPr lang="fr-FR"/>
          </a:p>
        </p:txBody>
      </p:sp>
      <p:sp>
        <p:nvSpPr>
          <p:cNvPr id="17" name="Text 15"/>
          <p:cNvSpPr/>
          <p:nvPr/>
        </p:nvSpPr>
        <p:spPr>
          <a:xfrm>
            <a:off x="3703320" y="1371600"/>
            <a:ext cx="822960" cy="256032"/>
          </a:xfrm>
          <a:prstGeom prst="rect">
            <a:avLst/>
          </a:prstGeom>
          <a:noFill/>
          <a:ln/>
        </p:spPr>
        <p:txBody>
          <a:bodyPr wrap="square" rtlCol="0" anchor="ctr"/>
          <a:lstStyle/>
          <a:p>
            <a:pPr marL="0" indent="0" algn="ctr">
              <a:buNone/>
            </a:pPr>
            <a:r>
              <a:rPr lang="en-US" sz="900" b="1" dirty="0">
                <a:solidFill>
                  <a:srgbClr val="FFFFFF"/>
                </a:solidFill>
              </a:rPr>
              <a:t>id_cours</a:t>
            </a:r>
            <a:endParaRPr lang="en-US" sz="900" dirty="0"/>
          </a:p>
        </p:txBody>
      </p:sp>
      <p:sp>
        <p:nvSpPr>
          <p:cNvPr id="18" name="Shape 16"/>
          <p:cNvSpPr/>
          <p:nvPr/>
        </p:nvSpPr>
        <p:spPr>
          <a:xfrm>
            <a:off x="4572000" y="1371600"/>
            <a:ext cx="914400" cy="256032"/>
          </a:xfrm>
          <a:prstGeom prst="rect">
            <a:avLst/>
          </a:prstGeom>
          <a:solidFill>
            <a:srgbClr val="2E75B6"/>
          </a:solidFill>
          <a:ln w="12700">
            <a:solidFill>
              <a:srgbClr val="E7E6E6"/>
            </a:solidFill>
            <a:prstDash val="solid"/>
          </a:ln>
        </p:spPr>
        <p:txBody>
          <a:bodyPr/>
          <a:lstStyle/>
          <a:p>
            <a:endParaRPr lang="fr-FR"/>
          </a:p>
        </p:txBody>
      </p:sp>
      <p:sp>
        <p:nvSpPr>
          <p:cNvPr id="19" name="Text 17"/>
          <p:cNvSpPr/>
          <p:nvPr/>
        </p:nvSpPr>
        <p:spPr>
          <a:xfrm>
            <a:off x="4617720" y="1371600"/>
            <a:ext cx="822960" cy="256032"/>
          </a:xfrm>
          <a:prstGeom prst="rect">
            <a:avLst/>
          </a:prstGeom>
          <a:noFill/>
          <a:ln/>
        </p:spPr>
        <p:txBody>
          <a:bodyPr wrap="square" rtlCol="0" anchor="ctr"/>
          <a:lstStyle/>
          <a:p>
            <a:pPr marL="0" indent="0" algn="ctr">
              <a:buNone/>
            </a:pPr>
            <a:r>
              <a:rPr lang="en-US" sz="900" b="1" dirty="0">
                <a:solidFill>
                  <a:srgbClr val="FFFFFF"/>
                </a:solidFill>
              </a:rPr>
              <a:t>note</a:t>
            </a:r>
            <a:endParaRPr lang="en-US" sz="900" dirty="0"/>
          </a:p>
        </p:txBody>
      </p:sp>
      <p:sp>
        <p:nvSpPr>
          <p:cNvPr id="20" name="Shape 18"/>
          <p:cNvSpPr/>
          <p:nvPr/>
        </p:nvSpPr>
        <p:spPr>
          <a:xfrm>
            <a:off x="2743200" y="1645920"/>
            <a:ext cx="914400" cy="256032"/>
          </a:xfrm>
          <a:prstGeom prst="rect">
            <a:avLst/>
          </a:prstGeom>
          <a:solidFill>
            <a:srgbClr val="FFFFFF"/>
          </a:solidFill>
          <a:ln w="12700">
            <a:solidFill>
              <a:srgbClr val="E7E6E6"/>
            </a:solidFill>
            <a:prstDash val="solid"/>
          </a:ln>
        </p:spPr>
        <p:txBody>
          <a:bodyPr/>
          <a:lstStyle/>
          <a:p>
            <a:endParaRPr lang="fr-FR"/>
          </a:p>
        </p:txBody>
      </p:sp>
      <p:sp>
        <p:nvSpPr>
          <p:cNvPr id="21" name="Text 19"/>
          <p:cNvSpPr/>
          <p:nvPr/>
        </p:nvSpPr>
        <p:spPr>
          <a:xfrm>
            <a:off x="2788920" y="1645920"/>
            <a:ext cx="822960" cy="256032"/>
          </a:xfrm>
          <a:prstGeom prst="rect">
            <a:avLst/>
          </a:prstGeom>
          <a:noFill/>
          <a:ln/>
        </p:spPr>
        <p:txBody>
          <a:bodyPr wrap="square" rtlCol="0" anchor="ctr"/>
          <a:lstStyle/>
          <a:p>
            <a:pPr marL="0" indent="0" algn="ctr">
              <a:buNone/>
            </a:pPr>
            <a:r>
              <a:rPr lang="en-US" sz="900" dirty="0">
                <a:solidFill>
                  <a:srgbClr val="1F1F1F"/>
                </a:solidFill>
              </a:rPr>
              <a:t>1</a:t>
            </a:r>
            <a:endParaRPr lang="en-US" sz="900" dirty="0"/>
          </a:p>
        </p:txBody>
      </p:sp>
      <p:sp>
        <p:nvSpPr>
          <p:cNvPr id="22" name="Shape 20"/>
          <p:cNvSpPr/>
          <p:nvPr/>
        </p:nvSpPr>
        <p:spPr>
          <a:xfrm>
            <a:off x="3657600" y="1645920"/>
            <a:ext cx="914400" cy="256032"/>
          </a:xfrm>
          <a:prstGeom prst="rect">
            <a:avLst/>
          </a:prstGeom>
          <a:solidFill>
            <a:srgbClr val="FFFFFF"/>
          </a:solidFill>
          <a:ln w="12700">
            <a:solidFill>
              <a:srgbClr val="E7E6E6"/>
            </a:solidFill>
            <a:prstDash val="solid"/>
          </a:ln>
        </p:spPr>
        <p:txBody>
          <a:bodyPr/>
          <a:lstStyle/>
          <a:p>
            <a:endParaRPr lang="fr-FR"/>
          </a:p>
        </p:txBody>
      </p:sp>
      <p:sp>
        <p:nvSpPr>
          <p:cNvPr id="23" name="Text 21"/>
          <p:cNvSpPr/>
          <p:nvPr/>
        </p:nvSpPr>
        <p:spPr>
          <a:xfrm>
            <a:off x="3703320" y="1645920"/>
            <a:ext cx="822960" cy="256032"/>
          </a:xfrm>
          <a:prstGeom prst="rect">
            <a:avLst/>
          </a:prstGeom>
          <a:noFill/>
          <a:ln/>
        </p:spPr>
        <p:txBody>
          <a:bodyPr wrap="square" rtlCol="0" anchor="ctr"/>
          <a:lstStyle/>
          <a:p>
            <a:pPr marL="0" indent="0" algn="ctr">
              <a:buNone/>
            </a:pPr>
            <a:r>
              <a:rPr lang="en-US" sz="900" dirty="0">
                <a:solidFill>
                  <a:srgbClr val="1F1F1F"/>
                </a:solidFill>
              </a:rPr>
              <a:t>101</a:t>
            </a:r>
            <a:endParaRPr lang="en-US" sz="900" dirty="0"/>
          </a:p>
        </p:txBody>
      </p:sp>
      <p:sp>
        <p:nvSpPr>
          <p:cNvPr id="24" name="Shape 22"/>
          <p:cNvSpPr/>
          <p:nvPr/>
        </p:nvSpPr>
        <p:spPr>
          <a:xfrm>
            <a:off x="4572000" y="1645920"/>
            <a:ext cx="914400" cy="256032"/>
          </a:xfrm>
          <a:prstGeom prst="rect">
            <a:avLst/>
          </a:prstGeom>
          <a:solidFill>
            <a:srgbClr val="FFFFFF"/>
          </a:solidFill>
          <a:ln w="12700">
            <a:solidFill>
              <a:srgbClr val="E7E6E6"/>
            </a:solidFill>
            <a:prstDash val="solid"/>
          </a:ln>
        </p:spPr>
        <p:txBody>
          <a:bodyPr/>
          <a:lstStyle/>
          <a:p>
            <a:endParaRPr lang="fr-FR"/>
          </a:p>
        </p:txBody>
      </p:sp>
      <p:sp>
        <p:nvSpPr>
          <p:cNvPr id="25" name="Text 23"/>
          <p:cNvSpPr/>
          <p:nvPr/>
        </p:nvSpPr>
        <p:spPr>
          <a:xfrm>
            <a:off x="4617720" y="1645920"/>
            <a:ext cx="822960" cy="256032"/>
          </a:xfrm>
          <a:prstGeom prst="rect">
            <a:avLst/>
          </a:prstGeom>
          <a:noFill/>
          <a:ln/>
        </p:spPr>
        <p:txBody>
          <a:bodyPr wrap="square" rtlCol="0" anchor="ctr"/>
          <a:lstStyle/>
          <a:p>
            <a:pPr marL="0" indent="0" algn="ctr">
              <a:buNone/>
            </a:pPr>
            <a:r>
              <a:rPr lang="en-US" sz="900" dirty="0">
                <a:solidFill>
                  <a:srgbClr val="1F1F1F"/>
                </a:solidFill>
              </a:rPr>
              <a:t>85</a:t>
            </a:r>
            <a:endParaRPr lang="en-US" sz="900" dirty="0"/>
          </a:p>
        </p:txBody>
      </p:sp>
      <p:sp>
        <p:nvSpPr>
          <p:cNvPr id="26" name="Shape 24"/>
          <p:cNvSpPr/>
          <p:nvPr/>
        </p:nvSpPr>
        <p:spPr>
          <a:xfrm>
            <a:off x="2743200" y="1920240"/>
            <a:ext cx="914400" cy="256032"/>
          </a:xfrm>
          <a:prstGeom prst="rect">
            <a:avLst/>
          </a:prstGeom>
          <a:solidFill>
            <a:srgbClr val="FFFFFF"/>
          </a:solidFill>
          <a:ln w="12700">
            <a:solidFill>
              <a:srgbClr val="E7E6E6"/>
            </a:solidFill>
            <a:prstDash val="solid"/>
          </a:ln>
        </p:spPr>
        <p:txBody>
          <a:bodyPr/>
          <a:lstStyle/>
          <a:p>
            <a:endParaRPr lang="fr-FR"/>
          </a:p>
        </p:txBody>
      </p:sp>
      <p:sp>
        <p:nvSpPr>
          <p:cNvPr id="27" name="Text 25"/>
          <p:cNvSpPr/>
          <p:nvPr/>
        </p:nvSpPr>
        <p:spPr>
          <a:xfrm>
            <a:off x="2788920" y="1920240"/>
            <a:ext cx="822960" cy="256032"/>
          </a:xfrm>
          <a:prstGeom prst="rect">
            <a:avLst/>
          </a:prstGeom>
          <a:noFill/>
          <a:ln/>
        </p:spPr>
        <p:txBody>
          <a:bodyPr wrap="square" rtlCol="0" anchor="ctr"/>
          <a:lstStyle/>
          <a:p>
            <a:pPr marL="0" indent="0" algn="ctr">
              <a:buNone/>
            </a:pPr>
            <a:r>
              <a:rPr lang="en-US" sz="900" dirty="0">
                <a:solidFill>
                  <a:srgbClr val="1F1F1F"/>
                </a:solidFill>
              </a:rPr>
              <a:t>1</a:t>
            </a:r>
            <a:endParaRPr lang="en-US" sz="900" dirty="0"/>
          </a:p>
        </p:txBody>
      </p:sp>
      <p:sp>
        <p:nvSpPr>
          <p:cNvPr id="28" name="Shape 26"/>
          <p:cNvSpPr/>
          <p:nvPr/>
        </p:nvSpPr>
        <p:spPr>
          <a:xfrm>
            <a:off x="3657600" y="1920240"/>
            <a:ext cx="914400" cy="256032"/>
          </a:xfrm>
          <a:prstGeom prst="rect">
            <a:avLst/>
          </a:prstGeom>
          <a:solidFill>
            <a:srgbClr val="FFFFFF"/>
          </a:solidFill>
          <a:ln w="12700">
            <a:solidFill>
              <a:srgbClr val="E7E6E6"/>
            </a:solidFill>
            <a:prstDash val="solid"/>
          </a:ln>
        </p:spPr>
        <p:txBody>
          <a:bodyPr/>
          <a:lstStyle/>
          <a:p>
            <a:endParaRPr lang="fr-FR"/>
          </a:p>
        </p:txBody>
      </p:sp>
      <p:sp>
        <p:nvSpPr>
          <p:cNvPr id="29" name="Text 27"/>
          <p:cNvSpPr/>
          <p:nvPr/>
        </p:nvSpPr>
        <p:spPr>
          <a:xfrm>
            <a:off x="3703320" y="1920240"/>
            <a:ext cx="822960" cy="256032"/>
          </a:xfrm>
          <a:prstGeom prst="rect">
            <a:avLst/>
          </a:prstGeom>
          <a:noFill/>
          <a:ln/>
        </p:spPr>
        <p:txBody>
          <a:bodyPr wrap="square" rtlCol="0" anchor="ctr"/>
          <a:lstStyle/>
          <a:p>
            <a:pPr marL="0" indent="0" algn="ctr">
              <a:buNone/>
            </a:pPr>
            <a:r>
              <a:rPr lang="en-US" sz="900" dirty="0">
                <a:solidFill>
                  <a:srgbClr val="1F1F1F"/>
                </a:solidFill>
              </a:rPr>
              <a:t>102</a:t>
            </a:r>
            <a:endParaRPr lang="en-US" sz="900" dirty="0"/>
          </a:p>
        </p:txBody>
      </p:sp>
      <p:sp>
        <p:nvSpPr>
          <p:cNvPr id="30" name="Shape 28"/>
          <p:cNvSpPr/>
          <p:nvPr/>
        </p:nvSpPr>
        <p:spPr>
          <a:xfrm>
            <a:off x="4572000" y="1920240"/>
            <a:ext cx="914400" cy="256032"/>
          </a:xfrm>
          <a:prstGeom prst="rect">
            <a:avLst/>
          </a:prstGeom>
          <a:solidFill>
            <a:srgbClr val="FFFFFF"/>
          </a:solidFill>
          <a:ln w="12700">
            <a:solidFill>
              <a:srgbClr val="E7E6E6"/>
            </a:solidFill>
            <a:prstDash val="solid"/>
          </a:ln>
        </p:spPr>
        <p:txBody>
          <a:bodyPr/>
          <a:lstStyle/>
          <a:p>
            <a:endParaRPr lang="fr-FR"/>
          </a:p>
        </p:txBody>
      </p:sp>
      <p:sp>
        <p:nvSpPr>
          <p:cNvPr id="31" name="Text 29"/>
          <p:cNvSpPr/>
          <p:nvPr/>
        </p:nvSpPr>
        <p:spPr>
          <a:xfrm>
            <a:off x="4617720" y="1920240"/>
            <a:ext cx="822960" cy="256032"/>
          </a:xfrm>
          <a:prstGeom prst="rect">
            <a:avLst/>
          </a:prstGeom>
          <a:noFill/>
          <a:ln/>
        </p:spPr>
        <p:txBody>
          <a:bodyPr wrap="square" rtlCol="0" anchor="ctr"/>
          <a:lstStyle/>
          <a:p>
            <a:pPr marL="0" indent="0" algn="ctr">
              <a:buNone/>
            </a:pPr>
            <a:r>
              <a:rPr lang="en-US" sz="900" dirty="0">
                <a:solidFill>
                  <a:srgbClr val="1F1F1F"/>
                </a:solidFill>
              </a:rPr>
              <a:t>90</a:t>
            </a:r>
            <a:endParaRPr lang="en-US" sz="900" dirty="0"/>
          </a:p>
        </p:txBody>
      </p:sp>
      <p:sp>
        <p:nvSpPr>
          <p:cNvPr id="32" name="Shape 30"/>
          <p:cNvSpPr/>
          <p:nvPr/>
        </p:nvSpPr>
        <p:spPr>
          <a:xfrm>
            <a:off x="2743200" y="2194560"/>
            <a:ext cx="914400" cy="256032"/>
          </a:xfrm>
          <a:prstGeom prst="rect">
            <a:avLst/>
          </a:prstGeom>
          <a:solidFill>
            <a:srgbClr val="FFFFFF"/>
          </a:solidFill>
          <a:ln w="12700">
            <a:solidFill>
              <a:srgbClr val="E7E6E6"/>
            </a:solidFill>
            <a:prstDash val="solid"/>
          </a:ln>
        </p:spPr>
        <p:txBody>
          <a:bodyPr/>
          <a:lstStyle/>
          <a:p>
            <a:endParaRPr lang="fr-FR"/>
          </a:p>
        </p:txBody>
      </p:sp>
      <p:sp>
        <p:nvSpPr>
          <p:cNvPr id="33" name="Text 31"/>
          <p:cNvSpPr/>
          <p:nvPr/>
        </p:nvSpPr>
        <p:spPr>
          <a:xfrm>
            <a:off x="2788920" y="2194560"/>
            <a:ext cx="822960" cy="256032"/>
          </a:xfrm>
          <a:prstGeom prst="rect">
            <a:avLst/>
          </a:prstGeom>
          <a:noFill/>
          <a:ln/>
        </p:spPr>
        <p:txBody>
          <a:bodyPr wrap="square" rtlCol="0" anchor="ctr"/>
          <a:lstStyle/>
          <a:p>
            <a:pPr marL="0" indent="0" algn="ctr">
              <a:buNone/>
            </a:pPr>
            <a:r>
              <a:rPr lang="en-US" sz="900" dirty="0">
                <a:solidFill>
                  <a:srgbClr val="1F1F1F"/>
                </a:solidFill>
              </a:rPr>
              <a:t>2</a:t>
            </a:r>
            <a:endParaRPr lang="en-US" sz="900" dirty="0"/>
          </a:p>
        </p:txBody>
      </p:sp>
      <p:sp>
        <p:nvSpPr>
          <p:cNvPr id="34" name="Shape 32"/>
          <p:cNvSpPr/>
          <p:nvPr/>
        </p:nvSpPr>
        <p:spPr>
          <a:xfrm>
            <a:off x="3657600" y="2194560"/>
            <a:ext cx="914400" cy="256032"/>
          </a:xfrm>
          <a:prstGeom prst="rect">
            <a:avLst/>
          </a:prstGeom>
          <a:solidFill>
            <a:srgbClr val="FFFFFF"/>
          </a:solidFill>
          <a:ln w="12700">
            <a:solidFill>
              <a:srgbClr val="E7E6E6"/>
            </a:solidFill>
            <a:prstDash val="solid"/>
          </a:ln>
        </p:spPr>
        <p:txBody>
          <a:bodyPr/>
          <a:lstStyle/>
          <a:p>
            <a:endParaRPr lang="fr-FR"/>
          </a:p>
        </p:txBody>
      </p:sp>
      <p:sp>
        <p:nvSpPr>
          <p:cNvPr id="35" name="Text 33"/>
          <p:cNvSpPr/>
          <p:nvPr/>
        </p:nvSpPr>
        <p:spPr>
          <a:xfrm>
            <a:off x="3703320" y="2194560"/>
            <a:ext cx="822960" cy="256032"/>
          </a:xfrm>
          <a:prstGeom prst="rect">
            <a:avLst/>
          </a:prstGeom>
          <a:noFill/>
          <a:ln/>
        </p:spPr>
        <p:txBody>
          <a:bodyPr wrap="square" rtlCol="0" anchor="ctr"/>
          <a:lstStyle/>
          <a:p>
            <a:pPr marL="0" indent="0" algn="ctr">
              <a:buNone/>
            </a:pPr>
            <a:r>
              <a:rPr lang="en-US" sz="900" dirty="0">
                <a:solidFill>
                  <a:srgbClr val="1F1F1F"/>
                </a:solidFill>
              </a:rPr>
              <a:t>101</a:t>
            </a:r>
            <a:endParaRPr lang="en-US" sz="900" dirty="0"/>
          </a:p>
        </p:txBody>
      </p:sp>
      <p:sp>
        <p:nvSpPr>
          <p:cNvPr id="36" name="Shape 34"/>
          <p:cNvSpPr/>
          <p:nvPr/>
        </p:nvSpPr>
        <p:spPr>
          <a:xfrm>
            <a:off x="4572000" y="2194560"/>
            <a:ext cx="914400" cy="256032"/>
          </a:xfrm>
          <a:prstGeom prst="rect">
            <a:avLst/>
          </a:prstGeom>
          <a:solidFill>
            <a:srgbClr val="FFFFFF"/>
          </a:solidFill>
          <a:ln w="12700">
            <a:solidFill>
              <a:srgbClr val="E7E6E6"/>
            </a:solidFill>
            <a:prstDash val="solid"/>
          </a:ln>
        </p:spPr>
        <p:txBody>
          <a:bodyPr/>
          <a:lstStyle/>
          <a:p>
            <a:endParaRPr lang="fr-FR"/>
          </a:p>
        </p:txBody>
      </p:sp>
      <p:sp>
        <p:nvSpPr>
          <p:cNvPr id="37" name="Text 35"/>
          <p:cNvSpPr/>
          <p:nvPr/>
        </p:nvSpPr>
        <p:spPr>
          <a:xfrm>
            <a:off x="4617720" y="2194560"/>
            <a:ext cx="822960" cy="256032"/>
          </a:xfrm>
          <a:prstGeom prst="rect">
            <a:avLst/>
          </a:prstGeom>
          <a:noFill/>
          <a:ln/>
        </p:spPr>
        <p:txBody>
          <a:bodyPr wrap="square" rtlCol="0" anchor="ctr"/>
          <a:lstStyle/>
          <a:p>
            <a:pPr marL="0" indent="0" algn="ctr">
              <a:buNone/>
            </a:pPr>
            <a:r>
              <a:rPr lang="en-US" sz="900" dirty="0">
                <a:solidFill>
                  <a:srgbClr val="1F1F1F"/>
                </a:solidFill>
              </a:rPr>
              <a:t>78</a:t>
            </a:r>
            <a:endParaRPr lang="en-US" sz="900" dirty="0"/>
          </a:p>
        </p:txBody>
      </p:sp>
      <p:sp>
        <p:nvSpPr>
          <p:cNvPr id="38" name="Shape 36"/>
          <p:cNvSpPr/>
          <p:nvPr/>
        </p:nvSpPr>
        <p:spPr>
          <a:xfrm>
            <a:off x="2468880" y="1645920"/>
            <a:ext cx="182880" cy="0"/>
          </a:xfrm>
          <a:prstGeom prst="line">
            <a:avLst/>
          </a:prstGeom>
          <a:noFill/>
          <a:ln w="25400">
            <a:solidFill>
              <a:srgbClr val="F79646"/>
            </a:solidFill>
            <a:prstDash val="solid"/>
          </a:ln>
        </p:spPr>
        <p:txBody>
          <a:bodyPr/>
          <a:lstStyle/>
          <a:p>
            <a:endParaRPr lang="fr-FR"/>
          </a:p>
        </p:txBody>
      </p:sp>
      <p:sp>
        <p:nvSpPr>
          <p:cNvPr id="39" name="Text 37"/>
          <p:cNvSpPr/>
          <p:nvPr/>
        </p:nvSpPr>
        <p:spPr>
          <a:xfrm>
            <a:off x="2194560" y="1508760"/>
            <a:ext cx="1188720" cy="137160"/>
          </a:xfrm>
          <a:prstGeom prst="rect">
            <a:avLst/>
          </a:prstGeom>
          <a:noFill/>
          <a:ln/>
        </p:spPr>
        <p:txBody>
          <a:bodyPr wrap="square" rtlCol="0" anchor="ctr"/>
          <a:lstStyle/>
          <a:p>
            <a:pPr marL="0" indent="0" algn="ctr">
              <a:buNone/>
            </a:pPr>
            <a:r>
              <a:rPr lang="en-US" sz="800" b="1" dirty="0">
                <a:solidFill>
                  <a:srgbClr val="F79646"/>
                </a:solidFill>
              </a:rPr>
              <a:t>Lien : INSCRIPTION.id_et → ETUDIANT.id</a:t>
            </a:r>
            <a:endParaRPr lang="en-US" sz="800" dirty="0"/>
          </a:p>
        </p:txBody>
      </p:sp>
      <p:sp>
        <p:nvSpPr>
          <p:cNvPr id="40" name="Text 38"/>
          <p:cNvSpPr/>
          <p:nvPr/>
        </p:nvSpPr>
        <p:spPr>
          <a:xfrm>
            <a:off x="457200" y="2743200"/>
            <a:ext cx="8229600" cy="182880"/>
          </a:xfrm>
          <a:prstGeom prst="rect">
            <a:avLst/>
          </a:prstGeom>
          <a:noFill/>
          <a:ln/>
        </p:spPr>
        <p:txBody>
          <a:bodyPr wrap="square" rtlCol="0" anchor="ctr"/>
          <a:lstStyle/>
          <a:p>
            <a:pPr marL="0" indent="0">
              <a:buNone/>
            </a:pPr>
            <a:r>
              <a:rPr lang="en-US" sz="1200" b="1" dirty="0">
                <a:solidFill>
                  <a:srgbClr val="1F4E78"/>
                </a:solidFill>
              </a:rPr>
              <a:t>Types de jointures</a:t>
            </a:r>
            <a:endParaRPr lang="en-US" sz="1200" dirty="0"/>
          </a:p>
        </p:txBody>
      </p:sp>
      <p:sp>
        <p:nvSpPr>
          <p:cNvPr id="41" name="Shape 39"/>
          <p:cNvSpPr/>
          <p:nvPr/>
        </p:nvSpPr>
        <p:spPr>
          <a:xfrm>
            <a:off x="457200" y="3017520"/>
            <a:ext cx="8229600" cy="384048"/>
          </a:xfrm>
          <a:prstGeom prst="rect">
            <a:avLst/>
          </a:prstGeom>
          <a:solidFill>
            <a:srgbClr val="F79646"/>
          </a:solidFill>
          <a:ln/>
        </p:spPr>
        <p:txBody>
          <a:bodyPr/>
          <a:lstStyle/>
          <a:p>
            <a:endParaRPr lang="fr-FR"/>
          </a:p>
        </p:txBody>
      </p:sp>
      <p:sp>
        <p:nvSpPr>
          <p:cNvPr id="42" name="Text 40"/>
          <p:cNvSpPr/>
          <p:nvPr/>
        </p:nvSpPr>
        <p:spPr>
          <a:xfrm>
            <a:off x="640080" y="3090672"/>
            <a:ext cx="2286000" cy="237744"/>
          </a:xfrm>
          <a:prstGeom prst="rect">
            <a:avLst/>
          </a:prstGeom>
          <a:noFill/>
          <a:ln/>
        </p:spPr>
        <p:txBody>
          <a:bodyPr wrap="square" rtlCol="0" anchor="ctr"/>
          <a:lstStyle/>
          <a:p>
            <a:pPr marL="0" indent="0" algn="l">
              <a:buNone/>
            </a:pPr>
            <a:r>
              <a:rPr lang="en-US" sz="1000" b="1" dirty="0">
                <a:solidFill>
                  <a:srgbClr val="FFFFFF"/>
                </a:solidFill>
              </a:rPr>
              <a:t>INNER JOIN</a:t>
            </a:r>
            <a:endParaRPr lang="en-US" sz="1000" dirty="0"/>
          </a:p>
        </p:txBody>
      </p:sp>
      <p:sp>
        <p:nvSpPr>
          <p:cNvPr id="43" name="Text 41"/>
          <p:cNvSpPr/>
          <p:nvPr/>
        </p:nvSpPr>
        <p:spPr>
          <a:xfrm>
            <a:off x="3108960" y="3090672"/>
            <a:ext cx="5303520" cy="237744"/>
          </a:xfrm>
          <a:prstGeom prst="rect">
            <a:avLst/>
          </a:prstGeom>
          <a:noFill/>
          <a:ln/>
        </p:spPr>
        <p:txBody>
          <a:bodyPr wrap="square" rtlCol="0" anchor="ctr"/>
          <a:lstStyle/>
          <a:p>
            <a:pPr marL="0" indent="0" algn="l">
              <a:buNone/>
            </a:pPr>
            <a:r>
              <a:rPr lang="en-US" sz="1000" dirty="0">
                <a:solidFill>
                  <a:srgbClr val="FFFFFF"/>
                </a:solidFill>
              </a:rPr>
              <a:t>Seulement les lignes correspondantes</a:t>
            </a:r>
            <a:endParaRPr lang="en-US" sz="1000" dirty="0"/>
          </a:p>
        </p:txBody>
      </p:sp>
      <p:sp>
        <p:nvSpPr>
          <p:cNvPr id="44" name="Shape 42"/>
          <p:cNvSpPr/>
          <p:nvPr/>
        </p:nvSpPr>
        <p:spPr>
          <a:xfrm>
            <a:off x="457200" y="3429000"/>
            <a:ext cx="8229600" cy="384048"/>
          </a:xfrm>
          <a:prstGeom prst="rect">
            <a:avLst/>
          </a:prstGeom>
          <a:solidFill>
            <a:srgbClr val="1F4E78"/>
          </a:solidFill>
          <a:ln/>
        </p:spPr>
        <p:txBody>
          <a:bodyPr/>
          <a:lstStyle/>
          <a:p>
            <a:endParaRPr lang="fr-FR"/>
          </a:p>
        </p:txBody>
      </p:sp>
      <p:sp>
        <p:nvSpPr>
          <p:cNvPr id="45" name="Text 43"/>
          <p:cNvSpPr/>
          <p:nvPr/>
        </p:nvSpPr>
        <p:spPr>
          <a:xfrm>
            <a:off x="640080" y="3502152"/>
            <a:ext cx="2286000" cy="237744"/>
          </a:xfrm>
          <a:prstGeom prst="rect">
            <a:avLst/>
          </a:prstGeom>
          <a:noFill/>
          <a:ln/>
        </p:spPr>
        <p:txBody>
          <a:bodyPr wrap="square" rtlCol="0" anchor="ctr"/>
          <a:lstStyle/>
          <a:p>
            <a:pPr marL="0" indent="0" algn="l">
              <a:buNone/>
            </a:pPr>
            <a:r>
              <a:rPr lang="en-US" sz="1000" b="1" dirty="0">
                <a:solidFill>
                  <a:srgbClr val="FFFFFF"/>
                </a:solidFill>
              </a:rPr>
              <a:t>LEFT JOIN</a:t>
            </a:r>
            <a:endParaRPr lang="en-US" sz="1000" dirty="0"/>
          </a:p>
        </p:txBody>
      </p:sp>
      <p:sp>
        <p:nvSpPr>
          <p:cNvPr id="46" name="Text 44"/>
          <p:cNvSpPr/>
          <p:nvPr/>
        </p:nvSpPr>
        <p:spPr>
          <a:xfrm>
            <a:off x="3108960" y="3502152"/>
            <a:ext cx="5303520" cy="237744"/>
          </a:xfrm>
          <a:prstGeom prst="rect">
            <a:avLst/>
          </a:prstGeom>
          <a:noFill/>
          <a:ln/>
        </p:spPr>
        <p:txBody>
          <a:bodyPr wrap="square" rtlCol="0" anchor="ctr"/>
          <a:lstStyle/>
          <a:p>
            <a:pPr marL="0" indent="0" algn="l">
              <a:buNone/>
            </a:pPr>
            <a:r>
              <a:rPr lang="en-US" sz="1000" dirty="0">
                <a:solidFill>
                  <a:srgbClr val="FFFFFF"/>
                </a:solidFill>
              </a:rPr>
              <a:t>Toutes les lignes de gauche + correspondances</a:t>
            </a:r>
            <a:endParaRPr lang="en-US" sz="1000" dirty="0"/>
          </a:p>
        </p:txBody>
      </p:sp>
      <p:sp>
        <p:nvSpPr>
          <p:cNvPr id="47" name="Shape 45"/>
          <p:cNvSpPr/>
          <p:nvPr/>
        </p:nvSpPr>
        <p:spPr>
          <a:xfrm>
            <a:off x="457200" y="3840480"/>
            <a:ext cx="8229600" cy="384048"/>
          </a:xfrm>
          <a:prstGeom prst="rect">
            <a:avLst/>
          </a:prstGeom>
          <a:solidFill>
            <a:srgbClr val="F79646"/>
          </a:solidFill>
          <a:ln/>
        </p:spPr>
        <p:txBody>
          <a:bodyPr/>
          <a:lstStyle/>
          <a:p>
            <a:endParaRPr lang="fr-FR"/>
          </a:p>
        </p:txBody>
      </p:sp>
      <p:sp>
        <p:nvSpPr>
          <p:cNvPr id="48" name="Text 46"/>
          <p:cNvSpPr/>
          <p:nvPr/>
        </p:nvSpPr>
        <p:spPr>
          <a:xfrm>
            <a:off x="640080" y="3913632"/>
            <a:ext cx="2286000" cy="237744"/>
          </a:xfrm>
          <a:prstGeom prst="rect">
            <a:avLst/>
          </a:prstGeom>
          <a:noFill/>
          <a:ln/>
        </p:spPr>
        <p:txBody>
          <a:bodyPr wrap="square" rtlCol="0" anchor="ctr"/>
          <a:lstStyle/>
          <a:p>
            <a:pPr marL="0" indent="0" algn="l">
              <a:buNone/>
            </a:pPr>
            <a:r>
              <a:rPr lang="en-US" sz="1000" b="1" dirty="0">
                <a:solidFill>
                  <a:srgbClr val="FFFFFF"/>
                </a:solidFill>
              </a:rPr>
              <a:t>RIGHT JOIN</a:t>
            </a:r>
            <a:endParaRPr lang="en-US" sz="1000" dirty="0"/>
          </a:p>
        </p:txBody>
      </p:sp>
      <p:sp>
        <p:nvSpPr>
          <p:cNvPr id="49" name="Text 47"/>
          <p:cNvSpPr/>
          <p:nvPr/>
        </p:nvSpPr>
        <p:spPr>
          <a:xfrm>
            <a:off x="3108960" y="3913632"/>
            <a:ext cx="5303520" cy="237744"/>
          </a:xfrm>
          <a:prstGeom prst="rect">
            <a:avLst/>
          </a:prstGeom>
          <a:noFill/>
          <a:ln/>
        </p:spPr>
        <p:txBody>
          <a:bodyPr wrap="square" rtlCol="0" anchor="ctr"/>
          <a:lstStyle/>
          <a:p>
            <a:pPr marL="0" indent="0" algn="l">
              <a:buNone/>
            </a:pPr>
            <a:r>
              <a:rPr lang="en-US" sz="1000" dirty="0">
                <a:solidFill>
                  <a:srgbClr val="FFFFFF"/>
                </a:solidFill>
              </a:rPr>
              <a:t>Toutes les lignes de droite + correspondances</a:t>
            </a:r>
            <a:endParaRPr lang="en-US" sz="1000" dirty="0"/>
          </a:p>
        </p:txBody>
      </p:sp>
      <p:sp>
        <p:nvSpPr>
          <p:cNvPr id="50" name="Shape 48"/>
          <p:cNvSpPr/>
          <p:nvPr/>
        </p:nvSpPr>
        <p:spPr>
          <a:xfrm>
            <a:off x="457200" y="4251960"/>
            <a:ext cx="8229600" cy="384048"/>
          </a:xfrm>
          <a:prstGeom prst="rect">
            <a:avLst/>
          </a:prstGeom>
          <a:solidFill>
            <a:srgbClr val="1F4E78"/>
          </a:solidFill>
          <a:ln/>
        </p:spPr>
        <p:txBody>
          <a:bodyPr/>
          <a:lstStyle/>
          <a:p>
            <a:endParaRPr lang="fr-FR"/>
          </a:p>
        </p:txBody>
      </p:sp>
      <p:sp>
        <p:nvSpPr>
          <p:cNvPr id="51" name="Text 49"/>
          <p:cNvSpPr/>
          <p:nvPr/>
        </p:nvSpPr>
        <p:spPr>
          <a:xfrm>
            <a:off x="640080" y="4325112"/>
            <a:ext cx="2286000" cy="237744"/>
          </a:xfrm>
          <a:prstGeom prst="rect">
            <a:avLst/>
          </a:prstGeom>
          <a:noFill/>
          <a:ln/>
        </p:spPr>
        <p:txBody>
          <a:bodyPr wrap="square" rtlCol="0" anchor="ctr"/>
          <a:lstStyle/>
          <a:p>
            <a:pPr marL="0" indent="0" algn="l">
              <a:buNone/>
            </a:pPr>
            <a:r>
              <a:rPr lang="en-US" sz="1000" b="1" dirty="0">
                <a:solidFill>
                  <a:srgbClr val="FFFFFF"/>
                </a:solidFill>
              </a:rPr>
              <a:t>FULL JOIN</a:t>
            </a:r>
            <a:endParaRPr lang="en-US" sz="1000" dirty="0"/>
          </a:p>
        </p:txBody>
      </p:sp>
      <p:sp>
        <p:nvSpPr>
          <p:cNvPr id="52" name="Text 50"/>
          <p:cNvSpPr/>
          <p:nvPr/>
        </p:nvSpPr>
        <p:spPr>
          <a:xfrm>
            <a:off x="3108960" y="4325112"/>
            <a:ext cx="5303520" cy="237744"/>
          </a:xfrm>
          <a:prstGeom prst="rect">
            <a:avLst/>
          </a:prstGeom>
          <a:noFill/>
          <a:ln/>
        </p:spPr>
        <p:txBody>
          <a:bodyPr wrap="square" rtlCol="0" anchor="ctr"/>
          <a:lstStyle/>
          <a:p>
            <a:pPr marL="0" indent="0" algn="l">
              <a:buNone/>
            </a:pPr>
            <a:r>
              <a:rPr lang="en-US" sz="1000" dirty="0">
                <a:solidFill>
                  <a:srgbClr val="FFFFFF"/>
                </a:solidFill>
              </a:rPr>
              <a:t>Toutes les lignes des deux côtés</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Requête multi-tables : exemple complet</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35/40</a:t>
            </a:r>
            <a:endParaRPr lang="en-US" sz="1000" dirty="0"/>
          </a:p>
        </p:txBody>
      </p:sp>
      <p:sp>
        <p:nvSpPr>
          <p:cNvPr id="5" name="Text 3"/>
          <p:cNvSpPr/>
          <p:nvPr/>
        </p:nvSpPr>
        <p:spPr>
          <a:xfrm>
            <a:off x="457200" y="822960"/>
            <a:ext cx="8229600" cy="365760"/>
          </a:xfrm>
          <a:prstGeom prst="rect">
            <a:avLst/>
          </a:prstGeom>
          <a:noFill/>
          <a:ln/>
        </p:spPr>
        <p:txBody>
          <a:bodyPr wrap="square" rtlCol="0" anchor="ctr"/>
          <a:lstStyle/>
          <a:p>
            <a:pPr marL="0" indent="0">
              <a:buNone/>
            </a:pPr>
            <a:r>
              <a:rPr lang="en-US" sz="1200" b="1" dirty="0">
                <a:solidFill>
                  <a:srgbClr val="1F4E78"/>
                </a:solidFill>
              </a:rPr>
              <a:t>Question : "Afficher le nom de chaque étudiant avec les cours auxquels il est inscrit"</a:t>
            </a:r>
            <a:endParaRPr lang="en-US" sz="1200" dirty="0"/>
          </a:p>
        </p:txBody>
      </p:sp>
      <p:sp>
        <p:nvSpPr>
          <p:cNvPr id="6" name="Shape 4"/>
          <p:cNvSpPr/>
          <p:nvPr/>
        </p:nvSpPr>
        <p:spPr>
          <a:xfrm>
            <a:off x="457200" y="1280160"/>
            <a:ext cx="8229600" cy="914400"/>
          </a:xfrm>
          <a:prstGeom prst="rect">
            <a:avLst/>
          </a:prstGeom>
          <a:solidFill>
            <a:srgbClr val="F5F5F5"/>
          </a:solidFill>
          <a:ln w="12700">
            <a:solidFill>
              <a:srgbClr val="E7E6E6"/>
            </a:solidFill>
            <a:prstDash val="solid"/>
          </a:ln>
        </p:spPr>
        <p:txBody>
          <a:bodyPr/>
          <a:lstStyle/>
          <a:p>
            <a:endParaRPr lang="fr-FR"/>
          </a:p>
        </p:txBody>
      </p:sp>
      <p:sp>
        <p:nvSpPr>
          <p:cNvPr id="7" name="Text 5"/>
          <p:cNvSpPr/>
          <p:nvPr/>
        </p:nvSpPr>
        <p:spPr>
          <a:xfrm>
            <a:off x="640080" y="1371600"/>
            <a:ext cx="7863840" cy="777240"/>
          </a:xfrm>
          <a:prstGeom prst="rect">
            <a:avLst/>
          </a:prstGeom>
          <a:noFill/>
          <a:ln/>
        </p:spPr>
        <p:txBody>
          <a:bodyPr wrap="square" rtlCol="0" anchor="t"/>
          <a:lstStyle/>
          <a:p>
            <a:pPr marL="0" indent="0" algn="l">
              <a:buNone/>
            </a:pPr>
            <a:r>
              <a:rPr lang="en-US" sz="1000" dirty="0">
                <a:solidFill>
                  <a:srgbClr val="1F1F1F"/>
                </a:solidFill>
                <a:latin typeface="Courier New" pitchFamily="34" charset="0"/>
                <a:ea typeface="Courier New" pitchFamily="34" charset="-122"/>
                <a:cs typeface="Courier New" pitchFamily="34" charset="-120"/>
              </a:rPr>
              <a:t>SELECT e.nom, e.prenom, c.titre</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FROM Etudiant e</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INNER JOIN Inscription i ON e.id = i.id_etudiant</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INNER JOIN Cours c ON i.id_cours = c.id_cours</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ORDER BY e.nom;</a:t>
            </a:r>
            <a:endParaRPr lang="en-US" sz="1000" dirty="0"/>
          </a:p>
        </p:txBody>
      </p:sp>
      <p:sp>
        <p:nvSpPr>
          <p:cNvPr id="8" name="Text 6"/>
          <p:cNvSpPr/>
          <p:nvPr/>
        </p:nvSpPr>
        <p:spPr>
          <a:xfrm>
            <a:off x="457200" y="2331720"/>
            <a:ext cx="8229600" cy="182880"/>
          </a:xfrm>
          <a:prstGeom prst="rect">
            <a:avLst/>
          </a:prstGeom>
          <a:noFill/>
          <a:ln/>
        </p:spPr>
        <p:txBody>
          <a:bodyPr wrap="square" rtlCol="0" anchor="ctr"/>
          <a:lstStyle/>
          <a:p>
            <a:pPr marL="0" indent="0">
              <a:buNone/>
            </a:pPr>
            <a:r>
              <a:rPr lang="en-US" sz="1200" b="1" dirty="0">
                <a:solidFill>
                  <a:srgbClr val="1F4E78"/>
                </a:solidFill>
              </a:rPr>
              <a:t>Résultat attendu</a:t>
            </a:r>
            <a:endParaRPr lang="en-US" sz="1200" dirty="0"/>
          </a:p>
        </p:txBody>
      </p:sp>
      <p:sp>
        <p:nvSpPr>
          <p:cNvPr id="9" name="Shape 7"/>
          <p:cNvSpPr/>
          <p:nvPr/>
        </p:nvSpPr>
        <p:spPr>
          <a:xfrm>
            <a:off x="457200" y="2606040"/>
            <a:ext cx="2743200" cy="256032"/>
          </a:xfrm>
          <a:prstGeom prst="rect">
            <a:avLst/>
          </a:prstGeom>
          <a:solidFill>
            <a:srgbClr val="2E75B6"/>
          </a:solidFill>
          <a:ln w="12700">
            <a:solidFill>
              <a:srgbClr val="E7E6E6"/>
            </a:solidFill>
            <a:prstDash val="solid"/>
          </a:ln>
        </p:spPr>
        <p:txBody>
          <a:bodyPr/>
          <a:lstStyle/>
          <a:p>
            <a:endParaRPr lang="fr-FR"/>
          </a:p>
        </p:txBody>
      </p:sp>
      <p:sp>
        <p:nvSpPr>
          <p:cNvPr id="10" name="Text 8"/>
          <p:cNvSpPr/>
          <p:nvPr/>
        </p:nvSpPr>
        <p:spPr>
          <a:xfrm>
            <a:off x="548640" y="2606040"/>
            <a:ext cx="2560320" cy="256032"/>
          </a:xfrm>
          <a:prstGeom prst="rect">
            <a:avLst/>
          </a:prstGeom>
          <a:noFill/>
          <a:ln/>
        </p:spPr>
        <p:txBody>
          <a:bodyPr wrap="square" rtlCol="0" anchor="ctr"/>
          <a:lstStyle/>
          <a:p>
            <a:pPr marL="0" indent="0" algn="ctr">
              <a:buNone/>
            </a:pPr>
            <a:r>
              <a:rPr lang="en-US" sz="900" b="1" dirty="0">
                <a:solidFill>
                  <a:srgbClr val="FFFFFF"/>
                </a:solidFill>
              </a:rPr>
              <a:t>nom</a:t>
            </a:r>
            <a:endParaRPr lang="en-US" sz="900" dirty="0"/>
          </a:p>
        </p:txBody>
      </p:sp>
      <p:sp>
        <p:nvSpPr>
          <p:cNvPr id="11" name="Shape 9"/>
          <p:cNvSpPr/>
          <p:nvPr/>
        </p:nvSpPr>
        <p:spPr>
          <a:xfrm>
            <a:off x="3291840" y="2606040"/>
            <a:ext cx="2743200" cy="256032"/>
          </a:xfrm>
          <a:prstGeom prst="rect">
            <a:avLst/>
          </a:prstGeom>
          <a:solidFill>
            <a:srgbClr val="2E75B6"/>
          </a:solidFill>
          <a:ln w="12700">
            <a:solidFill>
              <a:srgbClr val="E7E6E6"/>
            </a:solidFill>
            <a:prstDash val="solid"/>
          </a:ln>
        </p:spPr>
        <p:txBody>
          <a:bodyPr/>
          <a:lstStyle/>
          <a:p>
            <a:endParaRPr lang="fr-FR"/>
          </a:p>
        </p:txBody>
      </p:sp>
      <p:sp>
        <p:nvSpPr>
          <p:cNvPr id="12" name="Text 10"/>
          <p:cNvSpPr/>
          <p:nvPr/>
        </p:nvSpPr>
        <p:spPr>
          <a:xfrm>
            <a:off x="3383280" y="2606040"/>
            <a:ext cx="2560320" cy="256032"/>
          </a:xfrm>
          <a:prstGeom prst="rect">
            <a:avLst/>
          </a:prstGeom>
          <a:noFill/>
          <a:ln/>
        </p:spPr>
        <p:txBody>
          <a:bodyPr wrap="square" rtlCol="0" anchor="ctr"/>
          <a:lstStyle/>
          <a:p>
            <a:pPr marL="0" indent="0" algn="ctr">
              <a:buNone/>
            </a:pPr>
            <a:r>
              <a:rPr lang="en-US" sz="900" b="1" dirty="0">
                <a:solidFill>
                  <a:srgbClr val="FFFFFF"/>
                </a:solidFill>
              </a:rPr>
              <a:t>prenom</a:t>
            </a:r>
            <a:endParaRPr lang="en-US" sz="900" dirty="0"/>
          </a:p>
        </p:txBody>
      </p:sp>
      <p:sp>
        <p:nvSpPr>
          <p:cNvPr id="13" name="Shape 11"/>
          <p:cNvSpPr/>
          <p:nvPr/>
        </p:nvSpPr>
        <p:spPr>
          <a:xfrm>
            <a:off x="6126480" y="2606040"/>
            <a:ext cx="2560320" cy="256032"/>
          </a:xfrm>
          <a:prstGeom prst="rect">
            <a:avLst/>
          </a:prstGeom>
          <a:solidFill>
            <a:srgbClr val="2E75B6"/>
          </a:solidFill>
          <a:ln w="12700">
            <a:solidFill>
              <a:srgbClr val="E7E6E6"/>
            </a:solidFill>
            <a:prstDash val="solid"/>
          </a:ln>
        </p:spPr>
        <p:txBody>
          <a:bodyPr/>
          <a:lstStyle/>
          <a:p>
            <a:endParaRPr lang="fr-FR"/>
          </a:p>
        </p:txBody>
      </p:sp>
      <p:sp>
        <p:nvSpPr>
          <p:cNvPr id="14" name="Text 12"/>
          <p:cNvSpPr/>
          <p:nvPr/>
        </p:nvSpPr>
        <p:spPr>
          <a:xfrm>
            <a:off x="6217920" y="2606040"/>
            <a:ext cx="2377440" cy="256032"/>
          </a:xfrm>
          <a:prstGeom prst="rect">
            <a:avLst/>
          </a:prstGeom>
          <a:noFill/>
          <a:ln/>
        </p:spPr>
        <p:txBody>
          <a:bodyPr wrap="square" rtlCol="0" anchor="ctr"/>
          <a:lstStyle/>
          <a:p>
            <a:pPr marL="0" indent="0" algn="ctr">
              <a:buNone/>
            </a:pPr>
            <a:r>
              <a:rPr lang="en-US" sz="900" b="1" dirty="0">
                <a:solidFill>
                  <a:srgbClr val="FFFFFF"/>
                </a:solidFill>
              </a:rPr>
              <a:t>titre</a:t>
            </a:r>
            <a:endParaRPr lang="en-US" sz="900" dirty="0"/>
          </a:p>
        </p:txBody>
      </p:sp>
      <p:sp>
        <p:nvSpPr>
          <p:cNvPr id="15" name="Shape 13"/>
          <p:cNvSpPr/>
          <p:nvPr/>
        </p:nvSpPr>
        <p:spPr>
          <a:xfrm>
            <a:off x="457200" y="2880360"/>
            <a:ext cx="2743200" cy="256032"/>
          </a:xfrm>
          <a:prstGeom prst="rect">
            <a:avLst/>
          </a:prstGeom>
          <a:solidFill>
            <a:srgbClr val="FFFFFF"/>
          </a:solidFill>
          <a:ln w="12700">
            <a:solidFill>
              <a:srgbClr val="E7E6E6"/>
            </a:solidFill>
            <a:prstDash val="solid"/>
          </a:ln>
        </p:spPr>
        <p:txBody>
          <a:bodyPr/>
          <a:lstStyle/>
          <a:p>
            <a:endParaRPr lang="fr-FR"/>
          </a:p>
        </p:txBody>
      </p:sp>
      <p:sp>
        <p:nvSpPr>
          <p:cNvPr id="16" name="Text 14"/>
          <p:cNvSpPr/>
          <p:nvPr/>
        </p:nvSpPr>
        <p:spPr>
          <a:xfrm>
            <a:off x="548640" y="2880360"/>
            <a:ext cx="2560320" cy="256032"/>
          </a:xfrm>
          <a:prstGeom prst="rect">
            <a:avLst/>
          </a:prstGeom>
          <a:noFill/>
          <a:ln/>
        </p:spPr>
        <p:txBody>
          <a:bodyPr wrap="square" rtlCol="0" anchor="ctr"/>
          <a:lstStyle/>
          <a:p>
            <a:pPr marL="0" indent="0" algn="ctr">
              <a:buNone/>
            </a:pPr>
            <a:r>
              <a:rPr lang="en-US" sz="900" dirty="0">
                <a:solidFill>
                  <a:srgbClr val="1F1F1F"/>
                </a:solidFill>
              </a:rPr>
              <a:t>Dupont</a:t>
            </a:r>
            <a:endParaRPr lang="en-US" sz="900" dirty="0"/>
          </a:p>
        </p:txBody>
      </p:sp>
      <p:sp>
        <p:nvSpPr>
          <p:cNvPr id="17" name="Shape 15"/>
          <p:cNvSpPr/>
          <p:nvPr/>
        </p:nvSpPr>
        <p:spPr>
          <a:xfrm>
            <a:off x="3291840" y="2880360"/>
            <a:ext cx="2743200" cy="256032"/>
          </a:xfrm>
          <a:prstGeom prst="rect">
            <a:avLst/>
          </a:prstGeom>
          <a:solidFill>
            <a:srgbClr val="FFFFFF"/>
          </a:solidFill>
          <a:ln w="12700">
            <a:solidFill>
              <a:srgbClr val="E7E6E6"/>
            </a:solidFill>
            <a:prstDash val="solid"/>
          </a:ln>
        </p:spPr>
        <p:txBody>
          <a:bodyPr/>
          <a:lstStyle/>
          <a:p>
            <a:endParaRPr lang="fr-FR"/>
          </a:p>
        </p:txBody>
      </p:sp>
      <p:sp>
        <p:nvSpPr>
          <p:cNvPr id="18" name="Text 16"/>
          <p:cNvSpPr/>
          <p:nvPr/>
        </p:nvSpPr>
        <p:spPr>
          <a:xfrm>
            <a:off x="3383280" y="2880360"/>
            <a:ext cx="2560320" cy="256032"/>
          </a:xfrm>
          <a:prstGeom prst="rect">
            <a:avLst/>
          </a:prstGeom>
          <a:noFill/>
          <a:ln/>
        </p:spPr>
        <p:txBody>
          <a:bodyPr wrap="square" rtlCol="0" anchor="ctr"/>
          <a:lstStyle/>
          <a:p>
            <a:pPr marL="0" indent="0" algn="ctr">
              <a:buNone/>
            </a:pPr>
            <a:r>
              <a:rPr lang="en-US" sz="900" dirty="0">
                <a:solidFill>
                  <a:srgbClr val="1F1F1F"/>
                </a:solidFill>
              </a:rPr>
              <a:t>Jean</a:t>
            </a:r>
            <a:endParaRPr lang="en-US" sz="900" dirty="0"/>
          </a:p>
        </p:txBody>
      </p:sp>
      <p:sp>
        <p:nvSpPr>
          <p:cNvPr id="19" name="Shape 17"/>
          <p:cNvSpPr/>
          <p:nvPr/>
        </p:nvSpPr>
        <p:spPr>
          <a:xfrm>
            <a:off x="6126480" y="2880360"/>
            <a:ext cx="2560320" cy="256032"/>
          </a:xfrm>
          <a:prstGeom prst="rect">
            <a:avLst/>
          </a:prstGeom>
          <a:solidFill>
            <a:srgbClr val="FFFFFF"/>
          </a:solidFill>
          <a:ln w="12700">
            <a:solidFill>
              <a:srgbClr val="E7E6E6"/>
            </a:solidFill>
            <a:prstDash val="solid"/>
          </a:ln>
        </p:spPr>
        <p:txBody>
          <a:bodyPr/>
          <a:lstStyle/>
          <a:p>
            <a:endParaRPr lang="fr-FR"/>
          </a:p>
        </p:txBody>
      </p:sp>
      <p:sp>
        <p:nvSpPr>
          <p:cNvPr id="20" name="Text 18"/>
          <p:cNvSpPr/>
          <p:nvPr/>
        </p:nvSpPr>
        <p:spPr>
          <a:xfrm>
            <a:off x="6217920" y="2880360"/>
            <a:ext cx="2377440" cy="256032"/>
          </a:xfrm>
          <a:prstGeom prst="rect">
            <a:avLst/>
          </a:prstGeom>
          <a:noFill/>
          <a:ln/>
        </p:spPr>
        <p:txBody>
          <a:bodyPr wrap="square" rtlCol="0" anchor="ctr"/>
          <a:lstStyle/>
          <a:p>
            <a:pPr marL="0" indent="0" algn="ctr">
              <a:buNone/>
            </a:pPr>
            <a:r>
              <a:rPr lang="en-US" sz="900" dirty="0">
                <a:solidFill>
                  <a:srgbClr val="1F1F1F"/>
                </a:solidFill>
              </a:rPr>
              <a:t>Mathématiques I</a:t>
            </a:r>
            <a:endParaRPr lang="en-US" sz="900" dirty="0"/>
          </a:p>
        </p:txBody>
      </p:sp>
      <p:sp>
        <p:nvSpPr>
          <p:cNvPr id="21" name="Shape 19"/>
          <p:cNvSpPr/>
          <p:nvPr/>
        </p:nvSpPr>
        <p:spPr>
          <a:xfrm>
            <a:off x="457200" y="3154680"/>
            <a:ext cx="2743200" cy="256032"/>
          </a:xfrm>
          <a:prstGeom prst="rect">
            <a:avLst/>
          </a:prstGeom>
          <a:solidFill>
            <a:srgbClr val="E7E6E6"/>
          </a:solidFill>
          <a:ln w="12700">
            <a:solidFill>
              <a:srgbClr val="E7E6E6"/>
            </a:solidFill>
            <a:prstDash val="solid"/>
          </a:ln>
        </p:spPr>
        <p:txBody>
          <a:bodyPr/>
          <a:lstStyle/>
          <a:p>
            <a:endParaRPr lang="fr-FR"/>
          </a:p>
        </p:txBody>
      </p:sp>
      <p:sp>
        <p:nvSpPr>
          <p:cNvPr id="22" name="Text 20"/>
          <p:cNvSpPr/>
          <p:nvPr/>
        </p:nvSpPr>
        <p:spPr>
          <a:xfrm>
            <a:off x="548640" y="3154680"/>
            <a:ext cx="2560320" cy="256032"/>
          </a:xfrm>
          <a:prstGeom prst="rect">
            <a:avLst/>
          </a:prstGeom>
          <a:noFill/>
          <a:ln/>
        </p:spPr>
        <p:txBody>
          <a:bodyPr wrap="square" rtlCol="0" anchor="ctr"/>
          <a:lstStyle/>
          <a:p>
            <a:pPr marL="0" indent="0" algn="ctr">
              <a:buNone/>
            </a:pPr>
            <a:r>
              <a:rPr lang="en-US" sz="900" dirty="0">
                <a:solidFill>
                  <a:srgbClr val="1F1F1F"/>
                </a:solidFill>
              </a:rPr>
              <a:t>Dupont</a:t>
            </a:r>
            <a:endParaRPr lang="en-US" sz="900" dirty="0"/>
          </a:p>
        </p:txBody>
      </p:sp>
      <p:sp>
        <p:nvSpPr>
          <p:cNvPr id="23" name="Shape 21"/>
          <p:cNvSpPr/>
          <p:nvPr/>
        </p:nvSpPr>
        <p:spPr>
          <a:xfrm>
            <a:off x="3291840" y="3154680"/>
            <a:ext cx="2743200" cy="256032"/>
          </a:xfrm>
          <a:prstGeom prst="rect">
            <a:avLst/>
          </a:prstGeom>
          <a:solidFill>
            <a:srgbClr val="E7E6E6"/>
          </a:solidFill>
          <a:ln w="12700">
            <a:solidFill>
              <a:srgbClr val="E7E6E6"/>
            </a:solidFill>
            <a:prstDash val="solid"/>
          </a:ln>
        </p:spPr>
        <p:txBody>
          <a:bodyPr/>
          <a:lstStyle/>
          <a:p>
            <a:endParaRPr lang="fr-FR"/>
          </a:p>
        </p:txBody>
      </p:sp>
      <p:sp>
        <p:nvSpPr>
          <p:cNvPr id="24" name="Text 22"/>
          <p:cNvSpPr/>
          <p:nvPr/>
        </p:nvSpPr>
        <p:spPr>
          <a:xfrm>
            <a:off x="3383280" y="3154680"/>
            <a:ext cx="2560320" cy="256032"/>
          </a:xfrm>
          <a:prstGeom prst="rect">
            <a:avLst/>
          </a:prstGeom>
          <a:noFill/>
          <a:ln/>
        </p:spPr>
        <p:txBody>
          <a:bodyPr wrap="square" rtlCol="0" anchor="ctr"/>
          <a:lstStyle/>
          <a:p>
            <a:pPr marL="0" indent="0" algn="ctr">
              <a:buNone/>
            </a:pPr>
            <a:r>
              <a:rPr lang="en-US" sz="900" dirty="0">
                <a:solidFill>
                  <a:srgbClr val="1F1F1F"/>
                </a:solidFill>
              </a:rPr>
              <a:t>Jean</a:t>
            </a:r>
            <a:endParaRPr lang="en-US" sz="900" dirty="0"/>
          </a:p>
        </p:txBody>
      </p:sp>
      <p:sp>
        <p:nvSpPr>
          <p:cNvPr id="25" name="Shape 23"/>
          <p:cNvSpPr/>
          <p:nvPr/>
        </p:nvSpPr>
        <p:spPr>
          <a:xfrm>
            <a:off x="6126480" y="3154680"/>
            <a:ext cx="2560320" cy="256032"/>
          </a:xfrm>
          <a:prstGeom prst="rect">
            <a:avLst/>
          </a:prstGeom>
          <a:solidFill>
            <a:srgbClr val="E7E6E6"/>
          </a:solidFill>
          <a:ln w="12700">
            <a:solidFill>
              <a:srgbClr val="E7E6E6"/>
            </a:solidFill>
            <a:prstDash val="solid"/>
          </a:ln>
        </p:spPr>
        <p:txBody>
          <a:bodyPr/>
          <a:lstStyle/>
          <a:p>
            <a:endParaRPr lang="fr-FR"/>
          </a:p>
        </p:txBody>
      </p:sp>
      <p:sp>
        <p:nvSpPr>
          <p:cNvPr id="26" name="Text 24"/>
          <p:cNvSpPr/>
          <p:nvPr/>
        </p:nvSpPr>
        <p:spPr>
          <a:xfrm>
            <a:off x="6217920" y="3154680"/>
            <a:ext cx="2377440" cy="256032"/>
          </a:xfrm>
          <a:prstGeom prst="rect">
            <a:avLst/>
          </a:prstGeom>
          <a:noFill/>
          <a:ln/>
        </p:spPr>
        <p:txBody>
          <a:bodyPr wrap="square" rtlCol="0" anchor="ctr"/>
          <a:lstStyle/>
          <a:p>
            <a:pPr marL="0" indent="0" algn="ctr">
              <a:buNone/>
            </a:pPr>
            <a:r>
              <a:rPr lang="en-US" sz="900" dirty="0">
                <a:solidFill>
                  <a:srgbClr val="1F1F1F"/>
                </a:solidFill>
              </a:rPr>
              <a:t>Français II</a:t>
            </a:r>
            <a:endParaRPr lang="en-US" sz="900" dirty="0"/>
          </a:p>
        </p:txBody>
      </p:sp>
      <p:sp>
        <p:nvSpPr>
          <p:cNvPr id="27" name="Shape 25"/>
          <p:cNvSpPr/>
          <p:nvPr/>
        </p:nvSpPr>
        <p:spPr>
          <a:xfrm>
            <a:off x="457200" y="3429000"/>
            <a:ext cx="2743200" cy="256032"/>
          </a:xfrm>
          <a:prstGeom prst="rect">
            <a:avLst/>
          </a:prstGeom>
          <a:solidFill>
            <a:srgbClr val="FFFFFF"/>
          </a:solidFill>
          <a:ln w="12700">
            <a:solidFill>
              <a:srgbClr val="E7E6E6"/>
            </a:solidFill>
            <a:prstDash val="solid"/>
          </a:ln>
        </p:spPr>
        <p:txBody>
          <a:bodyPr/>
          <a:lstStyle/>
          <a:p>
            <a:endParaRPr lang="fr-FR"/>
          </a:p>
        </p:txBody>
      </p:sp>
      <p:sp>
        <p:nvSpPr>
          <p:cNvPr id="28" name="Text 26"/>
          <p:cNvSpPr/>
          <p:nvPr/>
        </p:nvSpPr>
        <p:spPr>
          <a:xfrm>
            <a:off x="548640" y="3429000"/>
            <a:ext cx="2560320" cy="256032"/>
          </a:xfrm>
          <a:prstGeom prst="rect">
            <a:avLst/>
          </a:prstGeom>
          <a:noFill/>
          <a:ln/>
        </p:spPr>
        <p:txBody>
          <a:bodyPr wrap="square" rtlCol="0" anchor="ctr"/>
          <a:lstStyle/>
          <a:p>
            <a:pPr marL="0" indent="0" algn="ctr">
              <a:buNone/>
            </a:pPr>
            <a:r>
              <a:rPr lang="en-US" sz="900" dirty="0">
                <a:solidFill>
                  <a:srgbClr val="1F1F1F"/>
                </a:solidFill>
              </a:rPr>
              <a:t>Martin</a:t>
            </a:r>
            <a:endParaRPr lang="en-US" sz="900" dirty="0"/>
          </a:p>
        </p:txBody>
      </p:sp>
      <p:sp>
        <p:nvSpPr>
          <p:cNvPr id="29" name="Shape 27"/>
          <p:cNvSpPr/>
          <p:nvPr/>
        </p:nvSpPr>
        <p:spPr>
          <a:xfrm>
            <a:off x="3291840" y="3429000"/>
            <a:ext cx="2743200" cy="256032"/>
          </a:xfrm>
          <a:prstGeom prst="rect">
            <a:avLst/>
          </a:prstGeom>
          <a:solidFill>
            <a:srgbClr val="FFFFFF"/>
          </a:solidFill>
          <a:ln w="12700">
            <a:solidFill>
              <a:srgbClr val="E7E6E6"/>
            </a:solidFill>
            <a:prstDash val="solid"/>
          </a:ln>
        </p:spPr>
        <p:txBody>
          <a:bodyPr/>
          <a:lstStyle/>
          <a:p>
            <a:endParaRPr lang="fr-FR"/>
          </a:p>
        </p:txBody>
      </p:sp>
      <p:sp>
        <p:nvSpPr>
          <p:cNvPr id="30" name="Text 28"/>
          <p:cNvSpPr/>
          <p:nvPr/>
        </p:nvSpPr>
        <p:spPr>
          <a:xfrm>
            <a:off x="3383280" y="3429000"/>
            <a:ext cx="2560320" cy="256032"/>
          </a:xfrm>
          <a:prstGeom prst="rect">
            <a:avLst/>
          </a:prstGeom>
          <a:noFill/>
          <a:ln/>
        </p:spPr>
        <p:txBody>
          <a:bodyPr wrap="square" rtlCol="0" anchor="ctr"/>
          <a:lstStyle/>
          <a:p>
            <a:pPr marL="0" indent="0" algn="ctr">
              <a:buNone/>
            </a:pPr>
            <a:r>
              <a:rPr lang="en-US" sz="900" dirty="0">
                <a:solidFill>
                  <a:srgbClr val="1F1F1F"/>
                </a:solidFill>
              </a:rPr>
              <a:t>Marie</a:t>
            </a:r>
            <a:endParaRPr lang="en-US" sz="900" dirty="0"/>
          </a:p>
        </p:txBody>
      </p:sp>
      <p:sp>
        <p:nvSpPr>
          <p:cNvPr id="31" name="Shape 29"/>
          <p:cNvSpPr/>
          <p:nvPr/>
        </p:nvSpPr>
        <p:spPr>
          <a:xfrm>
            <a:off x="6126480" y="3429000"/>
            <a:ext cx="2560320" cy="256032"/>
          </a:xfrm>
          <a:prstGeom prst="rect">
            <a:avLst/>
          </a:prstGeom>
          <a:solidFill>
            <a:srgbClr val="FFFFFF"/>
          </a:solidFill>
          <a:ln w="12700">
            <a:solidFill>
              <a:srgbClr val="E7E6E6"/>
            </a:solidFill>
            <a:prstDash val="solid"/>
          </a:ln>
        </p:spPr>
        <p:txBody>
          <a:bodyPr/>
          <a:lstStyle/>
          <a:p>
            <a:endParaRPr lang="fr-FR"/>
          </a:p>
        </p:txBody>
      </p:sp>
      <p:sp>
        <p:nvSpPr>
          <p:cNvPr id="32" name="Text 30"/>
          <p:cNvSpPr/>
          <p:nvPr/>
        </p:nvSpPr>
        <p:spPr>
          <a:xfrm>
            <a:off x="6217920" y="3429000"/>
            <a:ext cx="2377440" cy="256032"/>
          </a:xfrm>
          <a:prstGeom prst="rect">
            <a:avLst/>
          </a:prstGeom>
          <a:noFill/>
          <a:ln/>
        </p:spPr>
        <p:txBody>
          <a:bodyPr wrap="square" rtlCol="0" anchor="ctr"/>
          <a:lstStyle/>
          <a:p>
            <a:pPr marL="0" indent="0" algn="ctr">
              <a:buNone/>
            </a:pPr>
            <a:r>
              <a:rPr lang="en-US" sz="900" dirty="0">
                <a:solidFill>
                  <a:srgbClr val="1F1F1F"/>
                </a:solidFill>
              </a:rPr>
              <a:t>Mathématiques I</a:t>
            </a:r>
            <a:endParaRPr lang="en-US" sz="900" dirty="0"/>
          </a:p>
        </p:txBody>
      </p:sp>
      <p:sp>
        <p:nvSpPr>
          <p:cNvPr id="33" name="Text 31"/>
          <p:cNvSpPr/>
          <p:nvPr/>
        </p:nvSpPr>
        <p:spPr>
          <a:xfrm>
            <a:off x="457200" y="4206240"/>
            <a:ext cx="8229600" cy="274320"/>
          </a:xfrm>
          <a:prstGeom prst="rect">
            <a:avLst/>
          </a:prstGeom>
          <a:noFill/>
          <a:ln/>
        </p:spPr>
        <p:txBody>
          <a:bodyPr wrap="square" rtlCol="0" anchor="ctr"/>
          <a:lstStyle/>
          <a:p>
            <a:pPr marL="0" indent="0">
              <a:buNone/>
            </a:pPr>
            <a:r>
              <a:rPr lang="en-US" sz="1000" i="1" dirty="0">
                <a:solidFill>
                  <a:srgbClr val="1F1F1F"/>
                </a:solidFill>
              </a:rPr>
              <a:t>Note : Jean Dupont apparaît deux fois car il est inscrit à deux cours</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Exercices SQL - Niveau 1 (débutant)</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36/40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Thème : Gestion universitaire</a:t>
            </a:r>
            <a:endParaRPr lang="en-US" sz="1200" dirty="0"/>
          </a:p>
        </p:txBody>
      </p:sp>
      <p:sp>
        <p:nvSpPr>
          <p:cNvPr id="6" name="Text 4"/>
          <p:cNvSpPr/>
          <p:nvPr/>
        </p:nvSpPr>
        <p:spPr>
          <a:xfrm>
            <a:off x="457200" y="1097280"/>
            <a:ext cx="8229600" cy="182880"/>
          </a:xfrm>
          <a:prstGeom prst="rect">
            <a:avLst/>
          </a:prstGeom>
          <a:noFill/>
          <a:ln/>
        </p:spPr>
        <p:txBody>
          <a:bodyPr wrap="square" rtlCol="0" anchor="ctr"/>
          <a:lstStyle/>
          <a:p>
            <a:pPr marL="0" indent="0">
              <a:buNone/>
            </a:pPr>
            <a:r>
              <a:rPr lang="en-US" sz="1100" dirty="0">
                <a:solidFill>
                  <a:srgbClr val="1F1F1F"/>
                </a:solidFill>
              </a:rPr>
              <a:t>À votre tour ! Écrivez les requêtes suivantes :</a:t>
            </a:r>
            <a:endParaRPr lang="en-US" sz="1100" dirty="0"/>
          </a:p>
        </p:txBody>
      </p:sp>
      <p:sp>
        <p:nvSpPr>
          <p:cNvPr id="7" name="Text 5"/>
          <p:cNvSpPr/>
          <p:nvPr/>
        </p:nvSpPr>
        <p:spPr>
          <a:xfrm>
            <a:off x="731520" y="1463040"/>
            <a:ext cx="7955280" cy="182880"/>
          </a:xfrm>
          <a:prstGeom prst="rect">
            <a:avLst/>
          </a:prstGeom>
          <a:noFill/>
          <a:ln/>
        </p:spPr>
        <p:txBody>
          <a:bodyPr wrap="square" rtlCol="0" anchor="ctr"/>
          <a:lstStyle/>
          <a:p>
            <a:pPr marL="0" indent="0">
              <a:buNone/>
            </a:pPr>
            <a:r>
              <a:rPr lang="en-US" sz="1100" dirty="0">
                <a:solidFill>
                  <a:srgbClr val="1F1F1F"/>
                </a:solidFill>
              </a:rPr>
              <a:t>1. Afficher tous les étudiants (id, nom, prenom)</a:t>
            </a:r>
            <a:endParaRPr lang="en-US" sz="1100" dirty="0"/>
          </a:p>
        </p:txBody>
      </p:sp>
      <p:sp>
        <p:nvSpPr>
          <p:cNvPr id="8" name="Text 6"/>
          <p:cNvSpPr/>
          <p:nvPr/>
        </p:nvSpPr>
        <p:spPr>
          <a:xfrm>
            <a:off x="731520" y="1691640"/>
            <a:ext cx="7955280" cy="182880"/>
          </a:xfrm>
          <a:prstGeom prst="rect">
            <a:avLst/>
          </a:prstGeom>
          <a:noFill/>
          <a:ln/>
        </p:spPr>
        <p:txBody>
          <a:bodyPr wrap="square" rtlCol="0" anchor="ctr"/>
          <a:lstStyle/>
          <a:p>
            <a:pPr marL="0" indent="0">
              <a:buNone/>
            </a:pPr>
            <a:r>
              <a:rPr lang="en-US" sz="1100" dirty="0">
                <a:solidFill>
                  <a:srgbClr val="1F1F1F"/>
                </a:solidFill>
              </a:rPr>
              <a:t>2. Afficher uniquement les noms des étudiants</a:t>
            </a:r>
            <a:endParaRPr lang="en-US" sz="1100" dirty="0"/>
          </a:p>
        </p:txBody>
      </p:sp>
      <p:sp>
        <p:nvSpPr>
          <p:cNvPr id="9" name="Text 7"/>
          <p:cNvSpPr/>
          <p:nvPr/>
        </p:nvSpPr>
        <p:spPr>
          <a:xfrm>
            <a:off x="731520" y="1920240"/>
            <a:ext cx="7955280" cy="182880"/>
          </a:xfrm>
          <a:prstGeom prst="rect">
            <a:avLst/>
          </a:prstGeom>
          <a:noFill/>
          <a:ln/>
        </p:spPr>
        <p:txBody>
          <a:bodyPr wrap="square" rtlCol="0" anchor="ctr"/>
          <a:lstStyle/>
          <a:p>
            <a:pPr marL="0" indent="0">
              <a:buNone/>
            </a:pPr>
            <a:r>
              <a:rPr lang="en-US" sz="1100" dirty="0">
                <a:solidFill>
                  <a:srgbClr val="1F1F1F"/>
                </a:solidFill>
              </a:rPr>
              <a:t>3. Afficher les étudiants dont id &gt; 5</a:t>
            </a:r>
            <a:endParaRPr lang="en-US" sz="1100" dirty="0"/>
          </a:p>
        </p:txBody>
      </p:sp>
      <p:sp>
        <p:nvSpPr>
          <p:cNvPr id="10" name="Text 8"/>
          <p:cNvSpPr/>
          <p:nvPr/>
        </p:nvSpPr>
        <p:spPr>
          <a:xfrm>
            <a:off x="731520" y="2148840"/>
            <a:ext cx="7955280" cy="182880"/>
          </a:xfrm>
          <a:prstGeom prst="rect">
            <a:avLst/>
          </a:prstGeom>
          <a:noFill/>
          <a:ln/>
        </p:spPr>
        <p:txBody>
          <a:bodyPr wrap="square" rtlCol="0" anchor="ctr"/>
          <a:lstStyle/>
          <a:p>
            <a:pPr marL="0" indent="0">
              <a:buNone/>
            </a:pPr>
            <a:r>
              <a:rPr lang="en-US" sz="1100" dirty="0">
                <a:solidFill>
                  <a:srgbClr val="1F1F1F"/>
                </a:solidFill>
              </a:rPr>
              <a:t>4. Afficher les étudiants triés par nom A→Z</a:t>
            </a:r>
            <a:endParaRPr lang="en-US" sz="1100" dirty="0"/>
          </a:p>
        </p:txBody>
      </p:sp>
      <p:sp>
        <p:nvSpPr>
          <p:cNvPr id="11" name="Text 9"/>
          <p:cNvSpPr/>
          <p:nvPr/>
        </p:nvSpPr>
        <p:spPr>
          <a:xfrm>
            <a:off x="731520" y="2377440"/>
            <a:ext cx="7955280" cy="182880"/>
          </a:xfrm>
          <a:prstGeom prst="rect">
            <a:avLst/>
          </a:prstGeom>
          <a:noFill/>
          <a:ln/>
        </p:spPr>
        <p:txBody>
          <a:bodyPr wrap="square" rtlCol="0" anchor="ctr"/>
          <a:lstStyle/>
          <a:p>
            <a:pPr marL="0" indent="0">
              <a:buNone/>
            </a:pPr>
            <a:r>
              <a:rPr lang="en-US" sz="1100" dirty="0">
                <a:solidFill>
                  <a:srgbClr val="1F1F1F"/>
                </a:solidFill>
              </a:rPr>
              <a:t>5. Afficher les étudiants avec email unique</a:t>
            </a:r>
            <a:endParaRPr lang="en-US" sz="1100" dirty="0"/>
          </a:p>
        </p:txBody>
      </p:sp>
      <p:sp>
        <p:nvSpPr>
          <p:cNvPr id="12" name="Text 10"/>
          <p:cNvSpPr/>
          <p:nvPr/>
        </p:nvSpPr>
        <p:spPr>
          <a:xfrm>
            <a:off x="731520" y="2606040"/>
            <a:ext cx="7955280" cy="182880"/>
          </a:xfrm>
          <a:prstGeom prst="rect">
            <a:avLst/>
          </a:prstGeom>
          <a:noFill/>
          <a:ln/>
        </p:spPr>
        <p:txBody>
          <a:bodyPr wrap="square" rtlCol="0" anchor="ctr"/>
          <a:lstStyle/>
          <a:p>
            <a:pPr marL="0" indent="0">
              <a:buNone/>
            </a:pPr>
            <a:r>
              <a:rPr lang="en-US" sz="1100" dirty="0">
                <a:solidFill>
                  <a:srgbClr val="1F1F1F"/>
                </a:solidFill>
              </a:rPr>
              <a:t>6. Afficher les 10 premiers étudiants</a:t>
            </a:r>
            <a:endParaRPr lang="en-US" sz="1100" dirty="0"/>
          </a:p>
        </p:txBody>
      </p:sp>
      <p:sp>
        <p:nvSpPr>
          <p:cNvPr id="13" name="Shape 11"/>
          <p:cNvSpPr/>
          <p:nvPr/>
        </p:nvSpPr>
        <p:spPr>
          <a:xfrm>
            <a:off x="457200" y="3474720"/>
            <a:ext cx="8229600" cy="1371600"/>
          </a:xfrm>
          <a:prstGeom prst="rect">
            <a:avLst/>
          </a:prstGeom>
          <a:solidFill>
            <a:srgbClr val="FFFACD"/>
          </a:solidFill>
          <a:ln w="25400">
            <a:solidFill>
              <a:srgbClr val="F79646"/>
            </a:solidFill>
            <a:prstDash val="solid"/>
          </a:ln>
        </p:spPr>
        <p:txBody>
          <a:bodyPr/>
          <a:lstStyle/>
          <a:p>
            <a:endParaRPr lang="fr-FR"/>
          </a:p>
        </p:txBody>
      </p:sp>
      <p:sp>
        <p:nvSpPr>
          <p:cNvPr id="14" name="Text 12"/>
          <p:cNvSpPr/>
          <p:nvPr/>
        </p:nvSpPr>
        <p:spPr>
          <a:xfrm>
            <a:off x="640080" y="3566160"/>
            <a:ext cx="7863840" cy="182880"/>
          </a:xfrm>
          <a:prstGeom prst="rect">
            <a:avLst/>
          </a:prstGeom>
          <a:noFill/>
          <a:ln/>
        </p:spPr>
        <p:txBody>
          <a:bodyPr wrap="square" rtlCol="0" anchor="ctr"/>
          <a:lstStyle/>
          <a:p>
            <a:pPr marL="0" indent="0">
              <a:buNone/>
            </a:pPr>
            <a:r>
              <a:rPr lang="en-US" sz="1100" b="1" dirty="0">
                <a:solidFill>
                  <a:srgbClr val="1F4E78"/>
                </a:solidFill>
              </a:rPr>
              <a:t>Solutions pas affichées sur la slide.</a:t>
            </a:r>
            <a:endParaRPr lang="en-US" sz="1100" dirty="0"/>
          </a:p>
        </p:txBody>
      </p:sp>
      <p:sp>
        <p:nvSpPr>
          <p:cNvPr id="15" name="Text 13"/>
          <p:cNvSpPr/>
          <p:nvPr/>
        </p:nvSpPr>
        <p:spPr>
          <a:xfrm>
            <a:off x="640080" y="3840480"/>
            <a:ext cx="7863840" cy="274320"/>
          </a:xfrm>
          <a:prstGeom prst="rect">
            <a:avLst/>
          </a:prstGeom>
          <a:noFill/>
          <a:ln/>
        </p:spPr>
        <p:txBody>
          <a:bodyPr wrap="square" rtlCol="0" anchor="ctr"/>
          <a:lstStyle/>
          <a:p>
            <a:pPr marL="0" indent="0">
              <a:buNone/>
            </a:pPr>
            <a:r>
              <a:rPr lang="en-US" sz="1000" dirty="0">
                <a:solidFill>
                  <a:srgbClr val="1F1F1F"/>
                </a:solidFill>
              </a:rPr>
              <a:t>Les solutions détaillées se trouvent dans les notes du présentateur (page suivante).</a:t>
            </a:r>
            <a:endParaRPr lang="en-US" sz="1000" dirty="0"/>
          </a:p>
        </p:txBody>
      </p:sp>
      <p:sp>
        <p:nvSpPr>
          <p:cNvPr id="16" name="Text 14"/>
          <p:cNvSpPr/>
          <p:nvPr/>
        </p:nvSpPr>
        <p:spPr>
          <a:xfrm>
            <a:off x="640080" y="4297680"/>
            <a:ext cx="7863840" cy="365760"/>
          </a:xfrm>
          <a:prstGeom prst="rect">
            <a:avLst/>
          </a:prstGeom>
          <a:noFill/>
          <a:ln/>
        </p:spPr>
        <p:txBody>
          <a:bodyPr wrap="square" rtlCol="0" anchor="ctr"/>
          <a:lstStyle/>
          <a:p>
            <a:pPr marL="0" indent="0">
              <a:buNone/>
            </a:pPr>
            <a:r>
              <a:rPr lang="en-US" sz="1000" i="1" dirty="0">
                <a:solidFill>
                  <a:srgbClr val="1F1F1F"/>
                </a:solidFill>
              </a:rPr>
              <a:t>Ces exercices travaillent : SELECT, FROM, WHERE, ORDER BY, DISTINCT</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Exercices SQL - Niveau 2 (intermédiaire)</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37/40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Thème : Gestion universitaire</a:t>
            </a:r>
            <a:endParaRPr lang="en-US" sz="1200" dirty="0"/>
          </a:p>
        </p:txBody>
      </p:sp>
      <p:sp>
        <p:nvSpPr>
          <p:cNvPr id="6" name="Text 4"/>
          <p:cNvSpPr/>
          <p:nvPr/>
        </p:nvSpPr>
        <p:spPr>
          <a:xfrm>
            <a:off x="457200" y="1097280"/>
            <a:ext cx="8229600" cy="182880"/>
          </a:xfrm>
          <a:prstGeom prst="rect">
            <a:avLst/>
          </a:prstGeom>
          <a:noFill/>
          <a:ln/>
        </p:spPr>
        <p:txBody>
          <a:bodyPr wrap="square" rtlCol="0" anchor="ctr"/>
          <a:lstStyle/>
          <a:p>
            <a:pPr marL="0" indent="0">
              <a:buNone/>
            </a:pPr>
            <a:r>
              <a:rPr lang="en-US" sz="1100" dirty="0">
                <a:solidFill>
                  <a:srgbClr val="1F1F1F"/>
                </a:solidFill>
              </a:rPr>
              <a:t>À votre tour ! Écrivez les requêtes suivantes :</a:t>
            </a:r>
            <a:endParaRPr lang="en-US" sz="1100" dirty="0"/>
          </a:p>
        </p:txBody>
      </p:sp>
      <p:sp>
        <p:nvSpPr>
          <p:cNvPr id="7" name="Text 5"/>
          <p:cNvSpPr/>
          <p:nvPr/>
        </p:nvSpPr>
        <p:spPr>
          <a:xfrm>
            <a:off x="731520" y="1463040"/>
            <a:ext cx="7955280" cy="182880"/>
          </a:xfrm>
          <a:prstGeom prst="rect">
            <a:avLst/>
          </a:prstGeom>
          <a:noFill/>
          <a:ln/>
        </p:spPr>
        <p:txBody>
          <a:bodyPr wrap="square" rtlCol="0" anchor="ctr"/>
          <a:lstStyle/>
          <a:p>
            <a:pPr marL="0" indent="0">
              <a:buNone/>
            </a:pPr>
            <a:r>
              <a:rPr lang="en-US" sz="1100" dirty="0">
                <a:solidFill>
                  <a:srgbClr val="1F1F1F"/>
                </a:solidFill>
              </a:rPr>
              <a:t>1. Compter le nombre total d'étudiants</a:t>
            </a:r>
            <a:endParaRPr lang="en-US" sz="1100" dirty="0"/>
          </a:p>
        </p:txBody>
      </p:sp>
      <p:sp>
        <p:nvSpPr>
          <p:cNvPr id="8" name="Text 6"/>
          <p:cNvSpPr/>
          <p:nvPr/>
        </p:nvSpPr>
        <p:spPr>
          <a:xfrm>
            <a:off x="731520" y="1691640"/>
            <a:ext cx="7955280" cy="182880"/>
          </a:xfrm>
          <a:prstGeom prst="rect">
            <a:avLst/>
          </a:prstGeom>
          <a:noFill/>
          <a:ln/>
        </p:spPr>
        <p:txBody>
          <a:bodyPr wrap="square" rtlCol="0" anchor="ctr"/>
          <a:lstStyle/>
          <a:p>
            <a:pPr marL="0" indent="0">
              <a:buNone/>
            </a:pPr>
            <a:r>
              <a:rPr lang="en-US" sz="1100" dirty="0">
                <a:solidFill>
                  <a:srgbClr val="1F1F1F"/>
                </a:solidFill>
              </a:rPr>
              <a:t>2. Afficher la moyenne des notes</a:t>
            </a:r>
            <a:endParaRPr lang="en-US" sz="1100" dirty="0"/>
          </a:p>
        </p:txBody>
      </p:sp>
      <p:sp>
        <p:nvSpPr>
          <p:cNvPr id="9" name="Text 7"/>
          <p:cNvSpPr/>
          <p:nvPr/>
        </p:nvSpPr>
        <p:spPr>
          <a:xfrm>
            <a:off x="731520" y="1920240"/>
            <a:ext cx="7955280" cy="182880"/>
          </a:xfrm>
          <a:prstGeom prst="rect">
            <a:avLst/>
          </a:prstGeom>
          <a:noFill/>
          <a:ln/>
        </p:spPr>
        <p:txBody>
          <a:bodyPr wrap="square" rtlCol="0" anchor="ctr"/>
          <a:lstStyle/>
          <a:p>
            <a:pPr marL="0" indent="0">
              <a:buNone/>
            </a:pPr>
            <a:r>
              <a:rPr lang="en-US" sz="1100" dirty="0">
                <a:solidFill>
                  <a:srgbClr val="1F1F1F"/>
                </a:solidFill>
              </a:rPr>
              <a:t>3. Afficher le nombre d'inscriptions par étudiant</a:t>
            </a:r>
            <a:endParaRPr lang="en-US" sz="1100" dirty="0"/>
          </a:p>
        </p:txBody>
      </p:sp>
      <p:sp>
        <p:nvSpPr>
          <p:cNvPr id="10" name="Text 8"/>
          <p:cNvSpPr/>
          <p:nvPr/>
        </p:nvSpPr>
        <p:spPr>
          <a:xfrm>
            <a:off x="731520" y="2148840"/>
            <a:ext cx="7955280" cy="182880"/>
          </a:xfrm>
          <a:prstGeom prst="rect">
            <a:avLst/>
          </a:prstGeom>
          <a:noFill/>
          <a:ln/>
        </p:spPr>
        <p:txBody>
          <a:bodyPr wrap="square" rtlCol="0" anchor="ctr"/>
          <a:lstStyle/>
          <a:p>
            <a:pPr marL="0" indent="0">
              <a:buNone/>
            </a:pPr>
            <a:r>
              <a:rPr lang="en-US" sz="1100" dirty="0">
                <a:solidFill>
                  <a:srgbClr val="1F1F1F"/>
                </a:solidFill>
              </a:rPr>
              <a:t>4. Afficher les cours avec plus de 20 étudiants inscrits</a:t>
            </a:r>
            <a:endParaRPr lang="en-US" sz="1100" dirty="0"/>
          </a:p>
        </p:txBody>
      </p:sp>
      <p:sp>
        <p:nvSpPr>
          <p:cNvPr id="11" name="Text 9"/>
          <p:cNvSpPr/>
          <p:nvPr/>
        </p:nvSpPr>
        <p:spPr>
          <a:xfrm>
            <a:off x="731520" y="2377440"/>
            <a:ext cx="7955280" cy="182880"/>
          </a:xfrm>
          <a:prstGeom prst="rect">
            <a:avLst/>
          </a:prstGeom>
          <a:noFill/>
          <a:ln/>
        </p:spPr>
        <p:txBody>
          <a:bodyPr wrap="square" rtlCol="0" anchor="ctr"/>
          <a:lstStyle/>
          <a:p>
            <a:pPr marL="0" indent="0">
              <a:buNone/>
            </a:pPr>
            <a:r>
              <a:rPr lang="en-US" sz="1100" dirty="0">
                <a:solidFill>
                  <a:srgbClr val="1F1F1F"/>
                </a:solidFill>
              </a:rPr>
              <a:t>5. Afficher le nom et prénom de chaque étudiant avec le titre de son cours</a:t>
            </a:r>
            <a:endParaRPr lang="en-US" sz="1100" dirty="0"/>
          </a:p>
        </p:txBody>
      </p:sp>
      <p:sp>
        <p:nvSpPr>
          <p:cNvPr id="12" name="Text 10"/>
          <p:cNvSpPr/>
          <p:nvPr/>
        </p:nvSpPr>
        <p:spPr>
          <a:xfrm>
            <a:off x="731520" y="2606040"/>
            <a:ext cx="7955280" cy="182880"/>
          </a:xfrm>
          <a:prstGeom prst="rect">
            <a:avLst/>
          </a:prstGeom>
          <a:noFill/>
          <a:ln/>
        </p:spPr>
        <p:txBody>
          <a:bodyPr wrap="square" rtlCol="0" anchor="ctr"/>
          <a:lstStyle/>
          <a:p>
            <a:pPr marL="0" indent="0">
              <a:buNone/>
            </a:pPr>
            <a:r>
              <a:rPr lang="en-US" sz="1100" dirty="0">
                <a:solidFill>
                  <a:srgbClr val="1F1F1F"/>
                </a:solidFill>
              </a:rPr>
              <a:t>6. Afficher les étudiants qui n'ont pas d'inscription</a:t>
            </a:r>
            <a:endParaRPr lang="en-US" sz="1100" dirty="0"/>
          </a:p>
        </p:txBody>
      </p:sp>
      <p:sp>
        <p:nvSpPr>
          <p:cNvPr id="13" name="Shape 11"/>
          <p:cNvSpPr/>
          <p:nvPr/>
        </p:nvSpPr>
        <p:spPr>
          <a:xfrm>
            <a:off x="457200" y="3474720"/>
            <a:ext cx="8229600" cy="1371600"/>
          </a:xfrm>
          <a:prstGeom prst="rect">
            <a:avLst/>
          </a:prstGeom>
          <a:solidFill>
            <a:srgbClr val="FFFACD"/>
          </a:solidFill>
          <a:ln w="25400">
            <a:solidFill>
              <a:srgbClr val="F79646"/>
            </a:solidFill>
            <a:prstDash val="solid"/>
          </a:ln>
        </p:spPr>
        <p:txBody>
          <a:bodyPr/>
          <a:lstStyle/>
          <a:p>
            <a:endParaRPr lang="fr-FR"/>
          </a:p>
        </p:txBody>
      </p:sp>
      <p:sp>
        <p:nvSpPr>
          <p:cNvPr id="14" name="Text 12"/>
          <p:cNvSpPr/>
          <p:nvPr/>
        </p:nvSpPr>
        <p:spPr>
          <a:xfrm>
            <a:off x="640080" y="3566160"/>
            <a:ext cx="7863840" cy="182880"/>
          </a:xfrm>
          <a:prstGeom prst="rect">
            <a:avLst/>
          </a:prstGeom>
          <a:noFill/>
          <a:ln/>
        </p:spPr>
        <p:txBody>
          <a:bodyPr wrap="square" rtlCol="0" anchor="ctr"/>
          <a:lstStyle/>
          <a:p>
            <a:pPr marL="0" indent="0">
              <a:buNone/>
            </a:pPr>
            <a:r>
              <a:rPr lang="en-US" sz="1100" b="1" dirty="0">
                <a:solidFill>
                  <a:srgbClr val="1F4E78"/>
                </a:solidFill>
              </a:rPr>
              <a:t>Solutions pas affichées sur la slide.</a:t>
            </a:r>
            <a:endParaRPr lang="en-US" sz="1100" dirty="0"/>
          </a:p>
        </p:txBody>
      </p:sp>
      <p:sp>
        <p:nvSpPr>
          <p:cNvPr id="15" name="Text 13"/>
          <p:cNvSpPr/>
          <p:nvPr/>
        </p:nvSpPr>
        <p:spPr>
          <a:xfrm>
            <a:off x="640080" y="3840480"/>
            <a:ext cx="7863840" cy="274320"/>
          </a:xfrm>
          <a:prstGeom prst="rect">
            <a:avLst/>
          </a:prstGeom>
          <a:noFill/>
          <a:ln/>
        </p:spPr>
        <p:txBody>
          <a:bodyPr wrap="square" rtlCol="0" anchor="ctr"/>
          <a:lstStyle/>
          <a:p>
            <a:pPr marL="0" indent="0">
              <a:buNone/>
            </a:pPr>
            <a:r>
              <a:rPr lang="en-US" sz="1000" dirty="0">
                <a:solidFill>
                  <a:srgbClr val="1F1F1F"/>
                </a:solidFill>
              </a:rPr>
              <a:t>Les solutions détaillées se trouvent dans les notes du présentateur.</a:t>
            </a:r>
            <a:endParaRPr lang="en-US" sz="1000" dirty="0"/>
          </a:p>
        </p:txBody>
      </p:sp>
      <p:sp>
        <p:nvSpPr>
          <p:cNvPr id="16" name="Text 14"/>
          <p:cNvSpPr/>
          <p:nvPr/>
        </p:nvSpPr>
        <p:spPr>
          <a:xfrm>
            <a:off x="640080" y="4297680"/>
            <a:ext cx="7863840" cy="365760"/>
          </a:xfrm>
          <a:prstGeom prst="rect">
            <a:avLst/>
          </a:prstGeom>
          <a:noFill/>
          <a:ln/>
        </p:spPr>
        <p:txBody>
          <a:bodyPr wrap="square" rtlCol="0" anchor="ctr"/>
          <a:lstStyle/>
          <a:p>
            <a:pPr marL="0" indent="0">
              <a:buNone/>
            </a:pPr>
            <a:r>
              <a:rPr lang="en-US" sz="1000" i="1" dirty="0">
                <a:solidFill>
                  <a:srgbClr val="1F1F1F"/>
                </a:solidFill>
              </a:rPr>
              <a:t>Ces exercices travaillent : COUNT, AVG, GROUP BY, HAVING, JOIN, LEFT JOIN</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Exercices SQL - Niveau 3 (avancé)</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38/40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Thème : Gestion universitaire</a:t>
            </a:r>
            <a:endParaRPr lang="en-US" sz="1200" dirty="0"/>
          </a:p>
        </p:txBody>
      </p:sp>
      <p:sp>
        <p:nvSpPr>
          <p:cNvPr id="6" name="Text 4"/>
          <p:cNvSpPr/>
          <p:nvPr/>
        </p:nvSpPr>
        <p:spPr>
          <a:xfrm>
            <a:off x="457200" y="1097280"/>
            <a:ext cx="8229600" cy="182880"/>
          </a:xfrm>
          <a:prstGeom prst="rect">
            <a:avLst/>
          </a:prstGeom>
          <a:noFill/>
          <a:ln/>
        </p:spPr>
        <p:txBody>
          <a:bodyPr wrap="square" rtlCol="0" anchor="ctr"/>
          <a:lstStyle/>
          <a:p>
            <a:pPr marL="0" indent="0">
              <a:buNone/>
            </a:pPr>
            <a:r>
              <a:rPr lang="en-US" sz="1100" dirty="0">
                <a:solidFill>
                  <a:srgbClr val="1F1F1F"/>
                </a:solidFill>
              </a:rPr>
              <a:t>À votre tour ! Écrivez les requêtes suivantes :</a:t>
            </a:r>
            <a:endParaRPr lang="en-US" sz="1100" dirty="0"/>
          </a:p>
        </p:txBody>
      </p:sp>
      <p:sp>
        <p:nvSpPr>
          <p:cNvPr id="7" name="Text 5"/>
          <p:cNvSpPr/>
          <p:nvPr/>
        </p:nvSpPr>
        <p:spPr>
          <a:xfrm>
            <a:off x="731520" y="1463040"/>
            <a:ext cx="7955280" cy="182880"/>
          </a:xfrm>
          <a:prstGeom prst="rect">
            <a:avLst/>
          </a:prstGeom>
          <a:noFill/>
          <a:ln/>
        </p:spPr>
        <p:txBody>
          <a:bodyPr wrap="square" rtlCol="0" anchor="ctr"/>
          <a:lstStyle/>
          <a:p>
            <a:pPr marL="0" indent="0">
              <a:buNone/>
            </a:pPr>
            <a:r>
              <a:rPr lang="en-US" sz="1100" dirty="0">
                <a:solidFill>
                  <a:srgbClr val="1F1F1F"/>
                </a:solidFill>
              </a:rPr>
              <a:t>1. Identifier les étudiants inscrits à PLUS DE 3 COURS et calculer leur moyenne générale</a:t>
            </a:r>
            <a:endParaRPr lang="en-US" sz="1100" dirty="0"/>
          </a:p>
        </p:txBody>
      </p:sp>
      <p:sp>
        <p:nvSpPr>
          <p:cNvPr id="8" name="Text 6"/>
          <p:cNvSpPr/>
          <p:nvPr/>
        </p:nvSpPr>
        <p:spPr>
          <a:xfrm>
            <a:off x="731520" y="1691640"/>
            <a:ext cx="7955280" cy="182880"/>
          </a:xfrm>
          <a:prstGeom prst="rect">
            <a:avLst/>
          </a:prstGeom>
          <a:noFill/>
          <a:ln/>
        </p:spPr>
        <p:txBody>
          <a:bodyPr wrap="square" rtlCol="0" anchor="ctr"/>
          <a:lstStyle/>
          <a:p>
            <a:pPr marL="0" indent="0">
              <a:buNone/>
            </a:pPr>
            <a:r>
              <a:rPr lang="en-US" sz="1100" dirty="0">
                <a:solidFill>
                  <a:srgbClr val="1F1F1F"/>
                </a:solidFill>
              </a:rPr>
              <a:t>2. Afficher le nom du cours, le nombre d'étudiants inscrits et la note moyenne par cours</a:t>
            </a:r>
            <a:endParaRPr lang="en-US" sz="1100" dirty="0"/>
          </a:p>
        </p:txBody>
      </p:sp>
      <p:sp>
        <p:nvSpPr>
          <p:cNvPr id="9" name="Text 7"/>
          <p:cNvSpPr/>
          <p:nvPr/>
        </p:nvSpPr>
        <p:spPr>
          <a:xfrm>
            <a:off x="731520" y="1920240"/>
            <a:ext cx="7955280" cy="182880"/>
          </a:xfrm>
          <a:prstGeom prst="rect">
            <a:avLst/>
          </a:prstGeom>
          <a:noFill/>
          <a:ln/>
        </p:spPr>
        <p:txBody>
          <a:bodyPr wrap="square" rtlCol="0" anchor="ctr"/>
          <a:lstStyle/>
          <a:p>
            <a:pPr marL="0" indent="0">
              <a:buNone/>
            </a:pPr>
            <a:r>
              <a:rPr lang="en-US" sz="1100" dirty="0">
                <a:solidFill>
                  <a:srgbClr val="1F1F1F"/>
                </a:solidFill>
              </a:rPr>
              <a:t>3. Afficher les étudiants qui ont une moyenne ≥ 80 dans TOUS leurs cours</a:t>
            </a:r>
            <a:endParaRPr lang="en-US" sz="1100" dirty="0"/>
          </a:p>
        </p:txBody>
      </p:sp>
      <p:sp>
        <p:nvSpPr>
          <p:cNvPr id="10" name="Text 8"/>
          <p:cNvSpPr/>
          <p:nvPr/>
        </p:nvSpPr>
        <p:spPr>
          <a:xfrm>
            <a:off x="731520" y="2148840"/>
            <a:ext cx="7955280" cy="182880"/>
          </a:xfrm>
          <a:prstGeom prst="rect">
            <a:avLst/>
          </a:prstGeom>
          <a:noFill/>
          <a:ln/>
        </p:spPr>
        <p:txBody>
          <a:bodyPr wrap="square" rtlCol="0" anchor="ctr"/>
          <a:lstStyle/>
          <a:p>
            <a:pPr marL="0" indent="0">
              <a:buNone/>
            </a:pPr>
            <a:r>
              <a:rPr lang="en-US" sz="1100" dirty="0">
                <a:solidFill>
                  <a:srgbClr val="1F1F1F"/>
                </a:solidFill>
              </a:rPr>
              <a:t>4. Lister les enseignants et le nombre de cours différents qu'ils enseignent</a:t>
            </a:r>
            <a:endParaRPr lang="en-US" sz="1100" dirty="0"/>
          </a:p>
        </p:txBody>
      </p:sp>
      <p:sp>
        <p:nvSpPr>
          <p:cNvPr id="11" name="Text 9"/>
          <p:cNvSpPr/>
          <p:nvPr/>
        </p:nvSpPr>
        <p:spPr>
          <a:xfrm>
            <a:off x="731520" y="2377440"/>
            <a:ext cx="7955280" cy="182880"/>
          </a:xfrm>
          <a:prstGeom prst="rect">
            <a:avLst/>
          </a:prstGeom>
          <a:noFill/>
          <a:ln/>
        </p:spPr>
        <p:txBody>
          <a:bodyPr wrap="square" rtlCol="0" anchor="ctr"/>
          <a:lstStyle/>
          <a:p>
            <a:pPr marL="0" indent="0">
              <a:buNone/>
            </a:pPr>
            <a:r>
              <a:rPr lang="en-US" sz="1100" dirty="0">
                <a:solidFill>
                  <a:srgbClr val="1F1F1F"/>
                </a:solidFill>
              </a:rPr>
              <a:t>5. Identifier les étudiants qui n'ont aucune inscription et les lister séparément</a:t>
            </a:r>
            <a:endParaRPr lang="en-US" sz="1100" dirty="0"/>
          </a:p>
        </p:txBody>
      </p:sp>
      <p:sp>
        <p:nvSpPr>
          <p:cNvPr id="12" name="Shape 10"/>
          <p:cNvSpPr/>
          <p:nvPr/>
        </p:nvSpPr>
        <p:spPr>
          <a:xfrm>
            <a:off x="457200" y="3200400"/>
            <a:ext cx="8229600" cy="1645920"/>
          </a:xfrm>
          <a:prstGeom prst="rect">
            <a:avLst/>
          </a:prstGeom>
          <a:solidFill>
            <a:srgbClr val="FFFACD"/>
          </a:solidFill>
          <a:ln w="25400">
            <a:solidFill>
              <a:srgbClr val="F79646"/>
            </a:solidFill>
            <a:prstDash val="solid"/>
          </a:ln>
        </p:spPr>
        <p:txBody>
          <a:bodyPr/>
          <a:lstStyle/>
          <a:p>
            <a:endParaRPr lang="fr-FR"/>
          </a:p>
        </p:txBody>
      </p:sp>
      <p:sp>
        <p:nvSpPr>
          <p:cNvPr id="13" name="Text 11"/>
          <p:cNvSpPr/>
          <p:nvPr/>
        </p:nvSpPr>
        <p:spPr>
          <a:xfrm>
            <a:off x="640080" y="3291840"/>
            <a:ext cx="7863840" cy="457200"/>
          </a:xfrm>
          <a:prstGeom prst="rect">
            <a:avLst/>
          </a:prstGeom>
          <a:noFill/>
          <a:ln/>
        </p:spPr>
        <p:txBody>
          <a:bodyPr wrap="square" rtlCol="0" anchor="ctr"/>
          <a:lstStyle/>
          <a:p>
            <a:pPr marL="0" indent="0">
              <a:buNone/>
            </a:pPr>
            <a:r>
              <a:rPr lang="en-US" sz="1000" b="1" dirty="0">
                <a:solidFill>
                  <a:srgbClr val="1F4E78"/>
                </a:solidFill>
              </a:rPr>
              <a:t>Niveau de réflexion :Ces exercices demandent de combiner plusieurs notions et de raisonner avant d'écrire SQL.</a:t>
            </a:r>
            <a:endParaRPr lang="en-US" sz="1000" dirty="0"/>
          </a:p>
        </p:txBody>
      </p:sp>
      <p:sp>
        <p:nvSpPr>
          <p:cNvPr id="14" name="Text 12"/>
          <p:cNvSpPr/>
          <p:nvPr/>
        </p:nvSpPr>
        <p:spPr>
          <a:xfrm>
            <a:off x="640080" y="3840480"/>
            <a:ext cx="7863840" cy="457200"/>
          </a:xfrm>
          <a:prstGeom prst="rect">
            <a:avLst/>
          </a:prstGeom>
          <a:noFill/>
          <a:ln/>
        </p:spPr>
        <p:txBody>
          <a:bodyPr wrap="square" rtlCol="0" anchor="ctr"/>
          <a:lstStyle/>
          <a:p>
            <a:pPr marL="0" indent="0">
              <a:buNone/>
            </a:pPr>
            <a:r>
              <a:rPr lang="en-US" sz="1000" dirty="0">
                <a:solidFill>
                  <a:srgbClr val="1F1F1F"/>
                </a:solidFill>
              </a:rPr>
              <a:t>Solutions pas affichées sur la slide. Les corrections se trouvent dans les notes du présentateur.</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Mise en situation intégrative</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39/40</a:t>
            </a:r>
            <a:endParaRPr lang="en-US" sz="1000" dirty="0"/>
          </a:p>
        </p:txBody>
      </p:sp>
      <p:sp>
        <p:nvSpPr>
          <p:cNvPr id="5" name="Text 3"/>
          <p:cNvSpPr/>
          <p:nvPr/>
        </p:nvSpPr>
        <p:spPr>
          <a:xfrm>
            <a:off x="457200" y="822960"/>
            <a:ext cx="8229600" cy="228600"/>
          </a:xfrm>
          <a:prstGeom prst="rect">
            <a:avLst/>
          </a:prstGeom>
          <a:noFill/>
          <a:ln/>
        </p:spPr>
        <p:txBody>
          <a:bodyPr wrap="square" rtlCol="0" anchor="ctr"/>
          <a:lstStyle/>
          <a:p>
            <a:pPr marL="0" indent="0">
              <a:buNone/>
            </a:pPr>
            <a:r>
              <a:rPr lang="en-US" sz="1300" b="1" dirty="0">
                <a:solidFill>
                  <a:srgbClr val="1F4E78"/>
                </a:solidFill>
              </a:rPr>
              <a:t>Mini-projet : Construire un système académique</a:t>
            </a:r>
            <a:endParaRPr lang="en-US" sz="1300" dirty="0"/>
          </a:p>
        </p:txBody>
      </p:sp>
      <p:sp>
        <p:nvSpPr>
          <p:cNvPr id="6" name="Text 4"/>
          <p:cNvSpPr/>
          <p:nvPr/>
        </p:nvSpPr>
        <p:spPr>
          <a:xfrm>
            <a:off x="457200" y="1143000"/>
            <a:ext cx="8229600" cy="137160"/>
          </a:xfrm>
          <a:prstGeom prst="rect">
            <a:avLst/>
          </a:prstGeom>
          <a:noFill/>
          <a:ln/>
        </p:spPr>
        <p:txBody>
          <a:bodyPr wrap="square" rtlCol="0" anchor="ctr"/>
          <a:lstStyle/>
          <a:p>
            <a:pPr marL="0" indent="0">
              <a:buNone/>
            </a:pPr>
            <a:r>
              <a:rPr lang="en-US" sz="1100" b="1" dirty="0">
                <a:solidFill>
                  <a:srgbClr val="1F4E78"/>
                </a:solidFill>
              </a:rPr>
              <a:t>Scénario</a:t>
            </a:r>
            <a:endParaRPr lang="en-US" sz="1100" dirty="0"/>
          </a:p>
        </p:txBody>
      </p:sp>
      <p:sp>
        <p:nvSpPr>
          <p:cNvPr id="7" name="Text 5"/>
          <p:cNvSpPr/>
          <p:nvPr/>
        </p:nvSpPr>
        <p:spPr>
          <a:xfrm>
            <a:off x="457200" y="1325880"/>
            <a:ext cx="8229600" cy="228600"/>
          </a:xfrm>
          <a:prstGeom prst="rect">
            <a:avLst/>
          </a:prstGeom>
          <a:noFill/>
          <a:ln/>
        </p:spPr>
        <p:txBody>
          <a:bodyPr wrap="square" rtlCol="0" anchor="ctr"/>
          <a:lstStyle/>
          <a:p>
            <a:pPr marL="0" indent="0">
              <a:buNone/>
            </a:pPr>
            <a:r>
              <a:rPr lang="en-US" sz="1000" dirty="0">
                <a:solidFill>
                  <a:srgbClr val="1F1F1F"/>
                </a:solidFill>
              </a:rPr>
              <a:t>Une école souhaite construire son système de gestion académique. Elle a besoin de gérer :</a:t>
            </a:r>
            <a:endParaRPr lang="en-US" sz="1000" dirty="0"/>
          </a:p>
        </p:txBody>
      </p:sp>
      <p:sp>
        <p:nvSpPr>
          <p:cNvPr id="8" name="Text 6"/>
          <p:cNvSpPr/>
          <p:nvPr/>
        </p:nvSpPr>
        <p:spPr>
          <a:xfrm>
            <a:off x="640080" y="1645920"/>
            <a:ext cx="8046720" cy="137160"/>
          </a:xfrm>
          <a:prstGeom prst="rect">
            <a:avLst/>
          </a:prstGeom>
          <a:noFill/>
          <a:ln/>
        </p:spPr>
        <p:txBody>
          <a:bodyPr wrap="square" rtlCol="0" anchor="ctr"/>
          <a:lstStyle/>
          <a:p>
            <a:pPr marL="0" indent="0">
              <a:buNone/>
            </a:pPr>
            <a:r>
              <a:rPr lang="en-US" sz="900" dirty="0">
                <a:solidFill>
                  <a:srgbClr val="1F1F1F"/>
                </a:solidFill>
              </a:rPr>
              <a:t>• Les étudiants (identifiant unique, nom, email)</a:t>
            </a:r>
            <a:endParaRPr lang="en-US" sz="900" dirty="0"/>
          </a:p>
        </p:txBody>
      </p:sp>
      <p:sp>
        <p:nvSpPr>
          <p:cNvPr id="9" name="Text 7"/>
          <p:cNvSpPr/>
          <p:nvPr/>
        </p:nvSpPr>
        <p:spPr>
          <a:xfrm>
            <a:off x="640080" y="1810512"/>
            <a:ext cx="8046720" cy="137160"/>
          </a:xfrm>
          <a:prstGeom prst="rect">
            <a:avLst/>
          </a:prstGeom>
          <a:noFill/>
          <a:ln/>
        </p:spPr>
        <p:txBody>
          <a:bodyPr wrap="square" rtlCol="0" anchor="ctr"/>
          <a:lstStyle/>
          <a:p>
            <a:pPr marL="0" indent="0">
              <a:buNone/>
            </a:pPr>
            <a:r>
              <a:rPr lang="en-US" sz="900" dirty="0">
                <a:solidFill>
                  <a:srgbClr val="1F1F1F"/>
                </a:solidFill>
              </a:rPr>
              <a:t>• Les cours (titre, code, crédits)</a:t>
            </a:r>
            <a:endParaRPr lang="en-US" sz="900" dirty="0"/>
          </a:p>
        </p:txBody>
      </p:sp>
      <p:sp>
        <p:nvSpPr>
          <p:cNvPr id="10" name="Text 8"/>
          <p:cNvSpPr/>
          <p:nvPr/>
        </p:nvSpPr>
        <p:spPr>
          <a:xfrm>
            <a:off x="640080" y="1975104"/>
            <a:ext cx="8046720" cy="137160"/>
          </a:xfrm>
          <a:prstGeom prst="rect">
            <a:avLst/>
          </a:prstGeom>
          <a:noFill/>
          <a:ln/>
        </p:spPr>
        <p:txBody>
          <a:bodyPr wrap="square" rtlCol="0" anchor="ctr"/>
          <a:lstStyle/>
          <a:p>
            <a:pPr marL="0" indent="0">
              <a:buNone/>
            </a:pPr>
            <a:r>
              <a:rPr lang="en-US" sz="900" dirty="0">
                <a:solidFill>
                  <a:srgbClr val="1F1F1F"/>
                </a:solidFill>
              </a:rPr>
              <a:t>• Les inscriptions (étudiant → cours, date, note)</a:t>
            </a:r>
            <a:endParaRPr lang="en-US" sz="900" dirty="0"/>
          </a:p>
        </p:txBody>
      </p:sp>
      <p:sp>
        <p:nvSpPr>
          <p:cNvPr id="11" name="Text 9"/>
          <p:cNvSpPr/>
          <p:nvPr/>
        </p:nvSpPr>
        <p:spPr>
          <a:xfrm>
            <a:off x="640080" y="2139696"/>
            <a:ext cx="8046720" cy="137160"/>
          </a:xfrm>
          <a:prstGeom prst="rect">
            <a:avLst/>
          </a:prstGeom>
          <a:noFill/>
          <a:ln/>
        </p:spPr>
        <p:txBody>
          <a:bodyPr wrap="square" rtlCol="0" anchor="ctr"/>
          <a:lstStyle/>
          <a:p>
            <a:pPr marL="0" indent="0">
              <a:buNone/>
            </a:pPr>
            <a:r>
              <a:rPr lang="en-US" sz="900" dirty="0">
                <a:solidFill>
                  <a:srgbClr val="1F1F1F"/>
                </a:solidFill>
              </a:rPr>
              <a:t>• Les enseignants (nom, spécialité)</a:t>
            </a:r>
            <a:endParaRPr lang="en-US" sz="900" dirty="0"/>
          </a:p>
        </p:txBody>
      </p:sp>
      <p:sp>
        <p:nvSpPr>
          <p:cNvPr id="12" name="Text 10"/>
          <p:cNvSpPr/>
          <p:nvPr/>
        </p:nvSpPr>
        <p:spPr>
          <a:xfrm>
            <a:off x="640080" y="2304288"/>
            <a:ext cx="8046720" cy="137160"/>
          </a:xfrm>
          <a:prstGeom prst="rect">
            <a:avLst/>
          </a:prstGeom>
          <a:noFill/>
          <a:ln/>
        </p:spPr>
        <p:txBody>
          <a:bodyPr wrap="square" rtlCol="0" anchor="ctr"/>
          <a:lstStyle/>
          <a:p>
            <a:pPr marL="0" indent="0">
              <a:buNone/>
            </a:pPr>
            <a:r>
              <a:rPr lang="en-US" sz="900" dirty="0">
                <a:solidFill>
                  <a:srgbClr val="1F1F1F"/>
                </a:solidFill>
              </a:rPr>
              <a:t>• Les relations enseignant ↔ cours</a:t>
            </a:r>
            <a:endParaRPr lang="en-US" sz="900" dirty="0"/>
          </a:p>
        </p:txBody>
      </p:sp>
      <p:sp>
        <p:nvSpPr>
          <p:cNvPr id="13" name="Shape 11"/>
          <p:cNvSpPr/>
          <p:nvPr/>
        </p:nvSpPr>
        <p:spPr>
          <a:xfrm>
            <a:off x="457200" y="2651760"/>
            <a:ext cx="8229600" cy="2103120"/>
          </a:xfrm>
          <a:prstGeom prst="rect">
            <a:avLst/>
          </a:prstGeom>
          <a:solidFill>
            <a:srgbClr val="E7E6E6"/>
          </a:solidFill>
          <a:ln w="25400">
            <a:solidFill>
              <a:srgbClr val="F79646"/>
            </a:solidFill>
            <a:prstDash val="solid"/>
          </a:ln>
        </p:spPr>
        <p:txBody>
          <a:bodyPr/>
          <a:lstStyle/>
          <a:p>
            <a:endParaRPr lang="fr-FR"/>
          </a:p>
        </p:txBody>
      </p:sp>
      <p:sp>
        <p:nvSpPr>
          <p:cNvPr id="14" name="Text 12"/>
          <p:cNvSpPr/>
          <p:nvPr/>
        </p:nvSpPr>
        <p:spPr>
          <a:xfrm>
            <a:off x="640080" y="2743200"/>
            <a:ext cx="7863840" cy="137160"/>
          </a:xfrm>
          <a:prstGeom prst="rect">
            <a:avLst/>
          </a:prstGeom>
          <a:noFill/>
          <a:ln/>
        </p:spPr>
        <p:txBody>
          <a:bodyPr wrap="square" rtlCol="0" anchor="ctr"/>
          <a:lstStyle/>
          <a:p>
            <a:pPr marL="0" indent="0">
              <a:buNone/>
            </a:pPr>
            <a:r>
              <a:rPr lang="en-US" sz="1100" b="1" dirty="0">
                <a:solidFill>
                  <a:srgbClr val="1F4E78"/>
                </a:solidFill>
              </a:rPr>
              <a:t>Tâches à réaliser (travail en groupes, 45 minutes)</a:t>
            </a:r>
            <a:endParaRPr lang="en-US" sz="1100" dirty="0"/>
          </a:p>
        </p:txBody>
      </p:sp>
      <p:sp>
        <p:nvSpPr>
          <p:cNvPr id="15" name="Text 13"/>
          <p:cNvSpPr/>
          <p:nvPr/>
        </p:nvSpPr>
        <p:spPr>
          <a:xfrm>
            <a:off x="822960" y="2971800"/>
            <a:ext cx="7589520" cy="137160"/>
          </a:xfrm>
          <a:prstGeom prst="rect">
            <a:avLst/>
          </a:prstGeom>
          <a:noFill/>
          <a:ln/>
        </p:spPr>
        <p:txBody>
          <a:bodyPr wrap="square" rtlCol="0" anchor="ctr"/>
          <a:lstStyle/>
          <a:p>
            <a:pPr marL="0" indent="0">
              <a:buNone/>
            </a:pPr>
            <a:r>
              <a:rPr lang="en-US" sz="900" dirty="0">
                <a:solidFill>
                  <a:srgbClr val="1F1F1F"/>
                </a:solidFill>
              </a:rPr>
              <a:t>1. Identifier les entités et proposer un schéma relationnel</a:t>
            </a:r>
            <a:endParaRPr lang="en-US" sz="900" dirty="0"/>
          </a:p>
        </p:txBody>
      </p:sp>
      <p:sp>
        <p:nvSpPr>
          <p:cNvPr id="16" name="Text 14"/>
          <p:cNvSpPr/>
          <p:nvPr/>
        </p:nvSpPr>
        <p:spPr>
          <a:xfrm>
            <a:off x="822960" y="3136392"/>
            <a:ext cx="7589520" cy="137160"/>
          </a:xfrm>
          <a:prstGeom prst="rect">
            <a:avLst/>
          </a:prstGeom>
          <a:noFill/>
          <a:ln/>
        </p:spPr>
        <p:txBody>
          <a:bodyPr wrap="square" rtlCol="0" anchor="ctr"/>
          <a:lstStyle/>
          <a:p>
            <a:pPr marL="0" indent="0">
              <a:buNone/>
            </a:pPr>
            <a:r>
              <a:rPr lang="en-US" sz="900" dirty="0">
                <a:solidFill>
                  <a:srgbClr val="1F1F1F"/>
                </a:solidFill>
              </a:rPr>
              <a:t>2. Créer les 5 tables avec CREATE TABLE</a:t>
            </a:r>
            <a:endParaRPr lang="en-US" sz="900" dirty="0"/>
          </a:p>
        </p:txBody>
      </p:sp>
      <p:sp>
        <p:nvSpPr>
          <p:cNvPr id="17" name="Text 15"/>
          <p:cNvSpPr/>
          <p:nvPr/>
        </p:nvSpPr>
        <p:spPr>
          <a:xfrm>
            <a:off x="822960" y="3300984"/>
            <a:ext cx="7589520" cy="137160"/>
          </a:xfrm>
          <a:prstGeom prst="rect">
            <a:avLst/>
          </a:prstGeom>
          <a:noFill/>
          <a:ln/>
        </p:spPr>
        <p:txBody>
          <a:bodyPr wrap="square" rtlCol="0" anchor="ctr"/>
          <a:lstStyle/>
          <a:p>
            <a:pPr marL="0" indent="0">
              <a:buNone/>
            </a:pPr>
            <a:r>
              <a:rPr lang="en-US" sz="900" dirty="0">
                <a:solidFill>
                  <a:srgbClr val="1F1F1F"/>
                </a:solidFill>
              </a:rPr>
              <a:t>3. Insérer 5-10 données de test</a:t>
            </a:r>
            <a:endParaRPr lang="en-US" sz="900" dirty="0"/>
          </a:p>
        </p:txBody>
      </p:sp>
      <p:sp>
        <p:nvSpPr>
          <p:cNvPr id="18" name="Text 16"/>
          <p:cNvSpPr/>
          <p:nvPr/>
        </p:nvSpPr>
        <p:spPr>
          <a:xfrm>
            <a:off x="822960" y="3465576"/>
            <a:ext cx="7589520" cy="137160"/>
          </a:xfrm>
          <a:prstGeom prst="rect">
            <a:avLst/>
          </a:prstGeom>
          <a:noFill/>
          <a:ln/>
        </p:spPr>
        <p:txBody>
          <a:bodyPr wrap="square" rtlCol="0" anchor="ctr"/>
          <a:lstStyle/>
          <a:p>
            <a:pPr marL="0" indent="0">
              <a:buNone/>
            </a:pPr>
            <a:r>
              <a:rPr lang="en-US" sz="900" dirty="0">
                <a:solidFill>
                  <a:srgbClr val="1F1F1F"/>
                </a:solidFill>
              </a:rPr>
              <a:t>4. Écrire 5 requêtes SELECT pour répondre à des questions métier</a:t>
            </a:r>
            <a:endParaRPr lang="en-US" sz="900" dirty="0"/>
          </a:p>
        </p:txBody>
      </p:sp>
      <p:sp>
        <p:nvSpPr>
          <p:cNvPr id="19" name="Text 17"/>
          <p:cNvSpPr/>
          <p:nvPr/>
        </p:nvSpPr>
        <p:spPr>
          <a:xfrm>
            <a:off x="822960" y="3630168"/>
            <a:ext cx="7589520" cy="137160"/>
          </a:xfrm>
          <a:prstGeom prst="rect">
            <a:avLst/>
          </a:prstGeom>
          <a:noFill/>
          <a:ln/>
        </p:spPr>
        <p:txBody>
          <a:bodyPr wrap="square" rtlCol="0" anchor="ctr"/>
          <a:lstStyle/>
          <a:p>
            <a:pPr marL="0" indent="0">
              <a:buNone/>
            </a:pPr>
            <a:r>
              <a:rPr lang="en-US" sz="900" dirty="0">
                <a:solidFill>
                  <a:srgbClr val="1F1F1F"/>
                </a:solidFill>
              </a:rPr>
              <a:t>5. Définir les droits d'accès (qui peut faire quoi ?)</a:t>
            </a:r>
            <a:endParaRPr lang="en-US" sz="900" dirty="0"/>
          </a:p>
        </p:txBody>
      </p:sp>
      <p:sp>
        <p:nvSpPr>
          <p:cNvPr id="20" name="Text 18"/>
          <p:cNvSpPr/>
          <p:nvPr/>
        </p:nvSpPr>
        <p:spPr>
          <a:xfrm>
            <a:off x="822960" y="3794760"/>
            <a:ext cx="7589520" cy="137160"/>
          </a:xfrm>
          <a:prstGeom prst="rect">
            <a:avLst/>
          </a:prstGeom>
          <a:noFill/>
          <a:ln/>
        </p:spPr>
        <p:txBody>
          <a:bodyPr wrap="square" rtlCol="0" anchor="ctr"/>
          <a:lstStyle/>
          <a:p>
            <a:pPr marL="0" indent="0">
              <a:buNone/>
            </a:pPr>
            <a:r>
              <a:rPr lang="en-US" sz="900" dirty="0">
                <a:solidFill>
                  <a:srgbClr val="1F1F1F"/>
                </a:solidFill>
              </a:rPr>
              <a:t>6. Proposer une stratégie de sauvegarde (fréquence, lieu)</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Synthèse et auto-évaluation</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40/40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300" b="1" dirty="0">
                <a:solidFill>
                  <a:srgbClr val="1F4E78"/>
                </a:solidFill>
              </a:rPr>
              <a:t>Êtes-vous capable de...?</a:t>
            </a:r>
            <a:endParaRPr lang="en-US" sz="1300" dirty="0"/>
          </a:p>
        </p:txBody>
      </p:sp>
      <p:sp>
        <p:nvSpPr>
          <p:cNvPr id="6" name="Text 4"/>
          <p:cNvSpPr/>
          <p:nvPr/>
        </p:nvSpPr>
        <p:spPr>
          <a:xfrm>
            <a:off x="731520" y="1143000"/>
            <a:ext cx="7955280" cy="182880"/>
          </a:xfrm>
          <a:prstGeom prst="rect">
            <a:avLst/>
          </a:prstGeom>
          <a:noFill/>
          <a:ln/>
        </p:spPr>
        <p:txBody>
          <a:bodyPr wrap="square" rtlCol="0" anchor="ctr"/>
          <a:lstStyle/>
          <a:p>
            <a:pPr marL="0" indent="0">
              <a:buNone/>
            </a:pPr>
            <a:r>
              <a:rPr lang="en-US" sz="1000" dirty="0">
                <a:solidFill>
                  <a:srgbClr val="F79646"/>
                </a:solidFill>
              </a:rPr>
              <a:t>✓ Transformer un besoin métier en schéma relationnel ?</a:t>
            </a:r>
            <a:endParaRPr lang="en-US" sz="1000" dirty="0"/>
          </a:p>
        </p:txBody>
      </p:sp>
      <p:sp>
        <p:nvSpPr>
          <p:cNvPr id="7" name="Text 5"/>
          <p:cNvSpPr/>
          <p:nvPr/>
        </p:nvSpPr>
        <p:spPr>
          <a:xfrm>
            <a:off x="731520" y="1362456"/>
            <a:ext cx="7955280" cy="182880"/>
          </a:xfrm>
          <a:prstGeom prst="rect">
            <a:avLst/>
          </a:prstGeom>
          <a:noFill/>
          <a:ln/>
        </p:spPr>
        <p:txBody>
          <a:bodyPr wrap="square" rtlCol="0" anchor="ctr"/>
          <a:lstStyle/>
          <a:p>
            <a:pPr marL="0" indent="0">
              <a:buNone/>
            </a:pPr>
            <a:r>
              <a:rPr lang="en-US" sz="1000" dirty="0">
                <a:solidFill>
                  <a:srgbClr val="F79646"/>
                </a:solidFill>
              </a:rPr>
              <a:t>✓ Créer des tables avec clés primaires et étrangères ?</a:t>
            </a:r>
            <a:endParaRPr lang="en-US" sz="1000" dirty="0"/>
          </a:p>
        </p:txBody>
      </p:sp>
      <p:sp>
        <p:nvSpPr>
          <p:cNvPr id="8" name="Text 6"/>
          <p:cNvSpPr/>
          <p:nvPr/>
        </p:nvSpPr>
        <p:spPr>
          <a:xfrm>
            <a:off x="731520" y="1581912"/>
            <a:ext cx="7955280" cy="182880"/>
          </a:xfrm>
          <a:prstGeom prst="rect">
            <a:avLst/>
          </a:prstGeom>
          <a:noFill/>
          <a:ln/>
        </p:spPr>
        <p:txBody>
          <a:bodyPr wrap="square" rtlCol="0" anchor="ctr"/>
          <a:lstStyle/>
          <a:p>
            <a:pPr marL="0" indent="0">
              <a:buNone/>
            </a:pPr>
            <a:r>
              <a:rPr lang="en-US" sz="1000" dirty="0">
                <a:solidFill>
                  <a:srgbClr val="F79646"/>
                </a:solidFill>
              </a:rPr>
              <a:t>✓ Insérer et modifier des données ?</a:t>
            </a:r>
            <a:endParaRPr lang="en-US" sz="1000" dirty="0"/>
          </a:p>
        </p:txBody>
      </p:sp>
      <p:sp>
        <p:nvSpPr>
          <p:cNvPr id="9" name="Text 7"/>
          <p:cNvSpPr/>
          <p:nvPr/>
        </p:nvSpPr>
        <p:spPr>
          <a:xfrm>
            <a:off x="731520" y="1801368"/>
            <a:ext cx="7955280" cy="182880"/>
          </a:xfrm>
          <a:prstGeom prst="rect">
            <a:avLst/>
          </a:prstGeom>
          <a:noFill/>
          <a:ln/>
        </p:spPr>
        <p:txBody>
          <a:bodyPr wrap="square" rtlCol="0" anchor="ctr"/>
          <a:lstStyle/>
          <a:p>
            <a:pPr marL="0" indent="0">
              <a:buNone/>
            </a:pPr>
            <a:r>
              <a:rPr lang="en-US" sz="1000" dirty="0">
                <a:solidFill>
                  <a:srgbClr val="F79646"/>
                </a:solidFill>
              </a:rPr>
              <a:t>✓ Écrire des requêtes SELECT avec filtres et tris ?</a:t>
            </a:r>
            <a:endParaRPr lang="en-US" sz="1000" dirty="0"/>
          </a:p>
        </p:txBody>
      </p:sp>
      <p:sp>
        <p:nvSpPr>
          <p:cNvPr id="10" name="Text 8"/>
          <p:cNvSpPr/>
          <p:nvPr/>
        </p:nvSpPr>
        <p:spPr>
          <a:xfrm>
            <a:off x="731520" y="2020824"/>
            <a:ext cx="7955280" cy="182880"/>
          </a:xfrm>
          <a:prstGeom prst="rect">
            <a:avLst/>
          </a:prstGeom>
          <a:noFill/>
          <a:ln/>
        </p:spPr>
        <p:txBody>
          <a:bodyPr wrap="square" rtlCol="0" anchor="ctr"/>
          <a:lstStyle/>
          <a:p>
            <a:pPr marL="0" indent="0">
              <a:buNone/>
            </a:pPr>
            <a:r>
              <a:rPr lang="en-US" sz="1000" dirty="0">
                <a:solidFill>
                  <a:srgbClr val="F79646"/>
                </a:solidFill>
              </a:rPr>
              <a:t>✓ Utiliser agrégations et jointures ?</a:t>
            </a:r>
            <a:endParaRPr lang="en-US" sz="1000" dirty="0"/>
          </a:p>
        </p:txBody>
      </p:sp>
      <p:sp>
        <p:nvSpPr>
          <p:cNvPr id="11" name="Text 9"/>
          <p:cNvSpPr/>
          <p:nvPr/>
        </p:nvSpPr>
        <p:spPr>
          <a:xfrm>
            <a:off x="731520" y="2240280"/>
            <a:ext cx="7955280" cy="182880"/>
          </a:xfrm>
          <a:prstGeom prst="rect">
            <a:avLst/>
          </a:prstGeom>
          <a:noFill/>
          <a:ln/>
        </p:spPr>
        <p:txBody>
          <a:bodyPr wrap="square" rtlCol="0" anchor="ctr"/>
          <a:lstStyle/>
          <a:p>
            <a:pPr marL="0" indent="0">
              <a:buNone/>
            </a:pPr>
            <a:r>
              <a:rPr lang="en-US" sz="1000" dirty="0">
                <a:solidFill>
                  <a:srgbClr val="F79646"/>
                </a:solidFill>
              </a:rPr>
              <a:t>✓ Gérer les utilisateurs et les permissions ?</a:t>
            </a:r>
            <a:endParaRPr lang="en-US" sz="1000" dirty="0"/>
          </a:p>
        </p:txBody>
      </p:sp>
      <p:sp>
        <p:nvSpPr>
          <p:cNvPr id="12" name="Text 10"/>
          <p:cNvSpPr/>
          <p:nvPr/>
        </p:nvSpPr>
        <p:spPr>
          <a:xfrm>
            <a:off x="731520" y="2459736"/>
            <a:ext cx="7955280" cy="182880"/>
          </a:xfrm>
          <a:prstGeom prst="rect">
            <a:avLst/>
          </a:prstGeom>
          <a:noFill/>
          <a:ln/>
        </p:spPr>
        <p:txBody>
          <a:bodyPr wrap="square" rtlCol="0" anchor="ctr"/>
          <a:lstStyle/>
          <a:p>
            <a:pPr marL="0" indent="0">
              <a:buNone/>
            </a:pPr>
            <a:r>
              <a:rPr lang="en-US" sz="1000" dirty="0">
                <a:solidFill>
                  <a:srgbClr val="F79646"/>
                </a:solidFill>
              </a:rPr>
              <a:t>✓ Expliquer intégrité, confidentialité et disponibilité ?</a:t>
            </a:r>
            <a:endParaRPr lang="en-US" sz="1000" dirty="0"/>
          </a:p>
        </p:txBody>
      </p:sp>
      <p:sp>
        <p:nvSpPr>
          <p:cNvPr id="13" name="Text 11"/>
          <p:cNvSpPr/>
          <p:nvPr/>
        </p:nvSpPr>
        <p:spPr>
          <a:xfrm>
            <a:off x="731520" y="2679192"/>
            <a:ext cx="7955280" cy="182880"/>
          </a:xfrm>
          <a:prstGeom prst="rect">
            <a:avLst/>
          </a:prstGeom>
          <a:noFill/>
          <a:ln/>
        </p:spPr>
        <p:txBody>
          <a:bodyPr wrap="square" rtlCol="0" anchor="ctr"/>
          <a:lstStyle/>
          <a:p>
            <a:pPr marL="0" indent="0">
              <a:buNone/>
            </a:pPr>
            <a:r>
              <a:rPr lang="en-US" sz="1000" dirty="0">
                <a:solidFill>
                  <a:srgbClr val="F79646"/>
                </a:solidFill>
              </a:rPr>
              <a:t>✓ Proposer une stratégie de sauvegarde ?</a:t>
            </a:r>
            <a:endParaRPr lang="en-US" sz="1000" dirty="0"/>
          </a:p>
        </p:txBody>
      </p:sp>
      <p:sp>
        <p:nvSpPr>
          <p:cNvPr id="14" name="Text 12"/>
          <p:cNvSpPr/>
          <p:nvPr/>
        </p:nvSpPr>
        <p:spPr>
          <a:xfrm>
            <a:off x="457200" y="3291840"/>
            <a:ext cx="8229600" cy="182880"/>
          </a:xfrm>
          <a:prstGeom prst="rect">
            <a:avLst/>
          </a:prstGeom>
          <a:noFill/>
          <a:ln/>
        </p:spPr>
        <p:txBody>
          <a:bodyPr wrap="square" rtlCol="0" anchor="ctr"/>
          <a:lstStyle/>
          <a:p>
            <a:pPr marL="0" indent="0">
              <a:buNone/>
            </a:pPr>
            <a:r>
              <a:rPr lang="en-US" sz="1200" b="1" dirty="0">
                <a:solidFill>
                  <a:srgbClr val="1F4E78"/>
                </a:solidFill>
              </a:rPr>
              <a:t>Points clés à retenir</a:t>
            </a:r>
            <a:endParaRPr lang="en-US" sz="1200" dirty="0"/>
          </a:p>
        </p:txBody>
      </p:sp>
      <p:sp>
        <p:nvSpPr>
          <p:cNvPr id="15" name="Text 13"/>
          <p:cNvSpPr/>
          <p:nvPr/>
        </p:nvSpPr>
        <p:spPr>
          <a:xfrm>
            <a:off x="640080" y="3566160"/>
            <a:ext cx="8046720" cy="182880"/>
          </a:xfrm>
          <a:prstGeom prst="rect">
            <a:avLst/>
          </a:prstGeom>
          <a:noFill/>
          <a:ln/>
        </p:spPr>
        <p:txBody>
          <a:bodyPr wrap="square" rtlCol="0" anchor="ctr"/>
          <a:lstStyle/>
          <a:p>
            <a:pPr marL="0" indent="0">
              <a:buNone/>
            </a:pPr>
            <a:r>
              <a:rPr lang="en-US" sz="900" dirty="0">
                <a:solidFill>
                  <a:srgbClr val="1F1F1F"/>
                </a:solidFill>
              </a:rPr>
              <a:t>• Base de données = données structurées, persistantes, cohérentes, partagées, interrogeables</a:t>
            </a:r>
            <a:endParaRPr lang="en-US" sz="900" dirty="0"/>
          </a:p>
        </p:txBody>
      </p:sp>
      <p:sp>
        <p:nvSpPr>
          <p:cNvPr id="16" name="Text 14"/>
          <p:cNvSpPr/>
          <p:nvPr/>
        </p:nvSpPr>
        <p:spPr>
          <a:xfrm>
            <a:off x="640080" y="3785616"/>
            <a:ext cx="8046720" cy="182880"/>
          </a:xfrm>
          <a:prstGeom prst="rect">
            <a:avLst/>
          </a:prstGeom>
          <a:noFill/>
          <a:ln/>
        </p:spPr>
        <p:txBody>
          <a:bodyPr wrap="square" rtlCol="0" anchor="ctr"/>
          <a:lstStyle/>
          <a:p>
            <a:pPr marL="0" indent="0">
              <a:buNone/>
            </a:pPr>
            <a:r>
              <a:rPr lang="en-US" sz="900" dirty="0">
                <a:solidFill>
                  <a:srgbClr val="1F1F1F"/>
                </a:solidFill>
              </a:rPr>
              <a:t>• Modèle relationnel = tables, attributs, tuples, clés primaires/étrangères</a:t>
            </a:r>
            <a:endParaRPr lang="en-US" sz="900" dirty="0"/>
          </a:p>
        </p:txBody>
      </p:sp>
      <p:sp>
        <p:nvSpPr>
          <p:cNvPr id="17" name="Text 15"/>
          <p:cNvSpPr/>
          <p:nvPr/>
        </p:nvSpPr>
        <p:spPr>
          <a:xfrm>
            <a:off x="640080" y="4005072"/>
            <a:ext cx="8046720" cy="182880"/>
          </a:xfrm>
          <a:prstGeom prst="rect">
            <a:avLst/>
          </a:prstGeom>
          <a:noFill/>
          <a:ln/>
        </p:spPr>
        <p:txBody>
          <a:bodyPr wrap="square" rtlCol="0" anchor="ctr"/>
          <a:lstStyle/>
          <a:p>
            <a:pPr marL="0" indent="0">
              <a:buNone/>
            </a:pPr>
            <a:r>
              <a:rPr lang="en-US" sz="900" dirty="0">
                <a:solidFill>
                  <a:srgbClr val="1F1F1F"/>
                </a:solidFill>
              </a:rPr>
              <a:t>• SQL = langage pour créer (DDL), modifier (DML), interroger (DQL) les données</a:t>
            </a:r>
            <a:endParaRPr lang="en-US" sz="900" dirty="0"/>
          </a:p>
        </p:txBody>
      </p:sp>
      <p:sp>
        <p:nvSpPr>
          <p:cNvPr id="18" name="Text 16"/>
          <p:cNvSpPr/>
          <p:nvPr/>
        </p:nvSpPr>
        <p:spPr>
          <a:xfrm>
            <a:off x="640080" y="4224528"/>
            <a:ext cx="8046720" cy="182880"/>
          </a:xfrm>
          <a:prstGeom prst="rect">
            <a:avLst/>
          </a:prstGeom>
          <a:noFill/>
          <a:ln/>
        </p:spPr>
        <p:txBody>
          <a:bodyPr wrap="square" rtlCol="0" anchor="ctr"/>
          <a:lstStyle/>
          <a:p>
            <a:pPr marL="0" indent="0">
              <a:buNone/>
            </a:pPr>
            <a:r>
              <a:rPr lang="en-US" sz="900" dirty="0">
                <a:solidFill>
                  <a:srgbClr val="1F1F1F"/>
                </a:solidFill>
              </a:rPr>
              <a:t>• Sécurité = authentification, autorisation, intégrité, confidentialité, disponibilité</a:t>
            </a:r>
            <a:endParaRPr lang="en-US" sz="900" dirty="0"/>
          </a:p>
        </p:txBody>
      </p:sp>
      <p:sp>
        <p:nvSpPr>
          <p:cNvPr id="19" name="Text 17"/>
          <p:cNvSpPr/>
          <p:nvPr/>
        </p:nvSpPr>
        <p:spPr>
          <a:xfrm>
            <a:off x="640080" y="4443984"/>
            <a:ext cx="8046720" cy="182880"/>
          </a:xfrm>
          <a:prstGeom prst="rect">
            <a:avLst/>
          </a:prstGeom>
          <a:noFill/>
          <a:ln/>
        </p:spPr>
        <p:txBody>
          <a:bodyPr wrap="square" rtlCol="0" anchor="ctr"/>
          <a:lstStyle/>
          <a:p>
            <a:pPr marL="0" indent="0">
              <a:buNone/>
            </a:pPr>
            <a:r>
              <a:rPr lang="en-US" sz="900" dirty="0">
                <a:solidFill>
                  <a:srgbClr val="1F1F1F"/>
                </a:solidFill>
              </a:rPr>
              <a:t>• Administration = création, maintenance, sauvegarde, monitoring, récupération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417</TotalTime>
  <Words>6046</Words>
  <Application>Microsoft Office PowerPoint</Application>
  <PresentationFormat>On-screen Show (16:9)</PresentationFormat>
  <Paragraphs>790</Paragraphs>
  <Slides>63</Slides>
  <Notes>42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63</vt:i4>
      </vt:variant>
    </vt:vector>
  </HeadingPairs>
  <TitlesOfParts>
    <vt:vector size="69" baseType="lpstr">
      <vt:lpstr>Arial</vt:lpstr>
      <vt:lpstr>Calibri</vt:lpstr>
      <vt:lpstr>Courier New</vt:lpstr>
      <vt:lpstr>Segoe UI</vt:lpstr>
      <vt:lpstr>Segoe UI Semilight</vt:lpstr>
      <vt:lpstr>Office Theme</vt:lpstr>
      <vt:lpstr>Conception technique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Bases de Données et Data Science</vt:lpstr>
      <vt:lpstr>Introduction aux Bases de Données</vt:lpstr>
      <vt:lpstr>Types de Bases de Données</vt:lpstr>
      <vt:lpstr>Processus de Data Science</vt:lpstr>
      <vt:lpstr>PowerPoint Presentation</vt:lpstr>
      <vt:lpstr>Évolution du Domaine</vt:lpstr>
      <vt:lpstr>Applications et Perspectives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souad radouani</cp:lastModifiedBy>
  <cp:revision>4</cp:revision>
  <dcterms:created xsi:type="dcterms:W3CDTF">2026-09-21T11:05:38Z</dcterms:created>
  <dcterms:modified xsi:type="dcterms:W3CDTF">2026-09-26T17:55:12Z</dcterms:modified>
</cp:coreProperties>
</file>